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E8F8F4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463040"/>
            <a:ext cx="3840480" cy="3840480"/>
          </a:xfrm>
          <a:prstGeom prst="ellipse">
            <a:avLst/>
          </a:prstGeom>
          <a:solidFill>
            <a:srgbClr val="0B4F4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14A79C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A7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Education Performance Dashboard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272888" y="3794760"/>
            <a:ext cx="1645920" cy="0"/>
          </a:xfrm>
          <a:prstGeom prst="line">
            <a:avLst/>
          </a:prstGeom>
          <a:noFill/>
          <a:ln w="19050">
            <a:solidFill>
              <a:srgbClr val="14A79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1605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Amirthan Murugan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education stakeholders lack a single, unified view of global university performance, research output, and student diversity — data remains scattered across ranking bodies such as QS and Times Higher Education.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240280"/>
            <a:ext cx="5285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aims to: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110029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comprehensive higher education analytics dashboard suite covering rankings, research performance, student diversity, and global education trends.</a:t>
            </a:r>
            <a:endParaRPr lang="en-US" sz="16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Transform raw educational data (QS World University Rankings, Times Higher Education Rankings) into actionable insights via interactive Tableau dashboards.</a:t>
            </a:r>
            <a:endParaRPr lang="en-US" sz="16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 students, researchers, administrators, policymakers, and consultants to evaluate institutions, compare universities globally, and identify trends.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25780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Deliverable: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unified Tableau workbook (.twbx) with four interconnected dashboards — University Overview, Research Analytics, Student Analytics, and Country Comparison.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 Methodology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follows a structured, milestone-driven workflow — from raw data collection through to a fully documented, portfolio-ready dashboard suite.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0B4F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1488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University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148840"/>
            <a:ext cx="19552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61489" y="21488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4A79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07209" y="21488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Cleaning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Transformation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578809" y="2148840"/>
            <a:ext cx="19552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74338" y="21488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0B4F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0058" y="21488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 KPI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91658" y="2148840"/>
            <a:ext cx="19552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87188" y="21488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4A79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32908" y="21488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04508" y="2148840"/>
            <a:ext cx="19552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00037" y="21488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0B4F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5757" y="21488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417357" y="2148840"/>
            <a:ext cx="19552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612886" y="21488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4A79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58606" y="21488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030206" y="2148840"/>
            <a:ext cx="19552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225735" y="21488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0B4F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71455" y="21488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Documentation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70332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9808" y="3657600"/>
            <a:ext cx="5285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Milestones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4415" cy="214884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4572000"/>
                <a:gridCol w="448056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Milestone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Weeks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Focus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1–2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Collection &amp; Cleaning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&gt;95% dataset completeness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3–4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KPI Engineering &amp; Planning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6+ KPIs generated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5–6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Dashboard Development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 dashboards integrated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7–8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Testing &amp; Delivery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Portfolio-ready suite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University Data Collection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module:  </a:t>
            </a:r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gather raw ranking data from multiple global and national sources into one common base for analysis.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252728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the Data Comes From (Kaggle)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64208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250" b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QS World University Rankings 2025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2E9E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kaggle.com/datasets/melissamonfared/qs-world-university-rankings-2025</a:t>
            </a:r>
            <a:endParaRPr lang="en-US" sz="12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250" b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 Higher Education World University Rankings 2024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2E9E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kaggle.com/datasets/ddosad/timesworlduniversityrankings2024</a:t>
            </a:r>
            <a:endParaRPr lang="en-US" sz="12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250" b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NIRF India Rankings 2016–2025 (Govt. of India)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2E9E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kaggle.com/datasets/iitanshravan/nirf-rankings-dataset-20162025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852928"/>
            <a:ext cx="3314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Faced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01568"/>
            <a:ext cx="3186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Inconsistent university and country naming across QS, THE, and NIRF sources.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scoring scales between ranking systems.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Merging three differently structured datasets into one schema.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institution records across ranking years.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38218" y="2898648"/>
            <a:ext cx="109728" cy="25603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39386" y="2852928"/>
            <a:ext cx="3314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Used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38218" y="3264408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2810" y="3401568"/>
            <a:ext cx="3186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Kaggle datasets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Jupyter Notebook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7797" y="2898648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8965" y="2852928"/>
            <a:ext cx="3314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Learned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27797" y="3264408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2389" y="3401568"/>
            <a:ext cx="3186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sourcing &amp; evaluation from Kaggle and official ranking bodies.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(Pandas) for merging multi-source data.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Schema design for heterogeneous datasets.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Data-quality validation &amp; completeness testing.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332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Deliverables: </a:t>
            </a:r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university_raw_data.csv, data_collection.py    </a:t>
            </a:r>
            <a:pPr algn="ctr"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   Evaluation: </a:t>
            </a:r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completeness above 95%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Data Cleaning &amp; Transformation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601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module: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resolve inconsistencies across sources and produce one trustworthy, analysis-ready dataset.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 duplicate records across ranking sources.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Standardize university names for consistency.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Standardize country names across datasets.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Normalize ranking metrics to a common scale.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Tableau-ready, analysis-optimized datasets.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3458" y="1508760"/>
            <a:ext cx="109728" cy="25603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4626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Used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99178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NumPy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8277" y="150876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9445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Learned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03997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deduplication techniques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String/fuzzy matching for name standardization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Handling missing values in Pandas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Data-type standardization &amp; scaling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3949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Deliverables: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university_cleaned.csv  •  education_cleaning.ipynb     </a:t>
            </a:r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 than 2% missing values.  •  Consistent ranking indicators across sources.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Education KPI Engineering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601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module: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turn raw ranking data into meaningful, comparable performance indicators for every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Global Ranking Score.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Research Impact Score.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Faculty-to-Student Ratio.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International Student Percentage.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Academic Reputation Score.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Research Productivity Index.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3458" y="1508760"/>
            <a:ext cx="109728" cy="25603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4626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Used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99178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Excel (formula validation)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8277" y="150876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9445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Learned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03997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/ metric design for education analytics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Weighted composite scoring formulas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normalization (min-max scaling)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Calculated fields in Python &amp; Excel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3949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Deliverables: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university_final_dataset.xlsx  •  generate_education_kpis.py     </a:t>
            </a:r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KPIs correctly calculated.  •  Dataset fully optimized for Tableau.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Calculation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core KPIs power every visualization in the dashboard suite. Each is derived directly from the cleaned QS, THE, and NIRF datasets.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4206240"/>
        </p:xfrm>
        <a:graphic>
          <a:graphicData uri="http://schemas.openxmlformats.org/drawingml/2006/table">
            <a:tbl>
              <a:tblPr/>
              <a:tblGrid>
                <a:gridCol w="2331720"/>
                <a:gridCol w="5806440"/>
                <a:gridCol w="29718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KPI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Formula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Purpose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Global Ranking Score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(0.4 × Academic Rep. + 0.2 × Employer Rep. + 0.2 × Faculty/Student Ratio + 0.2 × Citations) × 100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Composite overall university standing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Impact Score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(Total Citations ÷ Total Publications) × 100 (normalized 0–100)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Measures influence of published research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Faculty-to-Student Ratio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Faculty Count ÷ Total Student Count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Indicates teaching capacity &amp; attention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International Student 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(International Students ÷ Total Students) × 100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Reflects global diversity &amp; outlook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Academic Reputation Score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Normalized Peer-Survey Score (scaled 0–100)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Captures academic peer perception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Productivity Index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Publications ÷ Total Faculty Count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output per faculty member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E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4: Dashboard Planning &amp; Prototyping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601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module: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plan a clear, user-centered dashboard structure before development begins, reducing rework later.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layouts for University Overview, Research Analytics, Student Analytics, and Country Comparison dashboards.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global filters and navigation structure.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dashboard actions and interactive comparisons.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Storyboard the end-to-end user experience.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3458" y="1508760"/>
            <a:ext cx="109728" cy="25603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4626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Used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99178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Desktop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Whiteboard / Figma (wireframes)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 (storyboard)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8277" y="150876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9445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Learned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03997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UX wireframing for analytics dashboards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Information architecture &amp; navigation design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Rapid prototyping in Tableau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Storyboarding &amp; stakeholder walkthroughs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3949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Deliverables: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dashboard_storyboard.pdf  •  eduvision_prototype.twbx     </a:t>
            </a:r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designs approved.  •  Prototype functionality verified.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5: Build University Overview &amp; Research Analytics Dashboards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module:  </a:t>
            </a:r>
            <a:pPr indent="0" marL="0">
              <a:buNone/>
            </a:pPr>
            <a:r>
              <a:rPr lang="en-US" sz="11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turn cleaned data and KPIs into visual, interactive dashboards for rankings and research performance.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161288"/>
            <a:ext cx="516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 Overview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36192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university rankings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university distribution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reputation analysis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 performance trends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Institutional comparison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1207008"/>
            <a:ext cx="109728" cy="25603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9896" y="1161288"/>
            <a:ext cx="516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Analytics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70168" y="1536192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Publications analysis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 performance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productivity trends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research institutions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impact comparison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2064" y="2340864"/>
            <a:ext cx="5437480" cy="2715678"/>
          </a:xfrm>
          <a:prstGeom prst="roundRect">
            <a:avLst>
              <a:gd name="adj" fmla="val 1347"/>
            </a:avLst>
          </a:prstGeom>
          <a:solidFill>
            <a:srgbClr val="FFFFFF"/>
          </a:solidFill>
          <a:ln w="12700">
            <a:solidFill>
              <a:srgbClr val="BEEAE1"/>
            </a:solidFill>
            <a:prstDash val="solid"/>
          </a:ln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pic>
        <p:nvPicPr>
          <p:cNvPr id="14" name="Image 0" descr="/home/claude/proj/images/University_Overview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364328" cy="264252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42152" y="2340864"/>
            <a:ext cx="5437480" cy="2715678"/>
          </a:xfrm>
          <a:prstGeom prst="roundRect">
            <a:avLst>
              <a:gd name="adj" fmla="val 1347"/>
            </a:avLst>
          </a:prstGeom>
          <a:solidFill>
            <a:srgbClr val="FFFFFF"/>
          </a:solidFill>
          <a:ln w="12700">
            <a:solidFill>
              <a:srgbClr val="BEEAE1"/>
            </a:solidFill>
            <a:prstDash val="solid"/>
          </a:ln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pic>
        <p:nvPicPr>
          <p:cNvPr id="16" name="Image 1" descr="/home/claude/proj/images/Research_analyt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2377440"/>
            <a:ext cx="5364328" cy="264252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" y="509311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Deliverable: eduvision_dashboard_v1.twbx  •  Interactive visualizations operational, ranking metrics validated.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534915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31520" y="534915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Used:  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Desktop, Tableau Public     </a:t>
            </a:r>
            <a:pPr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Learned:  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calculated fields, chart design (bar/donut/map), KPI card design, dashboard color theory.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6: Build Student Analytics &amp; Country Comparison Dashboards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module:  </a:t>
            </a:r>
            <a:pPr indent="0" marL="0">
              <a:buNone/>
            </a:pPr>
            <a:r>
              <a:rPr lang="en-US" sz="11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visualize student diversity and enable side-by-side country-level benchmarking.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161288"/>
            <a:ext cx="516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Analytics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36192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International student analysis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Faculty-to-student ratio analysis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diversity trends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Enrollment comparisons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distribution 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1207008"/>
            <a:ext cx="109728" cy="25603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9896" y="1161288"/>
            <a:ext cx="516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Country Comparison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70168" y="1536192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Country ranking comparison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 performance benchmarking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Regional education trends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performing countries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2064" y="2340864"/>
            <a:ext cx="5437480" cy="2715678"/>
          </a:xfrm>
          <a:prstGeom prst="roundRect">
            <a:avLst>
              <a:gd name="adj" fmla="val 1347"/>
            </a:avLst>
          </a:prstGeom>
          <a:solidFill>
            <a:srgbClr val="FFFFFF"/>
          </a:solidFill>
          <a:ln w="12700">
            <a:solidFill>
              <a:srgbClr val="BEEAE1"/>
            </a:solidFill>
            <a:prstDash val="solid"/>
          </a:ln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pic>
        <p:nvPicPr>
          <p:cNvPr id="14" name="Image 0" descr="/home/claude/proj/images/student_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364328" cy="264252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42152" y="2340864"/>
            <a:ext cx="5437480" cy="2715678"/>
          </a:xfrm>
          <a:prstGeom prst="roundRect">
            <a:avLst>
              <a:gd name="adj" fmla="val 1347"/>
            </a:avLst>
          </a:prstGeom>
          <a:solidFill>
            <a:srgbClr val="FFFFFF"/>
          </a:solidFill>
          <a:ln w="12700">
            <a:solidFill>
              <a:srgbClr val="BEEAE1"/>
            </a:solidFill>
            <a:prstDash val="solid"/>
          </a:ln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pic>
        <p:nvPicPr>
          <p:cNvPr id="16" name="Image 1" descr="/home/claude/proj/images/Country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2377440"/>
            <a:ext cx="5364328" cy="264252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" y="509311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Deliverable: EduVision_DV.twbx  •  Global filters, navigation controls &amp; parameter actions integrated across all dashboards.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534915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31520" y="534915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Used:  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Desktop, Filters / Actions / Parameters     </a:t>
            </a:r>
            <a:pPr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Learned:  </a:t>
            </a:r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integration, cross-filtering, parameter actions, geographic (map) visualization.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7: Testing and Validation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601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module: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make sure every number on the dashboards is accurate and every interaction works before delivery.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 KPI calculations against source data.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ranking calculations for accuracy.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dashboard interactions, filters, and actions.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 educational metrics across all four dashboards.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3458" y="1508760"/>
            <a:ext cx="109728" cy="25603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4626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Used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99178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Excel (cross-checking)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QA checklist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8277" y="150876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9445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Learned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03997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 test-case design for dashboards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validation &amp; cross-checking techniques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testing of interactive visuals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Root-cause debugging of ranking discrepancies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3949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Deliverables: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 Checklist  •  Dashboard Testing Report     </a:t>
            </a:r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major dashboard issues.  •  KPI accuracy above 95%.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8: Documentation and Project Delivery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601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module:  </a:t>
            </a:r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make the project reproducible, understandable, and ready to share as a portfolio piece.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 documentation: dataset sources, KPI definitions, dashboard guide, and education analytics methodology.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Organize project structure: /scripts, /data, /dashboard, /docs.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to GitHub Repository.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Optionally publish to Tableau Public.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3458" y="1508760"/>
            <a:ext cx="109728" cy="25603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4626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Used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99178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Markdown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Public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8277" y="150876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9445" y="1463040"/>
            <a:ext cx="3283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Learned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03997" y="1892808"/>
            <a:ext cx="3439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documentation writing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 &amp; GitHub version control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structuring &amp; file organization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 presentation &amp; publishing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3949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Deliverables: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Repository  •  Final Documentation  •  Tableau Workbook     </a:t>
            </a:r>
            <a:pPr indent="0" marL="0">
              <a:buNone/>
            </a:pPr>
            <a:r>
              <a:rPr lang="en-US" sz="115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Fully documented project.  •  Portfolio-ready dashboard suite.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-1554480"/>
            <a:ext cx="2377440" cy="2377440"/>
          </a:xfrm>
          <a:prstGeom prst="ellipse">
            <a:avLst/>
          </a:prstGeom>
          <a:solidFill>
            <a:srgbClr val="6FD9C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23015" y="-502920"/>
            <a:ext cx="1188720" cy="1188720"/>
          </a:xfrm>
          <a:prstGeom prst="ellipse">
            <a:avLst/>
          </a:prstGeom>
          <a:solidFill>
            <a:srgbClr val="14A79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successfully transforms scattered global ranking data into a single, interactive Tableau workbook that supports clear, data-driven decisions across higher education.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09728" cy="256032"/>
          </a:xfrm>
          <a:prstGeom prst="rect">
            <a:avLst/>
          </a:prstGeom>
          <a:solidFill>
            <a:srgbClr val="14A7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011680"/>
            <a:ext cx="516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Outcomes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68880"/>
            <a:ext cx="52728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 and integration of global university datasets.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cleaning and transformation for educational analytics.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of six+ higher education KPIs.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Country-level education benchmarking.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8728" y="2057400"/>
            <a:ext cx="109728" cy="25603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9896" y="2011680"/>
            <a:ext cx="516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Capabilities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70168" y="2468880"/>
            <a:ext cx="52728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interactive, fully-integrated Tableau dashboards.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filters and drill-down capabilities.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 ranking and performance analysis.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Tableau workbook (.twbx) as final deliverable.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8F8F4"/>
          </a:solidFill>
          <a:ln w="12700">
            <a:solidFill>
              <a:srgbClr val="BEE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25780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portfolio-ready, fully documented dashboard suite enabling students, researchers, administrators, and policymakers to benchmark institutions globally.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C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E8F8F4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463040"/>
            <a:ext cx="3840480" cy="3840480"/>
          </a:xfrm>
          <a:prstGeom prst="ellipse">
            <a:avLst/>
          </a:prstGeom>
          <a:solidFill>
            <a:srgbClr val="0B4F4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14A79C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6060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272888" y="3657600"/>
            <a:ext cx="1645920" cy="0"/>
          </a:xfrm>
          <a:prstGeom prst="line">
            <a:avLst/>
          </a:prstGeom>
          <a:noFill/>
          <a:ln w="19050">
            <a:solidFill>
              <a:srgbClr val="14A79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| Higher Education Performance Dashboard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Amirthan Murugan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2026-09-17T02:27:19Z</dcterms:created>
  <dcterms:modified xsi:type="dcterms:W3CDTF">2026-09-17T02:27:19Z</dcterms:modified>
</cp:coreProperties>
</file>