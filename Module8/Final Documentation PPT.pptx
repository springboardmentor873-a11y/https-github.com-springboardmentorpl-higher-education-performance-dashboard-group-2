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6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245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slide" Target="slide3.xml"/><Relationship Id="rId7" Type="http://schemas.openxmlformats.org/officeDocument/2006/relationships/slide" Target="slide9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10" Type="http://schemas.openxmlformats.org/officeDocument/2006/relationships/slide" Target="slide1.xml"/><Relationship Id="rId4" Type="http://schemas.openxmlformats.org/officeDocument/2006/relationships/slide" Target="slide4.xml"/><Relationship Id="rId9" Type="http://schemas.openxmlformats.org/officeDocument/2006/relationships/slide" Target="slide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slide" Target="slide3.xml"/><Relationship Id="rId7" Type="http://schemas.openxmlformats.org/officeDocument/2006/relationships/slide" Target="slide9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10" Type="http://schemas.openxmlformats.org/officeDocument/2006/relationships/slide" Target="slide1.xml"/><Relationship Id="rId4" Type="http://schemas.openxmlformats.org/officeDocument/2006/relationships/slide" Target="slide4.xml"/><Relationship Id="rId9" Type="http://schemas.openxmlformats.org/officeDocument/2006/relationships/slide" Target="slide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slide" Target="slide3.xml"/><Relationship Id="rId7" Type="http://schemas.openxmlformats.org/officeDocument/2006/relationships/slide" Target="slide9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10" Type="http://schemas.openxmlformats.org/officeDocument/2006/relationships/slide" Target="slide1.xml"/><Relationship Id="rId4" Type="http://schemas.openxmlformats.org/officeDocument/2006/relationships/slide" Target="slide4.xml"/><Relationship Id="rId9" Type="http://schemas.openxmlformats.org/officeDocument/2006/relationships/slide" Target="slide1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slide" Target="slide3.xml"/><Relationship Id="rId7" Type="http://schemas.openxmlformats.org/officeDocument/2006/relationships/slide" Target="slide9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10" Type="http://schemas.openxmlformats.org/officeDocument/2006/relationships/slide" Target="slide1.xml"/><Relationship Id="rId4" Type="http://schemas.openxmlformats.org/officeDocument/2006/relationships/slide" Target="slide4.xml"/><Relationship Id="rId9" Type="http://schemas.openxmlformats.org/officeDocument/2006/relationships/slide" Target="slide1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slide" Target="slide3.xml"/><Relationship Id="rId7" Type="http://schemas.openxmlformats.org/officeDocument/2006/relationships/slide" Target="slide9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10" Type="http://schemas.openxmlformats.org/officeDocument/2006/relationships/slide" Target="slide1.xml"/><Relationship Id="rId4" Type="http://schemas.openxmlformats.org/officeDocument/2006/relationships/slide" Target="slide4.xml"/><Relationship Id="rId9" Type="http://schemas.openxmlformats.org/officeDocument/2006/relationships/slide" Target="slide1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slide" Target="slide3.xml"/><Relationship Id="rId7" Type="http://schemas.openxmlformats.org/officeDocument/2006/relationships/slide" Target="slide9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10" Type="http://schemas.openxmlformats.org/officeDocument/2006/relationships/slide" Target="slide1.xml"/><Relationship Id="rId4" Type="http://schemas.openxmlformats.org/officeDocument/2006/relationships/slide" Target="slide4.xml"/><Relationship Id="rId9" Type="http://schemas.openxmlformats.org/officeDocument/2006/relationships/slide" Target="slide1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slide" Target="slide3.xml"/><Relationship Id="rId7" Type="http://schemas.openxmlformats.org/officeDocument/2006/relationships/slide" Target="slide9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10" Type="http://schemas.openxmlformats.org/officeDocument/2006/relationships/slide" Target="slide1.xml"/><Relationship Id="rId4" Type="http://schemas.openxmlformats.org/officeDocument/2006/relationships/slide" Target="slide4.xml"/><Relationship Id="rId9" Type="http://schemas.openxmlformats.org/officeDocument/2006/relationships/slide" Target="slide1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slide" Target="slide3.xml"/><Relationship Id="rId7" Type="http://schemas.openxmlformats.org/officeDocument/2006/relationships/slide" Target="slide9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10" Type="http://schemas.openxmlformats.org/officeDocument/2006/relationships/slide" Target="slide1.xml"/><Relationship Id="rId4" Type="http://schemas.openxmlformats.org/officeDocument/2006/relationships/slide" Target="slide4.xml"/><Relationship Id="rId9" Type="http://schemas.openxmlformats.org/officeDocument/2006/relationships/slide" Target="slide1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slide" Target="slide3.xml"/><Relationship Id="rId7" Type="http://schemas.openxmlformats.org/officeDocument/2006/relationships/slide" Target="slide9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10" Type="http://schemas.openxmlformats.org/officeDocument/2006/relationships/slide" Target="slide1.xml"/><Relationship Id="rId4" Type="http://schemas.openxmlformats.org/officeDocument/2006/relationships/slide" Target="slide4.xml"/><Relationship Id="rId9" Type="http://schemas.openxmlformats.org/officeDocument/2006/relationships/slide" Target="slide1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slide" Target="slide3.xml"/><Relationship Id="rId7" Type="http://schemas.openxmlformats.org/officeDocument/2006/relationships/slide" Target="slide9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10" Type="http://schemas.openxmlformats.org/officeDocument/2006/relationships/slide" Target="slide1.xml"/><Relationship Id="rId4" Type="http://schemas.openxmlformats.org/officeDocument/2006/relationships/slide" Target="slide4.xml"/><Relationship Id="rId9" Type="http://schemas.openxmlformats.org/officeDocument/2006/relationships/slide" Target="slide1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slide" Target="slide3.xml"/><Relationship Id="rId7" Type="http://schemas.openxmlformats.org/officeDocument/2006/relationships/slide" Target="slide9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10" Type="http://schemas.openxmlformats.org/officeDocument/2006/relationships/slide" Target="slide1.xml"/><Relationship Id="rId4" Type="http://schemas.openxmlformats.org/officeDocument/2006/relationships/slide" Target="slide4.xml"/><Relationship Id="rId9" Type="http://schemas.openxmlformats.org/officeDocument/2006/relationships/slide" Target="slide1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13" Type="http://schemas.openxmlformats.org/officeDocument/2006/relationships/slide" Target="slide16.xml"/><Relationship Id="rId3" Type="http://schemas.openxmlformats.org/officeDocument/2006/relationships/slide" Target="slide2.xml"/><Relationship Id="rId7" Type="http://schemas.openxmlformats.org/officeDocument/2006/relationships/slide" Target="slide8.xml"/><Relationship Id="rId12" Type="http://schemas.openxmlformats.org/officeDocument/2006/relationships/slide" Target="slide15.xml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7.xml"/><Relationship Id="rId11" Type="http://schemas.openxmlformats.org/officeDocument/2006/relationships/slide" Target="slide14.xml"/><Relationship Id="rId5" Type="http://schemas.openxmlformats.org/officeDocument/2006/relationships/slide" Target="slide4.xml"/><Relationship Id="rId10" Type="http://schemas.openxmlformats.org/officeDocument/2006/relationships/slide" Target="slide13.xml"/><Relationship Id="rId4" Type="http://schemas.openxmlformats.org/officeDocument/2006/relationships/slide" Target="slide3.xml"/><Relationship Id="rId9" Type="http://schemas.openxmlformats.org/officeDocument/2006/relationships/slide" Target="slide10.xml"/><Relationship Id="rId1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13" Type="http://schemas.openxmlformats.org/officeDocument/2006/relationships/slide" Target="slide16.xml"/><Relationship Id="rId3" Type="http://schemas.openxmlformats.org/officeDocument/2006/relationships/slide" Target="slide2.xml"/><Relationship Id="rId7" Type="http://schemas.openxmlformats.org/officeDocument/2006/relationships/slide" Target="slide8.xml"/><Relationship Id="rId12" Type="http://schemas.openxmlformats.org/officeDocument/2006/relationships/slide" Target="slide15.xml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7.xml"/><Relationship Id="rId11" Type="http://schemas.openxmlformats.org/officeDocument/2006/relationships/slide" Target="slide14.xml"/><Relationship Id="rId5" Type="http://schemas.openxmlformats.org/officeDocument/2006/relationships/slide" Target="slide4.xml"/><Relationship Id="rId10" Type="http://schemas.openxmlformats.org/officeDocument/2006/relationships/slide" Target="slide13.xml"/><Relationship Id="rId4" Type="http://schemas.openxmlformats.org/officeDocument/2006/relationships/slide" Target="slide3.xml"/><Relationship Id="rId9" Type="http://schemas.openxmlformats.org/officeDocument/2006/relationships/slide" Target="slide10.xml"/><Relationship Id="rId1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13" Type="http://schemas.openxmlformats.org/officeDocument/2006/relationships/slide" Target="slide16.xml"/><Relationship Id="rId3" Type="http://schemas.openxmlformats.org/officeDocument/2006/relationships/slide" Target="slide2.xml"/><Relationship Id="rId7" Type="http://schemas.openxmlformats.org/officeDocument/2006/relationships/slide" Target="slide8.xml"/><Relationship Id="rId12" Type="http://schemas.openxmlformats.org/officeDocument/2006/relationships/slide" Target="slide15.xml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7.xml"/><Relationship Id="rId11" Type="http://schemas.openxmlformats.org/officeDocument/2006/relationships/slide" Target="slide14.xml"/><Relationship Id="rId5" Type="http://schemas.openxmlformats.org/officeDocument/2006/relationships/slide" Target="slide4.xml"/><Relationship Id="rId10" Type="http://schemas.openxmlformats.org/officeDocument/2006/relationships/slide" Target="slide13.xml"/><Relationship Id="rId4" Type="http://schemas.openxmlformats.org/officeDocument/2006/relationships/slide" Target="slide3.xml"/><Relationship Id="rId9" Type="http://schemas.openxmlformats.org/officeDocument/2006/relationships/slide" Target="slide10.xml"/><Relationship Id="rId1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13" Type="http://schemas.openxmlformats.org/officeDocument/2006/relationships/slide" Target="slide16.xml"/><Relationship Id="rId3" Type="http://schemas.openxmlformats.org/officeDocument/2006/relationships/slide" Target="slide2.xml"/><Relationship Id="rId7" Type="http://schemas.openxmlformats.org/officeDocument/2006/relationships/slide" Target="slide8.xml"/><Relationship Id="rId12" Type="http://schemas.openxmlformats.org/officeDocument/2006/relationships/slide" Target="slide15.xml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7.xml"/><Relationship Id="rId11" Type="http://schemas.openxmlformats.org/officeDocument/2006/relationships/slide" Target="slide14.xml"/><Relationship Id="rId5" Type="http://schemas.openxmlformats.org/officeDocument/2006/relationships/slide" Target="slide4.xml"/><Relationship Id="rId10" Type="http://schemas.openxmlformats.org/officeDocument/2006/relationships/slide" Target="slide13.xml"/><Relationship Id="rId4" Type="http://schemas.openxmlformats.org/officeDocument/2006/relationships/slide" Target="slide3.xml"/><Relationship Id="rId9" Type="http://schemas.openxmlformats.org/officeDocument/2006/relationships/slide" Target="slide10.xml"/><Relationship Id="rId1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slide" Target="slide2.xml"/><Relationship Id="rId7" Type="http://schemas.openxmlformats.org/officeDocument/2006/relationships/slide" Target="slide8.xml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7.xml"/><Relationship Id="rId5" Type="http://schemas.openxmlformats.org/officeDocument/2006/relationships/slide" Target="slide4.xml"/><Relationship Id="rId10" Type="http://schemas.openxmlformats.org/officeDocument/2006/relationships/slide" Target="slide13.xml"/><Relationship Id="rId4" Type="http://schemas.openxmlformats.org/officeDocument/2006/relationships/slide" Target="slide3.xml"/><Relationship Id="rId9" Type="http://schemas.openxmlformats.org/officeDocument/2006/relationships/slide" Target="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0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38912" y="502920"/>
            <a:ext cx="73152" cy="5440680"/>
          </a:xfrm>
          <a:prstGeom prst="rect">
            <a:avLst/>
          </a:prstGeom>
          <a:solidFill>
            <a:srgbClr val="894BFF"/>
          </a:solidFill>
          <a:ln>
            <a:solidFill>
              <a:srgbClr val="89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281160" y="-685800"/>
            <a:ext cx="2743200" cy="2743200"/>
          </a:xfrm>
          <a:prstGeom prst="ellipse">
            <a:avLst/>
          </a:prstGeom>
          <a:solidFill>
            <a:srgbClr val="89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95560" y="137160"/>
            <a:ext cx="1645920" cy="1645920"/>
          </a:xfrm>
          <a:prstGeom prst="ellipse">
            <a:avLst/>
          </a:prstGeom>
          <a:solidFill>
            <a:srgbClr val="3D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281160" y="5074920"/>
            <a:ext cx="2011680" cy="2011680"/>
          </a:xfrm>
          <a:prstGeom prst="ellipse">
            <a:avLst/>
          </a:prstGeom>
          <a:solidFill>
            <a:srgbClr val="33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3017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33DEDE"/>
                </a:solidFill>
                <a:latin typeface="Aptos"/>
              </a:rPr>
              <a:t>INTERNSHIP  •  8 WEEKS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143000"/>
            <a:ext cx="4754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894BFF"/>
                </a:solidFill>
                <a:latin typeface="Aptos"/>
              </a:rPr>
              <a:t>EDUVISION_DV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664208"/>
            <a:ext cx="62179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F6F8FF"/>
                </a:solidFill>
                <a:latin typeface="Aptos"/>
              </a:rPr>
              <a:t>Higher Education
Performance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246120"/>
            <a:ext cx="5394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A1ABCA"/>
                </a:solidFill>
                <a:latin typeface="Aptos"/>
              </a:rPr>
              <a:t>Transforming university data into interactive,
data-driven insights with Tableau.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315968"/>
            <a:ext cx="3246120" cy="1051560"/>
          </a:xfrm>
          <a:prstGeom prst="roundRect">
            <a:avLst/>
          </a:prstGeom>
          <a:solidFill>
            <a:srgbClr val="121933"/>
          </a:solidFill>
          <a:ln w="15240">
            <a:solidFill>
              <a:srgbClr val="344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8992" y="4462272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A1ABCA"/>
                </a:solidFill>
                <a:latin typeface="Aptos"/>
              </a:rPr>
              <a:t>PRESENTED 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4709160"/>
            <a:ext cx="2468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A1ABCA"/>
                </a:solidFill>
                <a:latin typeface="Aptos"/>
              </a:rPr>
              <a:t>Mahesh Deshmukh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4315968"/>
            <a:ext cx="2743200" cy="1051560"/>
          </a:xfrm>
          <a:prstGeom prst="roundRect">
            <a:avLst/>
          </a:prstGeom>
          <a:solidFill>
            <a:srgbClr val="121933"/>
          </a:solidFill>
          <a:ln w="15240">
            <a:solidFill>
              <a:srgbClr val="344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6280" y="4462272"/>
            <a:ext cx="1463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A1ABCA"/>
                </a:solidFill>
                <a:latin typeface="Aptos"/>
              </a:rPr>
              <a:t>ORGANIZATION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470916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F6F8FF"/>
                </a:solidFill>
                <a:latin typeface="Aptos"/>
              </a:rPr>
              <a:t>Springboard InfoSys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95160" y="1078992"/>
            <a:ext cx="4160520" cy="4526280"/>
          </a:xfrm>
          <a:prstGeom prst="roundRect">
            <a:avLst/>
          </a:prstGeom>
          <a:solidFill>
            <a:srgbClr val="121933"/>
          </a:solidFill>
          <a:ln w="15240">
            <a:solidFill>
              <a:srgbClr val="344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96912" y="1344168"/>
            <a:ext cx="1645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3DEDE"/>
                </a:solidFill>
                <a:latin typeface="Aptos"/>
              </a:rPr>
              <a:t>LIVE ANALYTICS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96912" y="1810512"/>
            <a:ext cx="1627632" cy="713232"/>
          </a:xfrm>
          <a:prstGeom prst="roundRect">
            <a:avLst/>
          </a:prstGeom>
          <a:solidFill>
            <a:srgbClr val="0C1127"/>
          </a:solidFill>
          <a:ln w="15240">
            <a:solidFill>
              <a:srgbClr val="344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06640" y="1901952"/>
            <a:ext cx="135331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1ABCA"/>
                </a:solidFill>
                <a:latin typeface="Aptos"/>
              </a:rPr>
              <a:t>Global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139696"/>
            <a:ext cx="135331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894BFF"/>
                </a:solidFill>
                <a:latin typeface="Aptos"/>
              </a:rPr>
              <a:t>72.6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71432" y="1810512"/>
            <a:ext cx="1627632" cy="713232"/>
          </a:xfrm>
          <a:prstGeom prst="roundRect">
            <a:avLst/>
          </a:prstGeom>
          <a:solidFill>
            <a:srgbClr val="0C1127"/>
          </a:solidFill>
          <a:ln w="15240">
            <a:solidFill>
              <a:srgbClr val="344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81160" y="1901952"/>
            <a:ext cx="135331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1ABCA"/>
                </a:solidFill>
                <a:latin typeface="Aptos"/>
              </a:rPr>
              <a:t>Universities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2139696"/>
            <a:ext cx="135331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3D91FF"/>
                </a:solidFill>
                <a:latin typeface="Aptos"/>
              </a:rPr>
              <a:t>1,503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96912" y="2724912"/>
            <a:ext cx="1627632" cy="713232"/>
          </a:xfrm>
          <a:prstGeom prst="roundRect">
            <a:avLst/>
          </a:prstGeom>
          <a:solidFill>
            <a:srgbClr val="0C1127"/>
          </a:solidFill>
          <a:ln w="15240">
            <a:solidFill>
              <a:srgbClr val="344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06640" y="2816352"/>
            <a:ext cx="135331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1ABCA"/>
                </a:solidFill>
                <a:latin typeface="Aptos"/>
              </a:rPr>
              <a:t>Intl. Students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3054096"/>
            <a:ext cx="135331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33DEDE"/>
                </a:solidFill>
                <a:latin typeface="Aptos"/>
              </a:rPr>
              <a:t>28.7%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71432" y="2724912"/>
            <a:ext cx="1627632" cy="713232"/>
          </a:xfrm>
          <a:prstGeom prst="roundRect">
            <a:avLst/>
          </a:prstGeom>
          <a:solidFill>
            <a:srgbClr val="0C1127"/>
          </a:solidFill>
          <a:ln w="15240">
            <a:solidFill>
              <a:srgbClr val="344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281160" y="2816352"/>
            <a:ext cx="135331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1ABCA"/>
                </a:solidFill>
                <a:latin typeface="Aptos"/>
              </a:rPr>
              <a:t>Publications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3054096"/>
            <a:ext cx="135331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AD4B"/>
                </a:solidFill>
                <a:latin typeface="Aptos"/>
              </a:rPr>
              <a:t>2.45M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675887"/>
            <a:ext cx="22860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A1ABCA"/>
                </a:solidFill>
                <a:latin typeface="Aptos"/>
              </a:rPr>
              <a:t>UNIVERSITY PERFORMANCE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4498848"/>
            <a:ext cx="246888" cy="329184"/>
          </a:xfrm>
          <a:prstGeom prst="rect">
            <a:avLst/>
          </a:prstGeom>
          <a:solidFill>
            <a:srgbClr val="894BFF"/>
          </a:solidFill>
          <a:ln>
            <a:solidFill>
              <a:srgbClr val="89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744968" y="4334256"/>
            <a:ext cx="246888" cy="493776"/>
          </a:xfrm>
          <a:prstGeom prst="rect">
            <a:avLst/>
          </a:prstGeom>
          <a:solidFill>
            <a:srgbClr val="894BFF"/>
          </a:solidFill>
          <a:ln>
            <a:solidFill>
              <a:srgbClr val="89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174736" y="4416552"/>
            <a:ext cx="246888" cy="411479"/>
          </a:xfrm>
          <a:prstGeom prst="rect">
            <a:avLst/>
          </a:prstGeom>
          <a:solidFill>
            <a:srgbClr val="894BFF"/>
          </a:solidFill>
          <a:ln>
            <a:solidFill>
              <a:srgbClr val="89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604504" y="4224528"/>
            <a:ext cx="246888" cy="603504"/>
          </a:xfrm>
          <a:prstGeom prst="rect">
            <a:avLst/>
          </a:prstGeom>
          <a:solidFill>
            <a:srgbClr val="894BFF"/>
          </a:solidFill>
          <a:ln>
            <a:solidFill>
              <a:srgbClr val="89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034272" y="4375404"/>
            <a:ext cx="246888" cy="452628"/>
          </a:xfrm>
          <a:prstGeom prst="rect">
            <a:avLst/>
          </a:prstGeom>
          <a:solidFill>
            <a:srgbClr val="894BFF"/>
          </a:solidFill>
          <a:ln>
            <a:solidFill>
              <a:srgbClr val="89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464040" y="4176522"/>
            <a:ext cx="246888" cy="651509"/>
          </a:xfrm>
          <a:prstGeom prst="rect">
            <a:avLst/>
          </a:prstGeom>
          <a:solidFill>
            <a:srgbClr val="894BFF"/>
          </a:solidFill>
          <a:ln>
            <a:solidFill>
              <a:srgbClr val="89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8" name="Connector 37"/>
          <p:cNvCxnSpPr/>
          <p:nvPr/>
        </p:nvCxnSpPr>
        <p:spPr>
          <a:xfrm>
            <a:off x="7315200" y="4846320"/>
            <a:ext cx="2971800" cy="0"/>
          </a:xfrm>
          <a:prstGeom prst="line">
            <a:avLst/>
          </a:prstGeom>
          <a:ln w="12700">
            <a:solidFill>
              <a:srgbClr val="344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7388352" y="4251960"/>
            <a:ext cx="612648" cy="274320"/>
          </a:xfrm>
          <a:prstGeom prst="line">
            <a:avLst/>
          </a:prstGeom>
          <a:ln w="22860">
            <a:solidFill>
              <a:srgbClr val="33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074152" y="4215384"/>
            <a:ext cx="612648" cy="310896"/>
          </a:xfrm>
          <a:prstGeom prst="line">
            <a:avLst/>
          </a:prstGeom>
          <a:ln w="22860">
            <a:solidFill>
              <a:srgbClr val="33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759952" y="4178808"/>
            <a:ext cx="612648" cy="347472"/>
          </a:xfrm>
          <a:prstGeom prst="line">
            <a:avLst/>
          </a:prstGeom>
          <a:ln w="22860">
            <a:solidFill>
              <a:srgbClr val="33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9445752" y="4142232"/>
            <a:ext cx="612648" cy="384048"/>
          </a:xfrm>
          <a:prstGeom prst="line">
            <a:avLst/>
          </a:prstGeom>
          <a:ln w="22860">
            <a:solidFill>
              <a:srgbClr val="33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296912" y="5138928"/>
            <a:ext cx="30175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3DEDE"/>
                </a:solidFill>
                <a:latin typeface="Aptos"/>
              </a:rPr>
              <a:t>PYTHON  •  PANDAS  •  TABLEAU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" y="6062472"/>
            <a:ext cx="22860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1ABCA"/>
                </a:solidFill>
                <a:latin typeface="Aptos"/>
              </a:rPr>
              <a:t>Internship Presentation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18520" y="6062472"/>
            <a:ext cx="457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A1ABCA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138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5F7FF"/>
                </a:solidFill>
                <a:latin typeface="Aptos"/>
              </a:rPr>
              <a:t>Internship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9601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6AFCD"/>
                </a:solidFill>
                <a:latin typeface="Aptos"/>
              </a:rPr>
              <a:t>A focused 8-week journey from data preparation to interactive analytics.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38912"/>
            <a:ext cx="1508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32DCDC"/>
                </a:solidFill>
                <a:latin typeface="Aptos"/>
              </a:rP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2240280" cy="1234440"/>
          </a:xfrm>
          <a:prstGeom prst="roundRect">
            <a:avLst/>
          </a:prstGeom>
          <a:solidFill>
            <a:srgbClr val="141B35"/>
          </a:solidFill>
          <a:ln w="15240">
            <a:solidFill>
              <a:srgbClr val="3A4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04671" y="1810512"/>
            <a:ext cx="329184" cy="329184"/>
          </a:xfrm>
          <a:prstGeom prst="ellipse">
            <a:avLst/>
          </a:prstGeom>
          <a:solidFill>
            <a:srgbClr val="85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61872" y="1746504"/>
            <a:ext cx="1417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FCD"/>
                </a:solidFill>
                <a:latin typeface="Aptos"/>
              </a:rPr>
              <a:t>Organization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221992"/>
            <a:ext cx="187451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5F7FF"/>
                </a:solidFill>
                <a:latin typeface="Aptos"/>
              </a:rPr>
              <a:t>Springboard InfoSys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600200"/>
            <a:ext cx="2240280" cy="1234440"/>
          </a:xfrm>
          <a:prstGeom prst="roundRect">
            <a:avLst/>
          </a:prstGeom>
          <a:solidFill>
            <a:srgbClr val="141B35"/>
          </a:solidFill>
          <a:ln w="15240">
            <a:solidFill>
              <a:srgbClr val="3A4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685032" y="1810512"/>
            <a:ext cx="329184" cy="329184"/>
          </a:xfrm>
          <a:prstGeom prst="ellipse">
            <a:avLst/>
          </a:prstGeom>
          <a:solidFill>
            <a:srgbClr val="39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42232" y="1746504"/>
            <a:ext cx="1417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FCD"/>
                </a:solidFill>
                <a:latin typeface="Aptos"/>
              </a:rPr>
              <a:t>Duration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2" y="2221992"/>
            <a:ext cx="187451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5F7FF"/>
                </a:solidFill>
                <a:latin typeface="Aptos"/>
              </a:rPr>
              <a:t>8 Weeks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600200"/>
            <a:ext cx="2240280" cy="1234440"/>
          </a:xfrm>
          <a:prstGeom prst="roundRect">
            <a:avLst/>
          </a:prstGeom>
          <a:solidFill>
            <a:srgbClr val="141B35"/>
          </a:solidFill>
          <a:ln w="15240">
            <a:solidFill>
              <a:srgbClr val="3A4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565392" y="1810512"/>
            <a:ext cx="329184" cy="329184"/>
          </a:xfrm>
          <a:prstGeom prst="ellipse">
            <a:avLst/>
          </a:prstGeom>
          <a:solidFill>
            <a:srgbClr val="32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22592" y="1746504"/>
            <a:ext cx="1417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FCD"/>
                </a:solidFill>
                <a:latin typeface="Aptos"/>
              </a:rPr>
              <a:t>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2221992"/>
            <a:ext cx="187451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5F7FF"/>
                </a:solidFill>
                <a:latin typeface="Aptos"/>
              </a:rPr>
              <a:t>EduVision_DV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60" y="1600200"/>
            <a:ext cx="2240280" cy="1234440"/>
          </a:xfrm>
          <a:prstGeom prst="roundRect">
            <a:avLst/>
          </a:prstGeom>
          <a:solidFill>
            <a:srgbClr val="141B35"/>
          </a:solidFill>
          <a:ln w="15240">
            <a:solidFill>
              <a:srgbClr val="3A4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445752" y="1810512"/>
            <a:ext cx="329184" cy="329184"/>
          </a:xfrm>
          <a:prstGeom prst="ellipse">
            <a:avLst/>
          </a:prstGeom>
          <a:solidFill>
            <a:srgbClr val="FFA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902952" y="1746504"/>
            <a:ext cx="1417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6AFCD"/>
                </a:solidFill>
                <a:latin typeface="Aptos"/>
              </a:rPr>
              <a:t>Role Focus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5752" y="2221992"/>
            <a:ext cx="187451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5F7FF"/>
                </a:solidFill>
                <a:latin typeface="Aptos"/>
              </a:rPr>
              <a:t>Data + Visualization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246120"/>
            <a:ext cx="20116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32DCDC"/>
                </a:solidFill>
                <a:latin typeface="Aptos"/>
              </a:rPr>
              <a:t>INTERNSHIP FLOW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3822191"/>
            <a:ext cx="566928" cy="566928"/>
          </a:xfrm>
          <a:prstGeom prst="ellipse">
            <a:avLst/>
          </a:prstGeom>
          <a:solidFill>
            <a:srgbClr val="85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3941063"/>
            <a:ext cx="56692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F"/>
                </a:solidFill>
                <a:latin typeface="Aptos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572000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F"/>
                </a:solidFill>
                <a:latin typeface="Aptos"/>
              </a:rPr>
              <a:t>Collect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828032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A6AFCD"/>
                </a:solidFill>
                <a:latin typeface="Aptos"/>
              </a:rPr>
              <a:t>Data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408176" y="4105656"/>
            <a:ext cx="1444752" cy="0"/>
          </a:xfrm>
          <a:prstGeom prst="line">
            <a:avLst/>
          </a:prstGeom>
          <a:ln w="20320">
            <a:solidFill>
              <a:srgbClr val="32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3063240" y="3822191"/>
            <a:ext cx="566928" cy="566928"/>
          </a:xfrm>
          <a:prstGeom prst="ellipse">
            <a:avLst/>
          </a:prstGeom>
          <a:solidFill>
            <a:srgbClr val="39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063240" y="3941063"/>
            <a:ext cx="56692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F"/>
                </a:solidFill>
                <a:latin typeface="Aptos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53512" y="4572000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F"/>
                </a:solidFill>
                <a:latin typeface="Aptos"/>
              </a:rPr>
              <a:t>Clean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53512" y="4828032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A6AFCD"/>
                </a:solidFill>
                <a:latin typeface="Aptos"/>
              </a:rPr>
              <a:t>Transform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648456" y="4105656"/>
            <a:ext cx="1444752" cy="0"/>
          </a:xfrm>
          <a:prstGeom prst="line">
            <a:avLst/>
          </a:prstGeom>
          <a:ln w="20320">
            <a:solidFill>
              <a:srgbClr val="32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5303520" y="3822191"/>
            <a:ext cx="566928" cy="566928"/>
          </a:xfrm>
          <a:prstGeom prst="ellipse">
            <a:avLst/>
          </a:prstGeom>
          <a:solidFill>
            <a:srgbClr val="85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303520" y="3941063"/>
            <a:ext cx="56692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F"/>
                </a:solidFill>
                <a:latin typeface="Aptos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93792" y="4572000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F"/>
                </a:solidFill>
                <a:latin typeface="Aptos"/>
              </a:rPr>
              <a:t>Engineer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93792" y="4828032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A6AFCD"/>
                </a:solidFill>
                <a:latin typeface="Aptos"/>
              </a:rPr>
              <a:t>KPIs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888736" y="4105656"/>
            <a:ext cx="1444752" cy="0"/>
          </a:xfrm>
          <a:prstGeom prst="line">
            <a:avLst/>
          </a:prstGeom>
          <a:ln w="20320">
            <a:solidFill>
              <a:srgbClr val="32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7543800" y="3822191"/>
            <a:ext cx="566928" cy="566928"/>
          </a:xfrm>
          <a:prstGeom prst="ellipse">
            <a:avLst/>
          </a:prstGeom>
          <a:solidFill>
            <a:srgbClr val="39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543800" y="3941063"/>
            <a:ext cx="56692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F"/>
                </a:solidFill>
                <a:latin typeface="Aptos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34072" y="4572000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F"/>
                </a:solidFill>
                <a:latin typeface="Aptos"/>
              </a:rPr>
              <a:t>Build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34072" y="4828032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A6AFCD"/>
                </a:solidFill>
                <a:latin typeface="Aptos"/>
              </a:rPr>
              <a:t>Dashboards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129016" y="4105656"/>
            <a:ext cx="1444752" cy="0"/>
          </a:xfrm>
          <a:prstGeom prst="line">
            <a:avLst/>
          </a:prstGeom>
          <a:ln w="20320">
            <a:solidFill>
              <a:srgbClr val="32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9784080" y="3822191"/>
            <a:ext cx="566928" cy="566928"/>
          </a:xfrm>
          <a:prstGeom prst="ellipse">
            <a:avLst/>
          </a:prstGeom>
          <a:solidFill>
            <a:srgbClr val="85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784080" y="3941063"/>
            <a:ext cx="56692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F"/>
                </a:solidFill>
                <a:latin typeface="Aptos"/>
              </a:rPr>
              <a:t>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74352" y="4572000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F"/>
                </a:solidFill>
                <a:latin typeface="Aptos"/>
              </a:rPr>
              <a:t>Test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74352" y="4828032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A6AFCD"/>
                </a:solidFill>
                <a:latin typeface="Aptos"/>
              </a:rPr>
              <a:t>Deliver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6519672"/>
            <a:ext cx="4572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>
                <a:solidFill>
                  <a:srgbClr val="A6AFCD"/>
                </a:solidFill>
                <a:latin typeface="Aptos"/>
              </a:rPr>
              <a:t>EDUVISION_DV  •  INTERNSHIP PROJECT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A6AFCD"/>
                </a:solidFill>
                <a:latin typeface="Aptos"/>
              </a:rPr>
              <a:t>02</a:t>
            </a:r>
          </a:p>
        </p:txBody>
      </p:sp>
      <p:sp>
        <p:nvSpPr>
          <p:cNvPr id="49" name="TextBox 48">
            <a:hlinkClick r:id="rId2" action="ppaction://hlinksldjump"/>
          </p:cNvPr>
          <p:cNvSpPr txBox="1"/>
          <p:nvPr/>
        </p:nvSpPr>
        <p:spPr>
          <a:xfrm>
            <a:off x="5989320" y="1170432"/>
            <a:ext cx="6858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32DCDC"/>
                </a:solidFill>
                <a:latin typeface="Aptos"/>
              </a:rPr>
              <a:t>Overview</a:t>
            </a:r>
          </a:p>
        </p:txBody>
      </p:sp>
      <p:sp>
        <p:nvSpPr>
          <p:cNvPr id="50" name="TextBox 49">
            <a:hlinkClick r:id="rId3" action="ppaction://hlinksldjump"/>
          </p:cNvPr>
          <p:cNvSpPr txBox="1"/>
          <p:nvPr/>
        </p:nvSpPr>
        <p:spPr>
          <a:xfrm>
            <a:off x="6720840" y="1170432"/>
            <a:ext cx="566928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Tech</a:t>
            </a:r>
          </a:p>
        </p:txBody>
      </p:sp>
      <p:sp>
        <p:nvSpPr>
          <p:cNvPr id="51" name="TextBox 50">
            <a:hlinkClick r:id="rId4" action="ppaction://hlinksldjump"/>
          </p:cNvPr>
          <p:cNvSpPr txBox="1"/>
          <p:nvPr/>
        </p:nvSpPr>
        <p:spPr>
          <a:xfrm>
            <a:off x="7315200" y="1170432"/>
            <a:ext cx="566928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Project</a:t>
            </a:r>
          </a:p>
        </p:txBody>
      </p:sp>
      <p:sp>
        <p:nvSpPr>
          <p:cNvPr id="52" name="TextBox 51">
            <a:hlinkClick r:id="rId5" action="ppaction://hlinksldjump"/>
          </p:cNvPr>
          <p:cNvSpPr txBox="1"/>
          <p:nvPr/>
        </p:nvSpPr>
        <p:spPr>
          <a:xfrm>
            <a:off x="7909560" y="1170432"/>
            <a:ext cx="621792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KPIs</a:t>
            </a:r>
          </a:p>
        </p:txBody>
      </p:sp>
      <p:sp>
        <p:nvSpPr>
          <p:cNvPr id="53" name="TextBox 52">
            <a:hlinkClick r:id="rId6" action="ppaction://hlinksldjump"/>
          </p:cNvPr>
          <p:cNvSpPr txBox="1"/>
          <p:nvPr/>
        </p:nvSpPr>
        <p:spPr>
          <a:xfrm>
            <a:off x="8595360" y="1170432"/>
            <a:ext cx="86868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Architecture</a:t>
            </a:r>
          </a:p>
        </p:txBody>
      </p:sp>
      <p:sp>
        <p:nvSpPr>
          <p:cNvPr id="54" name="TextBox 53">
            <a:hlinkClick r:id="rId7" action="ppaction://hlinksldjump"/>
          </p:cNvPr>
          <p:cNvSpPr txBox="1"/>
          <p:nvPr/>
        </p:nvSpPr>
        <p:spPr>
          <a:xfrm>
            <a:off x="9555480" y="1170432"/>
            <a:ext cx="6858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Modules</a:t>
            </a:r>
          </a:p>
        </p:txBody>
      </p:sp>
      <p:sp>
        <p:nvSpPr>
          <p:cNvPr id="55" name="TextBox 54">
            <a:hlinkClick r:id="rId8" action="ppaction://hlinksldjump"/>
          </p:cNvPr>
          <p:cNvSpPr txBox="1"/>
          <p:nvPr/>
        </p:nvSpPr>
        <p:spPr>
          <a:xfrm>
            <a:off x="10287000" y="1170432"/>
            <a:ext cx="749808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Contribution</a:t>
            </a:r>
          </a:p>
        </p:txBody>
      </p:sp>
      <p:sp>
        <p:nvSpPr>
          <p:cNvPr id="56" name="TextBox 55">
            <a:hlinkClick r:id="rId9" action="ppaction://hlinksldjump"/>
          </p:cNvPr>
          <p:cNvSpPr txBox="1"/>
          <p:nvPr/>
        </p:nvSpPr>
        <p:spPr>
          <a:xfrm>
            <a:off x="11064240" y="1170432"/>
            <a:ext cx="6858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Results</a:t>
            </a:r>
          </a:p>
        </p:txBody>
      </p:sp>
      <p:sp>
        <p:nvSpPr>
          <p:cNvPr id="57" name="TextBox 56">
            <a:hlinkClick r:id="rId10" action="ppaction://hlinksldjump"/>
          </p:cNvPr>
          <p:cNvSpPr txBox="1"/>
          <p:nvPr/>
        </p:nvSpPr>
        <p:spPr>
          <a:xfrm>
            <a:off x="594360" y="1170432"/>
            <a:ext cx="4572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A6AFCD"/>
                </a:solidFill>
                <a:latin typeface="Aptos"/>
              </a:rPr>
              <a:t>HOME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30352" y="1115568"/>
            <a:ext cx="7315200" cy="329184"/>
          </a:xfrm>
          <a:prstGeom prst="roundRect">
            <a:avLst/>
          </a:prstGeom>
          <a:solidFill>
            <a:srgbClr val="0C1127"/>
          </a:solidFill>
          <a:ln w="8890">
            <a:solidFill>
              <a:srgbClr val="344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>
            <a:hlinkClick r:id="rId10" action="ppaction://hlinksldjump"/>
          </p:cNvPr>
          <p:cNvSpPr txBox="1"/>
          <p:nvPr/>
        </p:nvSpPr>
        <p:spPr>
          <a:xfrm>
            <a:off x="594360" y="1188720"/>
            <a:ext cx="5029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HOME</a:t>
            </a:r>
          </a:p>
        </p:txBody>
      </p:sp>
      <p:sp>
        <p:nvSpPr>
          <p:cNvPr id="60" name="TextBox 59">
            <a:hlinkClick r:id="rId2" action="ppaction://hlinksldjump"/>
          </p:cNvPr>
          <p:cNvSpPr txBox="1"/>
          <p:nvPr/>
        </p:nvSpPr>
        <p:spPr>
          <a:xfrm>
            <a:off x="1234440" y="1188720"/>
            <a:ext cx="71323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OVERVIEW</a:t>
            </a:r>
          </a:p>
        </p:txBody>
      </p:sp>
      <p:sp>
        <p:nvSpPr>
          <p:cNvPr id="61" name="TextBox 60">
            <a:hlinkClick r:id="rId3" action="ppaction://hlinksldjump"/>
          </p:cNvPr>
          <p:cNvSpPr txBox="1"/>
          <p:nvPr/>
        </p:nvSpPr>
        <p:spPr>
          <a:xfrm>
            <a:off x="2057400" y="1188720"/>
            <a:ext cx="5943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TECH</a:t>
            </a:r>
          </a:p>
        </p:txBody>
      </p:sp>
      <p:sp>
        <p:nvSpPr>
          <p:cNvPr id="62" name="TextBox 61">
            <a:hlinkClick r:id="rId4" action="ppaction://hlinksldjump"/>
          </p:cNvPr>
          <p:cNvSpPr txBox="1"/>
          <p:nvPr/>
        </p:nvSpPr>
        <p:spPr>
          <a:xfrm>
            <a:off x="2852928" y="1188720"/>
            <a:ext cx="62179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PROJECT</a:t>
            </a:r>
          </a:p>
        </p:txBody>
      </p:sp>
      <p:sp>
        <p:nvSpPr>
          <p:cNvPr id="63" name="TextBox 62">
            <a:hlinkClick r:id="rId5" action="ppaction://hlinksldjump"/>
          </p:cNvPr>
          <p:cNvSpPr txBox="1"/>
          <p:nvPr/>
        </p:nvSpPr>
        <p:spPr>
          <a:xfrm>
            <a:off x="3703320" y="1188720"/>
            <a:ext cx="5029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KPI</a:t>
            </a:r>
          </a:p>
        </p:txBody>
      </p:sp>
      <p:sp>
        <p:nvSpPr>
          <p:cNvPr id="64" name="TextBox 63">
            <a:hlinkClick r:id="rId6" action="ppaction://hlinksldjump"/>
          </p:cNvPr>
          <p:cNvSpPr txBox="1"/>
          <p:nvPr/>
        </p:nvSpPr>
        <p:spPr>
          <a:xfrm>
            <a:off x="4370832" y="1188720"/>
            <a:ext cx="57607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ARCH</a:t>
            </a:r>
          </a:p>
        </p:txBody>
      </p:sp>
      <p:sp>
        <p:nvSpPr>
          <p:cNvPr id="65" name="TextBox 64">
            <a:hlinkClick r:id="rId7" action="ppaction://hlinksldjump"/>
          </p:cNvPr>
          <p:cNvSpPr txBox="1"/>
          <p:nvPr/>
        </p:nvSpPr>
        <p:spPr>
          <a:xfrm>
            <a:off x="5138928" y="1188720"/>
            <a:ext cx="65836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MODULES</a:t>
            </a:r>
          </a:p>
        </p:txBody>
      </p:sp>
      <p:sp>
        <p:nvSpPr>
          <p:cNvPr id="66" name="TextBox 65">
            <a:hlinkClick r:id="rId8" action="ppaction://hlinksldjump"/>
          </p:cNvPr>
          <p:cNvSpPr txBox="1"/>
          <p:nvPr/>
        </p:nvSpPr>
        <p:spPr>
          <a:xfrm>
            <a:off x="5989320" y="1188720"/>
            <a:ext cx="5029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WORK</a:t>
            </a:r>
          </a:p>
        </p:txBody>
      </p:sp>
      <p:sp>
        <p:nvSpPr>
          <p:cNvPr id="67" name="TextBox 66">
            <a:hlinkClick r:id="rId9" action="ppaction://hlinksldjump"/>
          </p:cNvPr>
          <p:cNvSpPr txBox="1"/>
          <p:nvPr/>
        </p:nvSpPr>
        <p:spPr>
          <a:xfrm>
            <a:off x="6766560" y="1188720"/>
            <a:ext cx="5943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RESULTS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4360" y="6510528"/>
            <a:ext cx="4114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A1ABCA"/>
                </a:solidFill>
                <a:latin typeface="Aptos"/>
              </a:rPr>
              <a:t>EDUVISION_DV  •  SPRINGBOARD INFOSYS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082528" y="649224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A1ABCA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138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5F7FF"/>
                </a:solidFill>
                <a:latin typeface="Aptos"/>
              </a:rPr>
              <a:t>Technologies &amp;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9601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6AFCD"/>
                </a:solidFill>
                <a:latin typeface="Aptos"/>
              </a:rPr>
              <a:t>The stack used for collection, processing, visualization and delivery.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38912"/>
            <a:ext cx="1508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32DCDC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3337560" cy="1481328"/>
          </a:xfrm>
          <a:prstGeom prst="roundRect">
            <a:avLst/>
          </a:prstGeom>
          <a:solidFill>
            <a:srgbClr val="141B35"/>
          </a:solidFill>
          <a:ln w="15240">
            <a:solidFill>
              <a:srgbClr val="3A4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1810512"/>
            <a:ext cx="502920" cy="502920"/>
          </a:xfrm>
          <a:prstGeom prst="ellipse">
            <a:avLst/>
          </a:prstGeom>
          <a:solidFill>
            <a:srgbClr val="85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911095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F"/>
                </a:solidFill>
                <a:latin typeface="Aptos"/>
              </a:rPr>
              <a:t>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10512"/>
            <a:ext cx="2057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5F7FF"/>
                </a:solidFill>
                <a:latin typeface="Aptos"/>
              </a:rPr>
              <a:t>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212848"/>
            <a:ext cx="2057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6AFCD"/>
                </a:solidFill>
                <a:latin typeface="Aptos"/>
              </a:rPr>
              <a:t>Data collection &amp; cleaning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554480"/>
            <a:ext cx="3337560" cy="1481328"/>
          </a:xfrm>
          <a:prstGeom prst="roundRect">
            <a:avLst/>
          </a:prstGeom>
          <a:solidFill>
            <a:srgbClr val="141B35"/>
          </a:solidFill>
          <a:ln w="15240">
            <a:solidFill>
              <a:srgbClr val="3A4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709160" y="1810512"/>
            <a:ext cx="502920" cy="502920"/>
          </a:xfrm>
          <a:prstGeom prst="ellipse">
            <a:avLst/>
          </a:prstGeom>
          <a:solidFill>
            <a:srgbClr val="39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9160" y="1911095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F"/>
                </a:solidFill>
                <a:latin typeface="Aptos"/>
              </a:rPr>
              <a:t>Pd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1810512"/>
            <a:ext cx="2057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5F7FF"/>
                </a:solidFill>
                <a:latin typeface="Aptos"/>
              </a:rPr>
              <a:t>PANDAS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2212848"/>
            <a:ext cx="2057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6AFCD"/>
                </a:solidFill>
                <a:latin typeface="Aptos"/>
              </a:rPr>
              <a:t>Data processing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554480"/>
            <a:ext cx="3337560" cy="1481328"/>
          </a:xfrm>
          <a:prstGeom prst="roundRect">
            <a:avLst/>
          </a:prstGeom>
          <a:solidFill>
            <a:srgbClr val="141B35"/>
          </a:solidFill>
          <a:ln w="15240">
            <a:solidFill>
              <a:srgbClr val="3A4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503920" y="1810512"/>
            <a:ext cx="502920" cy="502920"/>
          </a:xfrm>
          <a:prstGeom prst="ellipse">
            <a:avLst/>
          </a:prstGeom>
          <a:solidFill>
            <a:srgbClr val="32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0" y="1911095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F"/>
                </a:solidFill>
                <a:latin typeface="Aptos"/>
              </a:rPr>
              <a:t>Np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1810512"/>
            <a:ext cx="2057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5F7FF"/>
                </a:solidFill>
                <a:latin typeface="Aptos"/>
              </a:rPr>
              <a:t>NUMPY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212848"/>
            <a:ext cx="2057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6AFCD"/>
                </a:solidFill>
                <a:latin typeface="Aptos"/>
              </a:rPr>
              <a:t>Numerical operations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474720"/>
            <a:ext cx="3337560" cy="1481328"/>
          </a:xfrm>
          <a:prstGeom prst="roundRect">
            <a:avLst/>
          </a:prstGeom>
          <a:solidFill>
            <a:srgbClr val="141B35"/>
          </a:solidFill>
          <a:ln w="15240">
            <a:solidFill>
              <a:srgbClr val="3A4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14400" y="3730752"/>
            <a:ext cx="502920" cy="502920"/>
          </a:xfrm>
          <a:prstGeom prst="ellipse">
            <a:avLst/>
          </a:prstGeom>
          <a:solidFill>
            <a:srgbClr val="FFA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3831335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F"/>
                </a:solidFill>
                <a:latin typeface="Aptos"/>
              </a:rPr>
              <a:t>Tb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3730752"/>
            <a:ext cx="2057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5F7FF"/>
                </a:solidFill>
                <a:latin typeface="Aptos"/>
              </a:rPr>
              <a:t>TABLEAU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133087"/>
            <a:ext cx="2057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6AFCD"/>
                </a:solidFill>
                <a:latin typeface="Aptos"/>
              </a:rPr>
              <a:t>Interactive dashboards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3474720"/>
            <a:ext cx="3337560" cy="1481328"/>
          </a:xfrm>
          <a:prstGeom prst="roundRect">
            <a:avLst/>
          </a:prstGeom>
          <a:solidFill>
            <a:srgbClr val="141B35"/>
          </a:solidFill>
          <a:ln w="15240">
            <a:solidFill>
              <a:srgbClr val="3A4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709160" y="3730752"/>
            <a:ext cx="502920" cy="502920"/>
          </a:xfrm>
          <a:prstGeom prst="ellipse">
            <a:avLst/>
          </a:prstGeom>
          <a:solidFill>
            <a:srgbClr val="85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09160" y="3831335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F"/>
                </a:solidFill>
                <a:latin typeface="Aptos"/>
              </a:rPr>
              <a:t>Gh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9240" y="3730752"/>
            <a:ext cx="2057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5F7FF"/>
                </a:solidFill>
                <a:latin typeface="Aptos"/>
              </a:rPr>
              <a:t>GITHUB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4133087"/>
            <a:ext cx="2057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6AFCD"/>
                </a:solidFill>
                <a:latin typeface="Aptos"/>
              </a:rPr>
              <a:t>Documentation &amp; delivery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20" y="3474720"/>
            <a:ext cx="3337560" cy="1481328"/>
          </a:xfrm>
          <a:prstGeom prst="roundRect">
            <a:avLst/>
          </a:prstGeom>
          <a:solidFill>
            <a:srgbClr val="141B35"/>
          </a:solidFill>
          <a:ln w="15240">
            <a:solidFill>
              <a:srgbClr val="3A4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503920" y="3730752"/>
            <a:ext cx="502920" cy="502920"/>
          </a:xfrm>
          <a:prstGeom prst="ellipse">
            <a:avLst/>
          </a:prstGeom>
          <a:solidFill>
            <a:srgbClr val="39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03920" y="3831335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F"/>
                </a:solidFill>
                <a:latin typeface="Aptos"/>
              </a:rPr>
              <a:t>Kg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730752"/>
            <a:ext cx="2057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5F7FF"/>
                </a:solidFill>
                <a:latin typeface="Aptos"/>
              </a:rPr>
              <a:t>KAGGLE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4133087"/>
            <a:ext cx="2057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6AFCD"/>
                </a:solidFill>
                <a:latin typeface="Aptos"/>
              </a:rPr>
              <a:t>Dataset source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519672"/>
            <a:ext cx="4572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>
                <a:solidFill>
                  <a:srgbClr val="A6AFCD"/>
                </a:solidFill>
                <a:latin typeface="Aptos"/>
              </a:rPr>
              <a:t>EDUVISION_DV  •  INTERNSHIP PROJECT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A6AFCD"/>
                </a:solidFill>
                <a:latin typeface="Aptos"/>
              </a:rPr>
              <a:t>03</a:t>
            </a:r>
          </a:p>
        </p:txBody>
      </p:sp>
      <p:sp>
        <p:nvSpPr>
          <p:cNvPr id="38" name="TextBox 37">
            <a:hlinkClick r:id="rId2" action="ppaction://hlinksldjump"/>
          </p:cNvPr>
          <p:cNvSpPr txBox="1"/>
          <p:nvPr/>
        </p:nvSpPr>
        <p:spPr>
          <a:xfrm>
            <a:off x="5989320" y="1170432"/>
            <a:ext cx="6858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Overview</a:t>
            </a:r>
          </a:p>
        </p:txBody>
      </p:sp>
      <p:sp>
        <p:nvSpPr>
          <p:cNvPr id="39" name="TextBox 38">
            <a:hlinkClick r:id="rId3" action="ppaction://hlinksldjump"/>
          </p:cNvPr>
          <p:cNvSpPr txBox="1"/>
          <p:nvPr/>
        </p:nvSpPr>
        <p:spPr>
          <a:xfrm>
            <a:off x="6720840" y="1170432"/>
            <a:ext cx="566928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32DCDC"/>
                </a:solidFill>
                <a:latin typeface="Aptos"/>
              </a:rPr>
              <a:t>Tech</a:t>
            </a:r>
          </a:p>
        </p:txBody>
      </p:sp>
      <p:sp>
        <p:nvSpPr>
          <p:cNvPr id="40" name="TextBox 39">
            <a:hlinkClick r:id="rId4" action="ppaction://hlinksldjump"/>
          </p:cNvPr>
          <p:cNvSpPr txBox="1"/>
          <p:nvPr/>
        </p:nvSpPr>
        <p:spPr>
          <a:xfrm>
            <a:off x="7315200" y="1170432"/>
            <a:ext cx="566928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Project</a:t>
            </a:r>
          </a:p>
        </p:txBody>
      </p:sp>
      <p:sp>
        <p:nvSpPr>
          <p:cNvPr id="41" name="TextBox 40">
            <a:hlinkClick r:id="rId5" action="ppaction://hlinksldjump"/>
          </p:cNvPr>
          <p:cNvSpPr txBox="1"/>
          <p:nvPr/>
        </p:nvSpPr>
        <p:spPr>
          <a:xfrm>
            <a:off x="7909560" y="1170432"/>
            <a:ext cx="621792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KPIs</a:t>
            </a:r>
          </a:p>
        </p:txBody>
      </p:sp>
      <p:sp>
        <p:nvSpPr>
          <p:cNvPr id="42" name="TextBox 41">
            <a:hlinkClick r:id="rId6" action="ppaction://hlinksldjump"/>
          </p:cNvPr>
          <p:cNvSpPr txBox="1"/>
          <p:nvPr/>
        </p:nvSpPr>
        <p:spPr>
          <a:xfrm>
            <a:off x="8595360" y="1170432"/>
            <a:ext cx="86868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Architecture</a:t>
            </a:r>
          </a:p>
        </p:txBody>
      </p:sp>
      <p:sp>
        <p:nvSpPr>
          <p:cNvPr id="43" name="TextBox 42">
            <a:hlinkClick r:id="rId7" action="ppaction://hlinksldjump"/>
          </p:cNvPr>
          <p:cNvSpPr txBox="1"/>
          <p:nvPr/>
        </p:nvSpPr>
        <p:spPr>
          <a:xfrm>
            <a:off x="9555480" y="1170432"/>
            <a:ext cx="6858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Modules</a:t>
            </a:r>
          </a:p>
        </p:txBody>
      </p:sp>
      <p:sp>
        <p:nvSpPr>
          <p:cNvPr id="44" name="TextBox 43">
            <a:hlinkClick r:id="rId8" action="ppaction://hlinksldjump"/>
          </p:cNvPr>
          <p:cNvSpPr txBox="1"/>
          <p:nvPr/>
        </p:nvSpPr>
        <p:spPr>
          <a:xfrm>
            <a:off x="10287000" y="1170432"/>
            <a:ext cx="749808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Contribution</a:t>
            </a:r>
          </a:p>
        </p:txBody>
      </p:sp>
      <p:sp>
        <p:nvSpPr>
          <p:cNvPr id="45" name="TextBox 44">
            <a:hlinkClick r:id="rId9" action="ppaction://hlinksldjump"/>
          </p:cNvPr>
          <p:cNvSpPr txBox="1"/>
          <p:nvPr/>
        </p:nvSpPr>
        <p:spPr>
          <a:xfrm>
            <a:off x="11064240" y="1170432"/>
            <a:ext cx="6858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Results</a:t>
            </a:r>
          </a:p>
        </p:txBody>
      </p:sp>
      <p:sp>
        <p:nvSpPr>
          <p:cNvPr id="46" name="TextBox 45">
            <a:hlinkClick r:id="rId10" action="ppaction://hlinksldjump"/>
          </p:cNvPr>
          <p:cNvSpPr txBox="1"/>
          <p:nvPr/>
        </p:nvSpPr>
        <p:spPr>
          <a:xfrm>
            <a:off x="594360" y="1170432"/>
            <a:ext cx="4572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A6AFCD"/>
                </a:solidFill>
                <a:latin typeface="Aptos"/>
              </a:rPr>
              <a:t>HOME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30352" y="1115568"/>
            <a:ext cx="7315200" cy="329184"/>
          </a:xfrm>
          <a:prstGeom prst="roundRect">
            <a:avLst/>
          </a:prstGeom>
          <a:solidFill>
            <a:srgbClr val="0C1127"/>
          </a:solidFill>
          <a:ln w="8890">
            <a:solidFill>
              <a:srgbClr val="344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hlinkClick r:id="rId10" action="ppaction://hlinksldjump"/>
          </p:cNvPr>
          <p:cNvSpPr txBox="1"/>
          <p:nvPr/>
        </p:nvSpPr>
        <p:spPr>
          <a:xfrm>
            <a:off x="594360" y="1188720"/>
            <a:ext cx="5029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HOME</a:t>
            </a:r>
          </a:p>
        </p:txBody>
      </p:sp>
      <p:sp>
        <p:nvSpPr>
          <p:cNvPr id="49" name="TextBox 48">
            <a:hlinkClick r:id="rId2" action="ppaction://hlinksldjump"/>
          </p:cNvPr>
          <p:cNvSpPr txBox="1"/>
          <p:nvPr/>
        </p:nvSpPr>
        <p:spPr>
          <a:xfrm>
            <a:off x="1234440" y="1188720"/>
            <a:ext cx="71323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OVERVIEW</a:t>
            </a:r>
          </a:p>
        </p:txBody>
      </p:sp>
      <p:sp>
        <p:nvSpPr>
          <p:cNvPr id="50" name="TextBox 49">
            <a:hlinkClick r:id="rId3" action="ppaction://hlinksldjump"/>
          </p:cNvPr>
          <p:cNvSpPr txBox="1"/>
          <p:nvPr/>
        </p:nvSpPr>
        <p:spPr>
          <a:xfrm>
            <a:off x="2057400" y="1188720"/>
            <a:ext cx="5943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TECH</a:t>
            </a:r>
          </a:p>
        </p:txBody>
      </p:sp>
      <p:sp>
        <p:nvSpPr>
          <p:cNvPr id="51" name="TextBox 50">
            <a:hlinkClick r:id="rId4" action="ppaction://hlinksldjump"/>
          </p:cNvPr>
          <p:cNvSpPr txBox="1"/>
          <p:nvPr/>
        </p:nvSpPr>
        <p:spPr>
          <a:xfrm>
            <a:off x="2852928" y="1188720"/>
            <a:ext cx="62179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PROJECT</a:t>
            </a:r>
          </a:p>
        </p:txBody>
      </p:sp>
      <p:sp>
        <p:nvSpPr>
          <p:cNvPr id="52" name="TextBox 51">
            <a:hlinkClick r:id="rId5" action="ppaction://hlinksldjump"/>
          </p:cNvPr>
          <p:cNvSpPr txBox="1"/>
          <p:nvPr/>
        </p:nvSpPr>
        <p:spPr>
          <a:xfrm>
            <a:off x="3703320" y="1188720"/>
            <a:ext cx="5029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KPI</a:t>
            </a:r>
          </a:p>
        </p:txBody>
      </p:sp>
      <p:sp>
        <p:nvSpPr>
          <p:cNvPr id="53" name="TextBox 52">
            <a:hlinkClick r:id="rId6" action="ppaction://hlinksldjump"/>
          </p:cNvPr>
          <p:cNvSpPr txBox="1"/>
          <p:nvPr/>
        </p:nvSpPr>
        <p:spPr>
          <a:xfrm>
            <a:off x="4370832" y="1188720"/>
            <a:ext cx="57607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ARCH</a:t>
            </a:r>
          </a:p>
        </p:txBody>
      </p:sp>
      <p:sp>
        <p:nvSpPr>
          <p:cNvPr id="54" name="TextBox 53">
            <a:hlinkClick r:id="rId7" action="ppaction://hlinksldjump"/>
          </p:cNvPr>
          <p:cNvSpPr txBox="1"/>
          <p:nvPr/>
        </p:nvSpPr>
        <p:spPr>
          <a:xfrm>
            <a:off x="5138928" y="1188720"/>
            <a:ext cx="65836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MODULES</a:t>
            </a:r>
          </a:p>
        </p:txBody>
      </p:sp>
      <p:sp>
        <p:nvSpPr>
          <p:cNvPr id="55" name="TextBox 54">
            <a:hlinkClick r:id="rId8" action="ppaction://hlinksldjump"/>
          </p:cNvPr>
          <p:cNvSpPr txBox="1"/>
          <p:nvPr/>
        </p:nvSpPr>
        <p:spPr>
          <a:xfrm>
            <a:off x="5989320" y="1188720"/>
            <a:ext cx="5029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WORK</a:t>
            </a:r>
          </a:p>
        </p:txBody>
      </p:sp>
      <p:sp>
        <p:nvSpPr>
          <p:cNvPr id="56" name="TextBox 55">
            <a:hlinkClick r:id="rId9" action="ppaction://hlinksldjump"/>
          </p:cNvPr>
          <p:cNvSpPr txBox="1"/>
          <p:nvPr/>
        </p:nvSpPr>
        <p:spPr>
          <a:xfrm>
            <a:off x="6766560" y="1188720"/>
            <a:ext cx="5943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RESULTS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" y="6510528"/>
            <a:ext cx="4114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A1ABCA"/>
                </a:solidFill>
                <a:latin typeface="Aptos"/>
              </a:rPr>
              <a:t>EDUVISION_DV  •  SPRINGBOARD INFOSYS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082528" y="649224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A1ABCA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138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5F7FF"/>
                </a:solidFill>
                <a:latin typeface="Aptos"/>
              </a:rPr>
              <a:t>Project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9601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6AFCD"/>
                </a:solidFill>
                <a:latin typeface="Aptos"/>
              </a:rPr>
              <a:t>Problem statement and purpose derived from the internship project brief.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38912"/>
            <a:ext cx="1508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32DCDC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349240" cy="4160520"/>
          </a:xfrm>
          <a:prstGeom prst="roundRect">
            <a:avLst/>
          </a:prstGeom>
          <a:solidFill>
            <a:srgbClr val="141B35"/>
          </a:solidFill>
          <a:ln w="15240">
            <a:solidFill>
              <a:srgbClr val="3A4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32DCDC"/>
                </a:solidFill>
                <a:latin typeface="Aptos"/>
              </a:rPr>
              <a:t>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52628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5F7FF"/>
                </a:solidFill>
                <a:latin typeface="Aptos"/>
              </a:rPr>
              <a:t>Higher education data contains valuable information
about university rankings, research, students and
academic performance, but analysing it effectively
requires a unified visual approach.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913632"/>
            <a:ext cx="45262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A6AFCD"/>
                </a:solidFill>
                <a:latin typeface="Aptos"/>
              </a:rPr>
              <a:t>The project transforms raw educational data into
interactive insights for university comparison,
performance analysis and global trend exploration.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508760"/>
            <a:ext cx="5074920" cy="4160520"/>
          </a:xfrm>
          <a:prstGeom prst="roundRect">
            <a:avLst/>
          </a:prstGeom>
          <a:solidFill>
            <a:srgbClr val="141B35"/>
          </a:solidFill>
          <a:ln w="15240">
            <a:solidFill>
              <a:srgbClr val="3A4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1810512"/>
            <a:ext cx="23774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8548FF"/>
                </a:solidFill>
                <a:latin typeface="Aptos"/>
              </a:rPr>
              <a:t>EDUVISION SOLUTION</a:t>
            </a:r>
          </a:p>
        </p:txBody>
      </p:sp>
      <p:sp>
        <p:nvSpPr>
          <p:cNvPr id="12" name="Oval 11"/>
          <p:cNvSpPr/>
          <p:nvPr/>
        </p:nvSpPr>
        <p:spPr>
          <a:xfrm>
            <a:off x="6720840" y="2331720"/>
            <a:ext cx="292608" cy="292608"/>
          </a:xfrm>
          <a:prstGeom prst="ellipse">
            <a:avLst/>
          </a:prstGeom>
          <a:solidFill>
            <a:srgbClr val="85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50608" y="2313432"/>
            <a:ext cx="1645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5F7FF"/>
                </a:solidFill>
                <a:latin typeface="Aptos"/>
              </a:rPr>
              <a:t>Rankings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32520" y="2478024"/>
            <a:ext cx="2194560" cy="0"/>
          </a:xfrm>
          <a:prstGeom prst="line">
            <a:avLst/>
          </a:prstGeom>
          <a:ln w="12700">
            <a:solidFill>
              <a:srgbClr val="3A4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720840" y="2990087"/>
            <a:ext cx="292608" cy="292608"/>
          </a:xfrm>
          <a:prstGeom prst="ellipse">
            <a:avLst/>
          </a:prstGeom>
          <a:solidFill>
            <a:srgbClr val="39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50608" y="2971799"/>
            <a:ext cx="1645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5F7FF"/>
                </a:solidFill>
                <a:latin typeface="Aptos"/>
              </a:rPr>
              <a:t>Research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32520" y="3136391"/>
            <a:ext cx="2194560" cy="0"/>
          </a:xfrm>
          <a:prstGeom prst="line">
            <a:avLst/>
          </a:prstGeom>
          <a:ln w="12700">
            <a:solidFill>
              <a:srgbClr val="3A4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720840" y="3648456"/>
            <a:ext cx="292608" cy="292608"/>
          </a:xfrm>
          <a:prstGeom prst="ellipse">
            <a:avLst/>
          </a:prstGeom>
          <a:solidFill>
            <a:srgbClr val="32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50608" y="3630168"/>
            <a:ext cx="1645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5F7FF"/>
                </a:solidFill>
                <a:latin typeface="Aptos"/>
              </a:rPr>
              <a:t>Students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32520" y="3794759"/>
            <a:ext cx="2194560" cy="0"/>
          </a:xfrm>
          <a:prstGeom prst="line">
            <a:avLst/>
          </a:prstGeom>
          <a:ln w="12700">
            <a:solidFill>
              <a:srgbClr val="3A4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720840" y="4306824"/>
            <a:ext cx="292608" cy="292608"/>
          </a:xfrm>
          <a:prstGeom prst="ellipse">
            <a:avLst/>
          </a:prstGeom>
          <a:solidFill>
            <a:srgbClr val="FFA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50608" y="4288536"/>
            <a:ext cx="1645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5F7FF"/>
                </a:solidFill>
                <a:latin typeface="Aptos"/>
              </a:rPr>
              <a:t>Countries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32520" y="4453128"/>
            <a:ext cx="2194560" cy="0"/>
          </a:xfrm>
          <a:prstGeom prst="line">
            <a:avLst/>
          </a:prstGeom>
          <a:ln w="12700">
            <a:solidFill>
              <a:srgbClr val="3A4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720840" y="4983480"/>
            <a:ext cx="4069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2DCDC"/>
                </a:solidFill>
                <a:latin typeface="Aptos"/>
              </a:rPr>
              <a:t>4 INTERCONNECTED TABLEAU DASHBOARDS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9672"/>
            <a:ext cx="4572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>
                <a:solidFill>
                  <a:srgbClr val="A6AFCD"/>
                </a:solidFill>
                <a:latin typeface="Aptos"/>
              </a:rPr>
              <a:t>EDUVISION_DV  •  INTERNSHIP PROJECT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A6AFCD"/>
                </a:solidFill>
                <a:latin typeface="Aptos"/>
              </a:rPr>
              <a:t>04</a:t>
            </a:r>
          </a:p>
        </p:txBody>
      </p:sp>
      <p:sp>
        <p:nvSpPr>
          <p:cNvPr id="27" name="TextBox 26">
            <a:hlinkClick r:id="rId2" action="ppaction://hlinksldjump"/>
          </p:cNvPr>
          <p:cNvSpPr txBox="1"/>
          <p:nvPr/>
        </p:nvSpPr>
        <p:spPr>
          <a:xfrm>
            <a:off x="5989320" y="1170432"/>
            <a:ext cx="6858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Overview</a:t>
            </a:r>
          </a:p>
        </p:txBody>
      </p:sp>
      <p:sp>
        <p:nvSpPr>
          <p:cNvPr id="28" name="TextBox 27">
            <a:hlinkClick r:id="rId3" action="ppaction://hlinksldjump"/>
          </p:cNvPr>
          <p:cNvSpPr txBox="1"/>
          <p:nvPr/>
        </p:nvSpPr>
        <p:spPr>
          <a:xfrm>
            <a:off x="6720840" y="1170432"/>
            <a:ext cx="566928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Tech</a:t>
            </a:r>
          </a:p>
        </p:txBody>
      </p:sp>
      <p:sp>
        <p:nvSpPr>
          <p:cNvPr id="29" name="TextBox 28">
            <a:hlinkClick r:id="rId4" action="ppaction://hlinksldjump"/>
          </p:cNvPr>
          <p:cNvSpPr txBox="1"/>
          <p:nvPr/>
        </p:nvSpPr>
        <p:spPr>
          <a:xfrm>
            <a:off x="7315200" y="1170432"/>
            <a:ext cx="566928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32DCDC"/>
                </a:solidFill>
                <a:latin typeface="Aptos"/>
              </a:rPr>
              <a:t>Project</a:t>
            </a:r>
          </a:p>
        </p:txBody>
      </p:sp>
      <p:sp>
        <p:nvSpPr>
          <p:cNvPr id="30" name="TextBox 29">
            <a:hlinkClick r:id="rId5" action="ppaction://hlinksldjump"/>
          </p:cNvPr>
          <p:cNvSpPr txBox="1"/>
          <p:nvPr/>
        </p:nvSpPr>
        <p:spPr>
          <a:xfrm>
            <a:off x="7909560" y="1170432"/>
            <a:ext cx="621792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KPIs</a:t>
            </a:r>
          </a:p>
        </p:txBody>
      </p:sp>
      <p:sp>
        <p:nvSpPr>
          <p:cNvPr id="31" name="TextBox 30">
            <a:hlinkClick r:id="rId6" action="ppaction://hlinksldjump"/>
          </p:cNvPr>
          <p:cNvSpPr txBox="1"/>
          <p:nvPr/>
        </p:nvSpPr>
        <p:spPr>
          <a:xfrm>
            <a:off x="8595360" y="1170432"/>
            <a:ext cx="86868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Architecture</a:t>
            </a:r>
          </a:p>
        </p:txBody>
      </p:sp>
      <p:sp>
        <p:nvSpPr>
          <p:cNvPr id="32" name="TextBox 31">
            <a:hlinkClick r:id="rId7" action="ppaction://hlinksldjump"/>
          </p:cNvPr>
          <p:cNvSpPr txBox="1"/>
          <p:nvPr/>
        </p:nvSpPr>
        <p:spPr>
          <a:xfrm>
            <a:off x="9555480" y="1170432"/>
            <a:ext cx="6858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Modules</a:t>
            </a:r>
          </a:p>
        </p:txBody>
      </p:sp>
      <p:sp>
        <p:nvSpPr>
          <p:cNvPr id="33" name="TextBox 32">
            <a:hlinkClick r:id="rId8" action="ppaction://hlinksldjump"/>
          </p:cNvPr>
          <p:cNvSpPr txBox="1"/>
          <p:nvPr/>
        </p:nvSpPr>
        <p:spPr>
          <a:xfrm>
            <a:off x="10287000" y="1170432"/>
            <a:ext cx="749808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Contribution</a:t>
            </a:r>
          </a:p>
        </p:txBody>
      </p:sp>
      <p:sp>
        <p:nvSpPr>
          <p:cNvPr id="34" name="TextBox 33">
            <a:hlinkClick r:id="rId9" action="ppaction://hlinksldjump"/>
          </p:cNvPr>
          <p:cNvSpPr txBox="1"/>
          <p:nvPr/>
        </p:nvSpPr>
        <p:spPr>
          <a:xfrm>
            <a:off x="11064240" y="1170432"/>
            <a:ext cx="6858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Results</a:t>
            </a:r>
          </a:p>
        </p:txBody>
      </p:sp>
      <p:sp>
        <p:nvSpPr>
          <p:cNvPr id="35" name="TextBox 34">
            <a:hlinkClick r:id="rId10" action="ppaction://hlinksldjump"/>
          </p:cNvPr>
          <p:cNvSpPr txBox="1"/>
          <p:nvPr/>
        </p:nvSpPr>
        <p:spPr>
          <a:xfrm>
            <a:off x="594360" y="1170432"/>
            <a:ext cx="4572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A6AFCD"/>
                </a:solidFill>
                <a:latin typeface="Aptos"/>
              </a:rPr>
              <a:t>HOME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0352" y="1115568"/>
            <a:ext cx="7315200" cy="329184"/>
          </a:xfrm>
          <a:prstGeom prst="roundRect">
            <a:avLst/>
          </a:prstGeom>
          <a:solidFill>
            <a:srgbClr val="0C1127"/>
          </a:solidFill>
          <a:ln w="8890">
            <a:solidFill>
              <a:srgbClr val="344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hlinkClick r:id="rId10" action="ppaction://hlinksldjump"/>
          </p:cNvPr>
          <p:cNvSpPr txBox="1"/>
          <p:nvPr/>
        </p:nvSpPr>
        <p:spPr>
          <a:xfrm>
            <a:off x="594360" y="1188720"/>
            <a:ext cx="5029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HOME</a:t>
            </a:r>
          </a:p>
        </p:txBody>
      </p:sp>
      <p:sp>
        <p:nvSpPr>
          <p:cNvPr id="38" name="TextBox 37">
            <a:hlinkClick r:id="rId2" action="ppaction://hlinksldjump"/>
          </p:cNvPr>
          <p:cNvSpPr txBox="1"/>
          <p:nvPr/>
        </p:nvSpPr>
        <p:spPr>
          <a:xfrm>
            <a:off x="1234440" y="1188720"/>
            <a:ext cx="71323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OVERVIEW</a:t>
            </a:r>
          </a:p>
        </p:txBody>
      </p:sp>
      <p:sp>
        <p:nvSpPr>
          <p:cNvPr id="39" name="TextBox 38">
            <a:hlinkClick r:id="rId3" action="ppaction://hlinksldjump"/>
          </p:cNvPr>
          <p:cNvSpPr txBox="1"/>
          <p:nvPr/>
        </p:nvSpPr>
        <p:spPr>
          <a:xfrm>
            <a:off x="2057400" y="1188720"/>
            <a:ext cx="5943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TECH</a:t>
            </a:r>
          </a:p>
        </p:txBody>
      </p:sp>
      <p:sp>
        <p:nvSpPr>
          <p:cNvPr id="40" name="TextBox 39">
            <a:hlinkClick r:id="rId4" action="ppaction://hlinksldjump"/>
          </p:cNvPr>
          <p:cNvSpPr txBox="1"/>
          <p:nvPr/>
        </p:nvSpPr>
        <p:spPr>
          <a:xfrm>
            <a:off x="2852928" y="1188720"/>
            <a:ext cx="62179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PROJECT</a:t>
            </a:r>
          </a:p>
        </p:txBody>
      </p:sp>
      <p:sp>
        <p:nvSpPr>
          <p:cNvPr id="41" name="TextBox 40">
            <a:hlinkClick r:id="rId5" action="ppaction://hlinksldjump"/>
          </p:cNvPr>
          <p:cNvSpPr txBox="1"/>
          <p:nvPr/>
        </p:nvSpPr>
        <p:spPr>
          <a:xfrm>
            <a:off x="3703320" y="1188720"/>
            <a:ext cx="5029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KPI</a:t>
            </a:r>
          </a:p>
        </p:txBody>
      </p:sp>
      <p:sp>
        <p:nvSpPr>
          <p:cNvPr id="42" name="TextBox 41">
            <a:hlinkClick r:id="rId6" action="ppaction://hlinksldjump"/>
          </p:cNvPr>
          <p:cNvSpPr txBox="1"/>
          <p:nvPr/>
        </p:nvSpPr>
        <p:spPr>
          <a:xfrm>
            <a:off x="4370832" y="1188720"/>
            <a:ext cx="57607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ARCH</a:t>
            </a:r>
          </a:p>
        </p:txBody>
      </p:sp>
      <p:sp>
        <p:nvSpPr>
          <p:cNvPr id="43" name="TextBox 42">
            <a:hlinkClick r:id="rId7" action="ppaction://hlinksldjump"/>
          </p:cNvPr>
          <p:cNvSpPr txBox="1"/>
          <p:nvPr/>
        </p:nvSpPr>
        <p:spPr>
          <a:xfrm>
            <a:off x="5138928" y="1188720"/>
            <a:ext cx="65836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MODULES</a:t>
            </a:r>
          </a:p>
        </p:txBody>
      </p:sp>
      <p:sp>
        <p:nvSpPr>
          <p:cNvPr id="44" name="TextBox 43">
            <a:hlinkClick r:id="rId8" action="ppaction://hlinksldjump"/>
          </p:cNvPr>
          <p:cNvSpPr txBox="1"/>
          <p:nvPr/>
        </p:nvSpPr>
        <p:spPr>
          <a:xfrm>
            <a:off x="5989320" y="1188720"/>
            <a:ext cx="5029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WORK</a:t>
            </a:r>
          </a:p>
        </p:txBody>
      </p:sp>
      <p:sp>
        <p:nvSpPr>
          <p:cNvPr id="45" name="TextBox 44">
            <a:hlinkClick r:id="rId9" action="ppaction://hlinksldjump"/>
          </p:cNvPr>
          <p:cNvSpPr txBox="1"/>
          <p:nvPr/>
        </p:nvSpPr>
        <p:spPr>
          <a:xfrm>
            <a:off x="6766560" y="1188720"/>
            <a:ext cx="5943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RESULTS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6510528"/>
            <a:ext cx="4114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A1ABCA"/>
                </a:solidFill>
                <a:latin typeface="Aptos"/>
              </a:rPr>
              <a:t>EDUVISION_DV  •  SPRINGBOARD INFOSYS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82528" y="649224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A1ABCA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138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5F7FF"/>
                </a:solidFill>
                <a:latin typeface="Aptos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9601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6AFCD"/>
                </a:solidFill>
                <a:latin typeface="Aptos"/>
              </a:rPr>
              <a:t>What the project was designed to achieve.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38912"/>
            <a:ext cx="1508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32DCDC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337560" cy="1600200"/>
          </a:xfrm>
          <a:prstGeom prst="roundRect">
            <a:avLst/>
          </a:prstGeom>
          <a:solidFill>
            <a:srgbClr val="141B35"/>
          </a:solidFill>
          <a:ln w="15240">
            <a:solidFill>
              <a:srgbClr val="3A4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32688" y="1737360"/>
            <a:ext cx="457200" cy="457200"/>
          </a:xfrm>
          <a:prstGeom prst="ellipse">
            <a:avLst/>
          </a:prstGeom>
          <a:solidFill>
            <a:srgbClr val="85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837943"/>
            <a:ext cx="457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1737360"/>
            <a:ext cx="237743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5F7FF"/>
                </a:solidFill>
                <a:latin typeface="Aptos"/>
              </a:rPr>
              <a:t>Integrate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6192" y="2130552"/>
            <a:ext cx="237743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6AFCD"/>
                </a:solidFill>
                <a:latin typeface="Aptos"/>
              </a:rPr>
              <a:t>Global university datasets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508760"/>
            <a:ext cx="3337560" cy="1600200"/>
          </a:xfrm>
          <a:prstGeom prst="roundRect">
            <a:avLst/>
          </a:prstGeom>
          <a:solidFill>
            <a:srgbClr val="141B35"/>
          </a:solidFill>
          <a:ln w="15240">
            <a:solidFill>
              <a:srgbClr val="3A4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727448" y="1737360"/>
            <a:ext cx="457200" cy="457200"/>
          </a:xfrm>
          <a:prstGeom prst="ellipse">
            <a:avLst/>
          </a:prstGeom>
          <a:solidFill>
            <a:srgbClr val="39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27448" y="1837943"/>
            <a:ext cx="457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0952" y="1737360"/>
            <a:ext cx="237743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5F7FF"/>
                </a:solidFill>
                <a:latin typeface="Aptos"/>
              </a:rPr>
              <a:t>Clean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0952" y="2130552"/>
            <a:ext cx="237743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6AFCD"/>
                </a:solidFill>
                <a:latin typeface="Aptos"/>
              </a:rPr>
              <a:t>Prepare consistent analytics-ready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508760"/>
            <a:ext cx="3337560" cy="1600200"/>
          </a:xfrm>
          <a:prstGeom prst="roundRect">
            <a:avLst/>
          </a:prstGeom>
          <a:solidFill>
            <a:srgbClr val="141B35"/>
          </a:solidFill>
          <a:ln w="15240">
            <a:solidFill>
              <a:srgbClr val="3A4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522208" y="1737360"/>
            <a:ext cx="457200" cy="457200"/>
          </a:xfrm>
          <a:prstGeom prst="ellipse">
            <a:avLst/>
          </a:prstGeom>
          <a:solidFill>
            <a:srgbClr val="32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22208" y="1837943"/>
            <a:ext cx="457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25712" y="1737360"/>
            <a:ext cx="237743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5F7FF"/>
                </a:solidFill>
                <a:latin typeface="Aptos"/>
              </a:rPr>
              <a:t>Engineer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5712" y="2130552"/>
            <a:ext cx="237743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6AFCD"/>
                </a:solidFill>
                <a:latin typeface="Aptos"/>
              </a:rPr>
              <a:t>Develop education-focused KPIs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657600"/>
            <a:ext cx="5212080" cy="1600200"/>
          </a:xfrm>
          <a:prstGeom prst="roundRect">
            <a:avLst/>
          </a:prstGeom>
          <a:solidFill>
            <a:srgbClr val="141B35"/>
          </a:solidFill>
          <a:ln w="15240">
            <a:solidFill>
              <a:srgbClr val="3A4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32688" y="3886200"/>
            <a:ext cx="457200" cy="457200"/>
          </a:xfrm>
          <a:prstGeom prst="ellipse">
            <a:avLst/>
          </a:prstGeom>
          <a:solidFill>
            <a:srgbClr val="FFA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3986784"/>
            <a:ext cx="457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36192" y="3886200"/>
            <a:ext cx="4251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5F7FF"/>
                </a:solidFill>
                <a:latin typeface="Aptos"/>
              </a:rPr>
              <a:t>Visualize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36192" y="4279392"/>
            <a:ext cx="4251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6AFCD"/>
                </a:solidFill>
                <a:latin typeface="Aptos"/>
              </a:rPr>
              <a:t>Build four interactive Tableau dashboards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26280" y="3657600"/>
            <a:ext cx="5212080" cy="1600200"/>
          </a:xfrm>
          <a:prstGeom prst="roundRect">
            <a:avLst/>
          </a:prstGeom>
          <a:solidFill>
            <a:srgbClr val="141B35"/>
          </a:solidFill>
          <a:ln w="15240">
            <a:solidFill>
              <a:srgbClr val="3A4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727448" y="3886200"/>
            <a:ext cx="457200" cy="457200"/>
          </a:xfrm>
          <a:prstGeom prst="ellipse">
            <a:avLst/>
          </a:prstGeom>
          <a:solidFill>
            <a:srgbClr val="85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27448" y="3986784"/>
            <a:ext cx="457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0952" y="3886200"/>
            <a:ext cx="4251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5F7FF"/>
                </a:solidFill>
                <a:latin typeface="Aptos"/>
              </a:rPr>
              <a:t>Compare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0952" y="4279392"/>
            <a:ext cx="4251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6AFCD"/>
                </a:solidFill>
                <a:latin typeface="Aptos"/>
              </a:rPr>
              <a:t>Analyse university and country performance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9672"/>
            <a:ext cx="4572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>
                <a:solidFill>
                  <a:srgbClr val="A6AFCD"/>
                </a:solidFill>
                <a:latin typeface="Aptos"/>
              </a:rPr>
              <a:t>EDUVISION_DV  •  INTERNSHIP PROJECT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A6AFCD"/>
                </a:solidFill>
                <a:latin typeface="Aptos"/>
              </a:rPr>
              <a:t>05</a:t>
            </a:r>
          </a:p>
        </p:txBody>
      </p:sp>
      <p:sp>
        <p:nvSpPr>
          <p:cNvPr id="33" name="TextBox 32">
            <a:hlinkClick r:id="rId2" action="ppaction://hlinksldjump"/>
          </p:cNvPr>
          <p:cNvSpPr txBox="1"/>
          <p:nvPr/>
        </p:nvSpPr>
        <p:spPr>
          <a:xfrm>
            <a:off x="5989320" y="1170432"/>
            <a:ext cx="6858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Overview</a:t>
            </a:r>
          </a:p>
        </p:txBody>
      </p:sp>
      <p:sp>
        <p:nvSpPr>
          <p:cNvPr id="34" name="TextBox 33">
            <a:hlinkClick r:id="rId3" action="ppaction://hlinksldjump"/>
          </p:cNvPr>
          <p:cNvSpPr txBox="1"/>
          <p:nvPr/>
        </p:nvSpPr>
        <p:spPr>
          <a:xfrm>
            <a:off x="6720840" y="1170432"/>
            <a:ext cx="566928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Tech</a:t>
            </a:r>
          </a:p>
        </p:txBody>
      </p:sp>
      <p:sp>
        <p:nvSpPr>
          <p:cNvPr id="35" name="TextBox 34">
            <a:hlinkClick r:id="rId4" action="ppaction://hlinksldjump"/>
          </p:cNvPr>
          <p:cNvSpPr txBox="1"/>
          <p:nvPr/>
        </p:nvSpPr>
        <p:spPr>
          <a:xfrm>
            <a:off x="7315200" y="1170432"/>
            <a:ext cx="566928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32DCDC"/>
                </a:solidFill>
                <a:latin typeface="Aptos"/>
              </a:rPr>
              <a:t>Project</a:t>
            </a:r>
          </a:p>
        </p:txBody>
      </p:sp>
      <p:sp>
        <p:nvSpPr>
          <p:cNvPr id="36" name="TextBox 35">
            <a:hlinkClick r:id="rId5" action="ppaction://hlinksldjump"/>
          </p:cNvPr>
          <p:cNvSpPr txBox="1"/>
          <p:nvPr/>
        </p:nvSpPr>
        <p:spPr>
          <a:xfrm>
            <a:off x="7909560" y="1170432"/>
            <a:ext cx="621792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KPIs</a:t>
            </a:r>
          </a:p>
        </p:txBody>
      </p:sp>
      <p:sp>
        <p:nvSpPr>
          <p:cNvPr id="37" name="TextBox 36">
            <a:hlinkClick r:id="rId6" action="ppaction://hlinksldjump"/>
          </p:cNvPr>
          <p:cNvSpPr txBox="1"/>
          <p:nvPr/>
        </p:nvSpPr>
        <p:spPr>
          <a:xfrm>
            <a:off x="8595360" y="1170432"/>
            <a:ext cx="86868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Architecture</a:t>
            </a:r>
          </a:p>
        </p:txBody>
      </p:sp>
      <p:sp>
        <p:nvSpPr>
          <p:cNvPr id="38" name="TextBox 37">
            <a:hlinkClick r:id="rId7" action="ppaction://hlinksldjump"/>
          </p:cNvPr>
          <p:cNvSpPr txBox="1"/>
          <p:nvPr/>
        </p:nvSpPr>
        <p:spPr>
          <a:xfrm>
            <a:off x="9555480" y="1170432"/>
            <a:ext cx="6858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Modules</a:t>
            </a:r>
          </a:p>
        </p:txBody>
      </p:sp>
      <p:sp>
        <p:nvSpPr>
          <p:cNvPr id="39" name="TextBox 38">
            <a:hlinkClick r:id="rId8" action="ppaction://hlinksldjump"/>
          </p:cNvPr>
          <p:cNvSpPr txBox="1"/>
          <p:nvPr/>
        </p:nvSpPr>
        <p:spPr>
          <a:xfrm>
            <a:off x="10287000" y="1170432"/>
            <a:ext cx="749808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Contribution</a:t>
            </a:r>
          </a:p>
        </p:txBody>
      </p:sp>
      <p:sp>
        <p:nvSpPr>
          <p:cNvPr id="40" name="TextBox 39">
            <a:hlinkClick r:id="rId9" action="ppaction://hlinksldjump"/>
          </p:cNvPr>
          <p:cNvSpPr txBox="1"/>
          <p:nvPr/>
        </p:nvSpPr>
        <p:spPr>
          <a:xfrm>
            <a:off x="11064240" y="1170432"/>
            <a:ext cx="6858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Results</a:t>
            </a:r>
          </a:p>
        </p:txBody>
      </p:sp>
      <p:sp>
        <p:nvSpPr>
          <p:cNvPr id="41" name="TextBox 40">
            <a:hlinkClick r:id="rId10" action="ppaction://hlinksldjump"/>
          </p:cNvPr>
          <p:cNvSpPr txBox="1"/>
          <p:nvPr/>
        </p:nvSpPr>
        <p:spPr>
          <a:xfrm>
            <a:off x="594360" y="1170432"/>
            <a:ext cx="4572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A6AFCD"/>
                </a:solidFill>
                <a:latin typeface="Aptos"/>
              </a:rPr>
              <a:t>HOME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0352" y="1115568"/>
            <a:ext cx="7315200" cy="329184"/>
          </a:xfrm>
          <a:prstGeom prst="roundRect">
            <a:avLst/>
          </a:prstGeom>
          <a:solidFill>
            <a:srgbClr val="0C1127"/>
          </a:solidFill>
          <a:ln w="8890">
            <a:solidFill>
              <a:srgbClr val="344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hlinkClick r:id="rId10" action="ppaction://hlinksldjump"/>
          </p:cNvPr>
          <p:cNvSpPr txBox="1"/>
          <p:nvPr/>
        </p:nvSpPr>
        <p:spPr>
          <a:xfrm>
            <a:off x="594360" y="1188720"/>
            <a:ext cx="5029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HOME</a:t>
            </a:r>
          </a:p>
        </p:txBody>
      </p:sp>
      <p:sp>
        <p:nvSpPr>
          <p:cNvPr id="44" name="TextBox 43">
            <a:hlinkClick r:id="rId2" action="ppaction://hlinksldjump"/>
          </p:cNvPr>
          <p:cNvSpPr txBox="1"/>
          <p:nvPr/>
        </p:nvSpPr>
        <p:spPr>
          <a:xfrm>
            <a:off x="1234440" y="1188720"/>
            <a:ext cx="71323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OVERVIEW</a:t>
            </a:r>
          </a:p>
        </p:txBody>
      </p:sp>
      <p:sp>
        <p:nvSpPr>
          <p:cNvPr id="45" name="TextBox 44">
            <a:hlinkClick r:id="rId3" action="ppaction://hlinksldjump"/>
          </p:cNvPr>
          <p:cNvSpPr txBox="1"/>
          <p:nvPr/>
        </p:nvSpPr>
        <p:spPr>
          <a:xfrm>
            <a:off x="2057400" y="1188720"/>
            <a:ext cx="5943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TECH</a:t>
            </a:r>
          </a:p>
        </p:txBody>
      </p:sp>
      <p:sp>
        <p:nvSpPr>
          <p:cNvPr id="46" name="TextBox 45">
            <a:hlinkClick r:id="rId4" action="ppaction://hlinksldjump"/>
          </p:cNvPr>
          <p:cNvSpPr txBox="1"/>
          <p:nvPr/>
        </p:nvSpPr>
        <p:spPr>
          <a:xfrm>
            <a:off x="2852928" y="1188720"/>
            <a:ext cx="62179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PROJECT</a:t>
            </a:r>
          </a:p>
        </p:txBody>
      </p:sp>
      <p:sp>
        <p:nvSpPr>
          <p:cNvPr id="47" name="TextBox 46">
            <a:hlinkClick r:id="rId5" action="ppaction://hlinksldjump"/>
          </p:cNvPr>
          <p:cNvSpPr txBox="1"/>
          <p:nvPr/>
        </p:nvSpPr>
        <p:spPr>
          <a:xfrm>
            <a:off x="3703320" y="1188720"/>
            <a:ext cx="5029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KPI</a:t>
            </a:r>
          </a:p>
        </p:txBody>
      </p:sp>
      <p:sp>
        <p:nvSpPr>
          <p:cNvPr id="48" name="TextBox 47">
            <a:hlinkClick r:id="rId6" action="ppaction://hlinksldjump"/>
          </p:cNvPr>
          <p:cNvSpPr txBox="1"/>
          <p:nvPr/>
        </p:nvSpPr>
        <p:spPr>
          <a:xfrm>
            <a:off x="4370832" y="1188720"/>
            <a:ext cx="57607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ARCH</a:t>
            </a:r>
          </a:p>
        </p:txBody>
      </p:sp>
      <p:sp>
        <p:nvSpPr>
          <p:cNvPr id="49" name="TextBox 48">
            <a:hlinkClick r:id="rId7" action="ppaction://hlinksldjump"/>
          </p:cNvPr>
          <p:cNvSpPr txBox="1"/>
          <p:nvPr/>
        </p:nvSpPr>
        <p:spPr>
          <a:xfrm>
            <a:off x="5138928" y="1188720"/>
            <a:ext cx="65836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MODULES</a:t>
            </a:r>
          </a:p>
        </p:txBody>
      </p:sp>
      <p:sp>
        <p:nvSpPr>
          <p:cNvPr id="50" name="TextBox 49">
            <a:hlinkClick r:id="rId8" action="ppaction://hlinksldjump"/>
          </p:cNvPr>
          <p:cNvSpPr txBox="1"/>
          <p:nvPr/>
        </p:nvSpPr>
        <p:spPr>
          <a:xfrm>
            <a:off x="5989320" y="1188720"/>
            <a:ext cx="5029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WORK</a:t>
            </a:r>
          </a:p>
        </p:txBody>
      </p:sp>
      <p:sp>
        <p:nvSpPr>
          <p:cNvPr id="51" name="TextBox 50">
            <a:hlinkClick r:id="rId9" action="ppaction://hlinksldjump"/>
          </p:cNvPr>
          <p:cNvSpPr txBox="1"/>
          <p:nvPr/>
        </p:nvSpPr>
        <p:spPr>
          <a:xfrm>
            <a:off x="6766560" y="1188720"/>
            <a:ext cx="5943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RESULTS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360" y="6510528"/>
            <a:ext cx="4114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A1ABCA"/>
                </a:solidFill>
                <a:latin typeface="Aptos"/>
              </a:rPr>
              <a:t>EDUVISION_DV  •  SPRINGBOARD INFOSYS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82528" y="649224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A1ABCA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138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5F7FF"/>
                </a:solidFill>
                <a:latin typeface="Aptos"/>
              </a:rPr>
              <a:t>Data Collection &amp;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9601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6AFCD"/>
                </a:solidFill>
                <a:latin typeface="Aptos"/>
              </a:rPr>
              <a:t>Kaggle data → cleaning → KPI-ready dataset → Tableau.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38912"/>
            <a:ext cx="1508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32DCDC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57400"/>
            <a:ext cx="1874519" cy="1417320"/>
          </a:xfrm>
          <a:prstGeom prst="roundRect">
            <a:avLst/>
          </a:prstGeom>
          <a:solidFill>
            <a:srgbClr val="141B35"/>
          </a:solidFill>
          <a:ln w="15240">
            <a:solidFill>
              <a:srgbClr val="3A4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280160" y="1664208"/>
            <a:ext cx="502920" cy="502920"/>
          </a:xfrm>
          <a:prstGeom prst="ellipse">
            <a:avLst/>
          </a:prstGeom>
          <a:solidFill>
            <a:srgbClr val="85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2240280"/>
            <a:ext cx="153619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7FF"/>
                </a:solidFill>
                <a:latin typeface="Aptos"/>
              </a:rPr>
              <a:t>Kaggle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670048"/>
            <a:ext cx="153619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A6AFCD"/>
                </a:solidFill>
                <a:latin typeface="Aptos"/>
              </a:rPr>
              <a:t>Dataset
Source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96312" y="2761488"/>
            <a:ext cx="310896" cy="0"/>
          </a:xfrm>
          <a:prstGeom prst="line">
            <a:avLst/>
          </a:prstGeom>
          <a:ln w="25400">
            <a:solidFill>
              <a:srgbClr val="32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0360" y="2057400"/>
            <a:ext cx="1874519" cy="1417320"/>
          </a:xfrm>
          <a:prstGeom prst="roundRect">
            <a:avLst/>
          </a:prstGeom>
          <a:solidFill>
            <a:srgbClr val="141B35"/>
          </a:solidFill>
          <a:ln w="15240">
            <a:solidFill>
              <a:srgbClr val="3A4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566160" y="1664208"/>
            <a:ext cx="502920" cy="502920"/>
          </a:xfrm>
          <a:prstGeom prst="ellipse">
            <a:avLst/>
          </a:prstGeom>
          <a:solidFill>
            <a:srgbClr val="39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44952" y="2240280"/>
            <a:ext cx="153619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7FF"/>
                </a:solidFill>
                <a:latin typeface="Aptos"/>
              </a:rPr>
              <a:t>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4952" y="2670048"/>
            <a:ext cx="153619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A6AFCD"/>
                </a:solidFill>
                <a:latin typeface="Aptos"/>
              </a:rPr>
              <a:t>Collection
&amp; merge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82312" y="2761488"/>
            <a:ext cx="310896" cy="0"/>
          </a:xfrm>
          <a:prstGeom prst="line">
            <a:avLst/>
          </a:prstGeom>
          <a:ln w="25400">
            <a:solidFill>
              <a:srgbClr val="32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66360" y="2057400"/>
            <a:ext cx="1874519" cy="1417320"/>
          </a:xfrm>
          <a:prstGeom prst="roundRect">
            <a:avLst/>
          </a:prstGeom>
          <a:solidFill>
            <a:srgbClr val="141B35"/>
          </a:solidFill>
          <a:ln w="15240">
            <a:solidFill>
              <a:srgbClr val="3A4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852160" y="1664208"/>
            <a:ext cx="502920" cy="502920"/>
          </a:xfrm>
          <a:prstGeom prst="ellipse">
            <a:avLst/>
          </a:prstGeom>
          <a:solidFill>
            <a:srgbClr val="32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30952" y="2240280"/>
            <a:ext cx="153619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7FF"/>
                </a:solidFill>
                <a:latin typeface="Aptos"/>
              </a:rPr>
              <a:t>Cleaning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0952" y="2670048"/>
            <a:ext cx="153619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A6AFCD"/>
                </a:solidFill>
                <a:latin typeface="Aptos"/>
              </a:rPr>
              <a:t>Duplicates • names
• missing values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68312" y="2761488"/>
            <a:ext cx="310896" cy="0"/>
          </a:xfrm>
          <a:prstGeom prst="line">
            <a:avLst/>
          </a:prstGeom>
          <a:ln w="25400">
            <a:solidFill>
              <a:srgbClr val="32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452360" y="2057400"/>
            <a:ext cx="1874519" cy="1417320"/>
          </a:xfrm>
          <a:prstGeom prst="roundRect">
            <a:avLst/>
          </a:prstGeom>
          <a:solidFill>
            <a:srgbClr val="141B35"/>
          </a:solidFill>
          <a:ln w="15240">
            <a:solidFill>
              <a:srgbClr val="3A4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138160" y="1664208"/>
            <a:ext cx="502920" cy="502920"/>
          </a:xfrm>
          <a:prstGeom prst="ellipse">
            <a:avLst/>
          </a:prstGeom>
          <a:solidFill>
            <a:srgbClr val="FFA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16952" y="2240280"/>
            <a:ext cx="153619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7FF"/>
                </a:solidFill>
                <a:latin typeface="Aptos"/>
              </a:rPr>
              <a:t>KPIs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16952" y="2670048"/>
            <a:ext cx="153619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A6AFCD"/>
                </a:solidFill>
                <a:latin typeface="Aptos"/>
              </a:rPr>
              <a:t>Six calculated
metrics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54312" y="2761488"/>
            <a:ext cx="310896" cy="0"/>
          </a:xfrm>
          <a:prstGeom prst="line">
            <a:avLst/>
          </a:prstGeom>
          <a:ln w="25400">
            <a:solidFill>
              <a:srgbClr val="32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738360" y="2057400"/>
            <a:ext cx="1874519" cy="1417320"/>
          </a:xfrm>
          <a:prstGeom prst="roundRect">
            <a:avLst/>
          </a:prstGeom>
          <a:solidFill>
            <a:srgbClr val="141B35"/>
          </a:solidFill>
          <a:ln w="15240">
            <a:solidFill>
              <a:srgbClr val="3A4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424160" y="1664208"/>
            <a:ext cx="502920" cy="502920"/>
          </a:xfrm>
          <a:prstGeom prst="ellipse">
            <a:avLst/>
          </a:prstGeom>
          <a:solidFill>
            <a:srgbClr val="85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02952" y="2240280"/>
            <a:ext cx="153619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7FF"/>
                </a:solidFill>
                <a:latin typeface="Aptos"/>
              </a:rPr>
              <a:t>Tableau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02952" y="2670048"/>
            <a:ext cx="153619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A6AFCD"/>
                </a:solidFill>
                <a:latin typeface="Aptos"/>
              </a:rPr>
              <a:t>Interactive
visualization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160520"/>
            <a:ext cx="10287000" cy="1143000"/>
          </a:xfrm>
          <a:prstGeom prst="roundRect">
            <a:avLst/>
          </a:prstGeom>
          <a:solidFill>
            <a:srgbClr val="1A2241"/>
          </a:solidFill>
          <a:ln w="15240">
            <a:solidFill>
              <a:srgbClr val="3A4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88720" y="4389120"/>
            <a:ext cx="2194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32DCDC"/>
                </a:solidFill>
                <a:latin typeface="Aptos"/>
              </a:rPr>
              <a:t>DATA PREPARATION FOCUS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4754880"/>
            <a:ext cx="95097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5F7FF"/>
                </a:solidFill>
                <a:latin typeface="Aptos"/>
              </a:rPr>
              <a:t>Remove duplicates   •   Standardize university &amp; country names   •   Normalize ranking metrics   •   Create Tableau-ready dataset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19672"/>
            <a:ext cx="4572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>
                <a:solidFill>
                  <a:srgbClr val="A6AFCD"/>
                </a:solidFill>
                <a:latin typeface="Aptos"/>
              </a:rPr>
              <a:t>EDUVISION_DV  •  INTERNSHIP PROJECT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A6AFCD"/>
                </a:solidFill>
                <a:latin typeface="Aptos"/>
              </a:rPr>
              <a:t>06</a:t>
            </a:r>
          </a:p>
        </p:txBody>
      </p:sp>
      <p:sp>
        <p:nvSpPr>
          <p:cNvPr id="35" name="TextBox 34">
            <a:hlinkClick r:id="rId2" action="ppaction://hlinksldjump"/>
          </p:cNvPr>
          <p:cNvSpPr txBox="1"/>
          <p:nvPr/>
        </p:nvSpPr>
        <p:spPr>
          <a:xfrm>
            <a:off x="5989320" y="1170432"/>
            <a:ext cx="6858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Overview</a:t>
            </a:r>
          </a:p>
        </p:txBody>
      </p:sp>
      <p:sp>
        <p:nvSpPr>
          <p:cNvPr id="36" name="TextBox 35">
            <a:hlinkClick r:id="rId3" action="ppaction://hlinksldjump"/>
          </p:cNvPr>
          <p:cNvSpPr txBox="1"/>
          <p:nvPr/>
        </p:nvSpPr>
        <p:spPr>
          <a:xfrm>
            <a:off x="6720840" y="1170432"/>
            <a:ext cx="566928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Tech</a:t>
            </a:r>
          </a:p>
        </p:txBody>
      </p:sp>
      <p:sp>
        <p:nvSpPr>
          <p:cNvPr id="37" name="TextBox 36">
            <a:hlinkClick r:id="rId4" action="ppaction://hlinksldjump"/>
          </p:cNvPr>
          <p:cNvSpPr txBox="1"/>
          <p:nvPr/>
        </p:nvSpPr>
        <p:spPr>
          <a:xfrm>
            <a:off x="7315200" y="1170432"/>
            <a:ext cx="566928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32DCDC"/>
                </a:solidFill>
                <a:latin typeface="Aptos"/>
              </a:rPr>
              <a:t>Project</a:t>
            </a:r>
          </a:p>
        </p:txBody>
      </p:sp>
      <p:sp>
        <p:nvSpPr>
          <p:cNvPr id="38" name="TextBox 37">
            <a:hlinkClick r:id="rId5" action="ppaction://hlinksldjump"/>
          </p:cNvPr>
          <p:cNvSpPr txBox="1"/>
          <p:nvPr/>
        </p:nvSpPr>
        <p:spPr>
          <a:xfrm>
            <a:off x="7909560" y="1170432"/>
            <a:ext cx="621792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KPIs</a:t>
            </a:r>
          </a:p>
        </p:txBody>
      </p:sp>
      <p:sp>
        <p:nvSpPr>
          <p:cNvPr id="39" name="TextBox 38">
            <a:hlinkClick r:id="rId6" action="ppaction://hlinksldjump"/>
          </p:cNvPr>
          <p:cNvSpPr txBox="1"/>
          <p:nvPr/>
        </p:nvSpPr>
        <p:spPr>
          <a:xfrm>
            <a:off x="8595360" y="1170432"/>
            <a:ext cx="86868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Architecture</a:t>
            </a:r>
          </a:p>
        </p:txBody>
      </p:sp>
      <p:sp>
        <p:nvSpPr>
          <p:cNvPr id="40" name="TextBox 39">
            <a:hlinkClick r:id="rId7" action="ppaction://hlinksldjump"/>
          </p:cNvPr>
          <p:cNvSpPr txBox="1"/>
          <p:nvPr/>
        </p:nvSpPr>
        <p:spPr>
          <a:xfrm>
            <a:off x="9555480" y="1170432"/>
            <a:ext cx="6858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Modules</a:t>
            </a:r>
          </a:p>
        </p:txBody>
      </p:sp>
      <p:sp>
        <p:nvSpPr>
          <p:cNvPr id="41" name="TextBox 40">
            <a:hlinkClick r:id="rId8" action="ppaction://hlinksldjump"/>
          </p:cNvPr>
          <p:cNvSpPr txBox="1"/>
          <p:nvPr/>
        </p:nvSpPr>
        <p:spPr>
          <a:xfrm>
            <a:off x="10287000" y="1170432"/>
            <a:ext cx="749808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Contribution</a:t>
            </a:r>
          </a:p>
        </p:txBody>
      </p:sp>
      <p:sp>
        <p:nvSpPr>
          <p:cNvPr id="42" name="TextBox 41">
            <a:hlinkClick r:id="rId9" action="ppaction://hlinksldjump"/>
          </p:cNvPr>
          <p:cNvSpPr txBox="1"/>
          <p:nvPr/>
        </p:nvSpPr>
        <p:spPr>
          <a:xfrm>
            <a:off x="11064240" y="1170432"/>
            <a:ext cx="6858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Results</a:t>
            </a:r>
          </a:p>
        </p:txBody>
      </p:sp>
      <p:sp>
        <p:nvSpPr>
          <p:cNvPr id="43" name="TextBox 42">
            <a:hlinkClick r:id="rId10" action="ppaction://hlinksldjump"/>
          </p:cNvPr>
          <p:cNvSpPr txBox="1"/>
          <p:nvPr/>
        </p:nvSpPr>
        <p:spPr>
          <a:xfrm>
            <a:off x="594360" y="1170432"/>
            <a:ext cx="4572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A6AFCD"/>
                </a:solidFill>
                <a:latin typeface="Aptos"/>
              </a:rPr>
              <a:t>HOME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30352" y="1115568"/>
            <a:ext cx="7315200" cy="329184"/>
          </a:xfrm>
          <a:prstGeom prst="roundRect">
            <a:avLst/>
          </a:prstGeom>
          <a:solidFill>
            <a:srgbClr val="0C1127"/>
          </a:solidFill>
          <a:ln w="8890">
            <a:solidFill>
              <a:srgbClr val="344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hlinkClick r:id="rId10" action="ppaction://hlinksldjump"/>
          </p:cNvPr>
          <p:cNvSpPr txBox="1"/>
          <p:nvPr/>
        </p:nvSpPr>
        <p:spPr>
          <a:xfrm>
            <a:off x="594360" y="1188720"/>
            <a:ext cx="5029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HOME</a:t>
            </a:r>
          </a:p>
        </p:txBody>
      </p:sp>
      <p:sp>
        <p:nvSpPr>
          <p:cNvPr id="46" name="TextBox 45">
            <a:hlinkClick r:id="rId2" action="ppaction://hlinksldjump"/>
          </p:cNvPr>
          <p:cNvSpPr txBox="1"/>
          <p:nvPr/>
        </p:nvSpPr>
        <p:spPr>
          <a:xfrm>
            <a:off x="1234440" y="1188720"/>
            <a:ext cx="71323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OVERVIEW</a:t>
            </a:r>
          </a:p>
        </p:txBody>
      </p:sp>
      <p:sp>
        <p:nvSpPr>
          <p:cNvPr id="47" name="TextBox 46">
            <a:hlinkClick r:id="rId3" action="ppaction://hlinksldjump"/>
          </p:cNvPr>
          <p:cNvSpPr txBox="1"/>
          <p:nvPr/>
        </p:nvSpPr>
        <p:spPr>
          <a:xfrm>
            <a:off x="2057400" y="1188720"/>
            <a:ext cx="5943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TECH</a:t>
            </a:r>
          </a:p>
        </p:txBody>
      </p:sp>
      <p:sp>
        <p:nvSpPr>
          <p:cNvPr id="48" name="TextBox 47">
            <a:hlinkClick r:id="rId4" action="ppaction://hlinksldjump"/>
          </p:cNvPr>
          <p:cNvSpPr txBox="1"/>
          <p:nvPr/>
        </p:nvSpPr>
        <p:spPr>
          <a:xfrm>
            <a:off x="2852928" y="1188720"/>
            <a:ext cx="62179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PROJECT</a:t>
            </a:r>
          </a:p>
        </p:txBody>
      </p:sp>
      <p:sp>
        <p:nvSpPr>
          <p:cNvPr id="49" name="TextBox 48">
            <a:hlinkClick r:id="rId5" action="ppaction://hlinksldjump"/>
          </p:cNvPr>
          <p:cNvSpPr txBox="1"/>
          <p:nvPr/>
        </p:nvSpPr>
        <p:spPr>
          <a:xfrm>
            <a:off x="3703320" y="1188720"/>
            <a:ext cx="5029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KPI</a:t>
            </a:r>
          </a:p>
        </p:txBody>
      </p:sp>
      <p:sp>
        <p:nvSpPr>
          <p:cNvPr id="50" name="TextBox 49">
            <a:hlinkClick r:id="rId6" action="ppaction://hlinksldjump"/>
          </p:cNvPr>
          <p:cNvSpPr txBox="1"/>
          <p:nvPr/>
        </p:nvSpPr>
        <p:spPr>
          <a:xfrm>
            <a:off x="4370832" y="1188720"/>
            <a:ext cx="57607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ARCH</a:t>
            </a:r>
          </a:p>
        </p:txBody>
      </p:sp>
      <p:sp>
        <p:nvSpPr>
          <p:cNvPr id="51" name="TextBox 50">
            <a:hlinkClick r:id="rId7" action="ppaction://hlinksldjump"/>
          </p:cNvPr>
          <p:cNvSpPr txBox="1"/>
          <p:nvPr/>
        </p:nvSpPr>
        <p:spPr>
          <a:xfrm>
            <a:off x="5138928" y="1188720"/>
            <a:ext cx="65836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MODULES</a:t>
            </a:r>
          </a:p>
        </p:txBody>
      </p:sp>
      <p:sp>
        <p:nvSpPr>
          <p:cNvPr id="52" name="TextBox 51">
            <a:hlinkClick r:id="rId8" action="ppaction://hlinksldjump"/>
          </p:cNvPr>
          <p:cNvSpPr txBox="1"/>
          <p:nvPr/>
        </p:nvSpPr>
        <p:spPr>
          <a:xfrm>
            <a:off x="5989320" y="1188720"/>
            <a:ext cx="5029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WORK</a:t>
            </a:r>
          </a:p>
        </p:txBody>
      </p:sp>
      <p:sp>
        <p:nvSpPr>
          <p:cNvPr id="53" name="TextBox 52">
            <a:hlinkClick r:id="rId9" action="ppaction://hlinksldjump"/>
          </p:cNvPr>
          <p:cNvSpPr txBox="1"/>
          <p:nvPr/>
        </p:nvSpPr>
        <p:spPr>
          <a:xfrm>
            <a:off x="6766560" y="1188720"/>
            <a:ext cx="5943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RESULTS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" y="6510528"/>
            <a:ext cx="4114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A1ABCA"/>
                </a:solidFill>
                <a:latin typeface="Aptos"/>
              </a:rPr>
              <a:t>EDUVISION_DV  •  SPRINGBOARD INFOSYS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082528" y="649224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A1ABCA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138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5F7FF"/>
                </a:solidFill>
                <a:latin typeface="Aptos"/>
              </a:rPr>
              <a:t>KPI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9601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6AFCD"/>
                </a:solidFill>
                <a:latin typeface="Aptos"/>
              </a:rPr>
              <a:t>Six KPIs calculated from the prepared university dataset.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38912"/>
            <a:ext cx="1508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32DCDC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429000" cy="1874519"/>
          </a:xfrm>
          <a:prstGeom prst="roundRect">
            <a:avLst/>
          </a:prstGeom>
          <a:solidFill>
            <a:srgbClr val="141B35"/>
          </a:solidFill>
          <a:ln w="15240">
            <a:solidFill>
              <a:srgbClr val="3A4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2971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5F7FF"/>
                </a:solidFill>
                <a:latin typeface="Aptos"/>
              </a:rPr>
              <a:t>Global Ranking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30552"/>
            <a:ext cx="12801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8548FF"/>
                </a:solidFill>
                <a:latin typeface="Aptos"/>
              </a:rPr>
              <a:t>CALCULATION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04872"/>
            <a:ext cx="2926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6AFCD"/>
                </a:solidFill>
                <a:latin typeface="Aptos"/>
              </a:rPr>
              <a:t>(Overall Score + Overall SCORE) /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417320"/>
            <a:ext cx="3429000" cy="1874519"/>
          </a:xfrm>
          <a:prstGeom prst="roundRect">
            <a:avLst/>
          </a:prstGeom>
          <a:solidFill>
            <a:srgbClr val="141B35"/>
          </a:solidFill>
          <a:ln w="15240">
            <a:solidFill>
              <a:srgbClr val="3A4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45152" y="1645920"/>
            <a:ext cx="2971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5F7FF"/>
                </a:solidFill>
                <a:latin typeface="Aptos"/>
              </a:rPr>
              <a:t>Research Impact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130552"/>
            <a:ext cx="12801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98FFF"/>
                </a:solidFill>
                <a:latin typeface="Aptos"/>
              </a:rPr>
              <a:t>CALCULATION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404872"/>
            <a:ext cx="2926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6AFCD"/>
                </a:solidFill>
                <a:latin typeface="Aptos"/>
              </a:rPr>
              <a:t>(Research Quality + Citations per Faculty SCORE) /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8744" y="1417320"/>
            <a:ext cx="3429000" cy="1874519"/>
          </a:xfrm>
          <a:prstGeom prst="roundRect">
            <a:avLst/>
          </a:prstGeom>
          <a:solidFill>
            <a:srgbClr val="141B35"/>
          </a:solidFill>
          <a:ln w="15240">
            <a:solidFill>
              <a:srgbClr val="3A4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67344" y="1645920"/>
            <a:ext cx="2971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5F7FF"/>
                </a:solidFill>
                <a:latin typeface="Aptos"/>
              </a:rPr>
              <a:t>Faculty-to-Student Ratio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67344" y="2130552"/>
            <a:ext cx="12801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2DCDC"/>
                </a:solidFill>
                <a:latin typeface="Aptos"/>
              </a:rPr>
              <a:t>CALCULATION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7344" y="2404872"/>
            <a:ext cx="2926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6AFCD"/>
                </a:solidFill>
                <a:latin typeface="Aptos"/>
              </a:rPr>
              <a:t>(Students to Staff Ratio + Faculty Student Ratio SCORE) /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749039"/>
            <a:ext cx="3429000" cy="1874519"/>
          </a:xfrm>
          <a:prstGeom prst="roundRect">
            <a:avLst/>
          </a:prstGeom>
          <a:solidFill>
            <a:srgbClr val="141B35"/>
          </a:solidFill>
          <a:ln w="15240">
            <a:solidFill>
              <a:srgbClr val="3A4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3977639"/>
            <a:ext cx="2971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5F7FF"/>
                </a:solidFill>
                <a:latin typeface="Aptos"/>
              </a:rPr>
              <a:t>International Student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462272"/>
            <a:ext cx="12801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AE4D"/>
                </a:solidFill>
                <a:latin typeface="Aptos"/>
              </a:rPr>
              <a:t>CALCULATION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736592"/>
            <a:ext cx="2926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6AFCD"/>
                </a:solidFill>
                <a:latin typeface="Aptos"/>
              </a:rPr>
              <a:t>(International Students + International Student SCORE) / 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16552" y="3749039"/>
            <a:ext cx="3429000" cy="1874519"/>
          </a:xfrm>
          <a:prstGeom prst="roundRect">
            <a:avLst/>
          </a:prstGeom>
          <a:solidFill>
            <a:srgbClr val="141B35"/>
          </a:solidFill>
          <a:ln w="15240">
            <a:solidFill>
              <a:srgbClr val="3A4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45152" y="3977639"/>
            <a:ext cx="2971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5F7FF"/>
                </a:solidFill>
                <a:latin typeface="Aptos"/>
              </a:rPr>
              <a:t>Academic Reputation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5152" y="4462272"/>
            <a:ext cx="12801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8548FF"/>
                </a:solidFill>
                <a:latin typeface="Aptos"/>
              </a:rPr>
              <a:t>CALCULATION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5152" y="4736592"/>
            <a:ext cx="2926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6AFCD"/>
                </a:solidFill>
                <a:latin typeface="Aptos"/>
              </a:rPr>
              <a:t>(Academic Reputation SCORE + Employer Reputation SCORE) / 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38744" y="3749039"/>
            <a:ext cx="3429000" cy="1874519"/>
          </a:xfrm>
          <a:prstGeom prst="roundRect">
            <a:avLst/>
          </a:prstGeom>
          <a:solidFill>
            <a:srgbClr val="141B35"/>
          </a:solidFill>
          <a:ln w="15240">
            <a:solidFill>
              <a:srgbClr val="3A4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67344" y="3977639"/>
            <a:ext cx="2971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5F7FF"/>
                </a:solidFill>
                <a:latin typeface="Aptos"/>
              </a:rPr>
              <a:t>Research Productivity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67344" y="4462272"/>
            <a:ext cx="12801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98FFF"/>
                </a:solidFill>
                <a:latin typeface="Aptos"/>
              </a:rPr>
              <a:t>CALCULATION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67344" y="4736592"/>
            <a:ext cx="2926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6AFCD"/>
                </a:solidFill>
                <a:latin typeface="Aptos"/>
              </a:rPr>
              <a:t>(Research Environment + Industry Impact) /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9672"/>
            <a:ext cx="4572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>
                <a:solidFill>
                  <a:srgbClr val="A6AFCD"/>
                </a:solidFill>
                <a:latin typeface="Aptos"/>
              </a:rPr>
              <a:t>EDUVISION_DV  •  INTERNSHIP 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A6AFCD"/>
                </a:solidFill>
                <a:latin typeface="Aptos"/>
              </a:rPr>
              <a:t>07</a:t>
            </a:r>
          </a:p>
        </p:txBody>
      </p:sp>
      <p:sp>
        <p:nvSpPr>
          <p:cNvPr id="32" name="TextBox 31">
            <a:hlinkClick r:id="rId2" action="ppaction://hlinksldjump"/>
          </p:cNvPr>
          <p:cNvSpPr txBox="1"/>
          <p:nvPr/>
        </p:nvSpPr>
        <p:spPr>
          <a:xfrm>
            <a:off x="5989320" y="1170432"/>
            <a:ext cx="6858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Overview</a:t>
            </a:r>
          </a:p>
        </p:txBody>
      </p:sp>
      <p:sp>
        <p:nvSpPr>
          <p:cNvPr id="33" name="TextBox 32">
            <a:hlinkClick r:id="rId3" action="ppaction://hlinksldjump"/>
          </p:cNvPr>
          <p:cNvSpPr txBox="1"/>
          <p:nvPr/>
        </p:nvSpPr>
        <p:spPr>
          <a:xfrm>
            <a:off x="6720840" y="1170432"/>
            <a:ext cx="566928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Tech</a:t>
            </a:r>
          </a:p>
        </p:txBody>
      </p:sp>
      <p:sp>
        <p:nvSpPr>
          <p:cNvPr id="34" name="TextBox 33">
            <a:hlinkClick r:id="rId4" action="ppaction://hlinksldjump"/>
          </p:cNvPr>
          <p:cNvSpPr txBox="1"/>
          <p:nvPr/>
        </p:nvSpPr>
        <p:spPr>
          <a:xfrm>
            <a:off x="7315200" y="1170432"/>
            <a:ext cx="566928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Project</a:t>
            </a:r>
          </a:p>
        </p:txBody>
      </p:sp>
      <p:sp>
        <p:nvSpPr>
          <p:cNvPr id="35" name="TextBox 34">
            <a:hlinkClick r:id="rId5" action="ppaction://hlinksldjump"/>
          </p:cNvPr>
          <p:cNvSpPr txBox="1"/>
          <p:nvPr/>
        </p:nvSpPr>
        <p:spPr>
          <a:xfrm>
            <a:off x="7909560" y="1170432"/>
            <a:ext cx="621792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32DCDC"/>
                </a:solidFill>
                <a:latin typeface="Aptos"/>
              </a:rPr>
              <a:t>KPIs</a:t>
            </a:r>
          </a:p>
        </p:txBody>
      </p:sp>
      <p:sp>
        <p:nvSpPr>
          <p:cNvPr id="36" name="TextBox 35">
            <a:hlinkClick r:id="rId6" action="ppaction://hlinksldjump"/>
          </p:cNvPr>
          <p:cNvSpPr txBox="1"/>
          <p:nvPr/>
        </p:nvSpPr>
        <p:spPr>
          <a:xfrm>
            <a:off x="8595360" y="1170432"/>
            <a:ext cx="86868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Architecture</a:t>
            </a:r>
          </a:p>
        </p:txBody>
      </p:sp>
      <p:sp>
        <p:nvSpPr>
          <p:cNvPr id="37" name="TextBox 36">
            <a:hlinkClick r:id="rId7" action="ppaction://hlinksldjump"/>
          </p:cNvPr>
          <p:cNvSpPr txBox="1"/>
          <p:nvPr/>
        </p:nvSpPr>
        <p:spPr>
          <a:xfrm>
            <a:off x="9555480" y="1170432"/>
            <a:ext cx="6858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Modules</a:t>
            </a:r>
          </a:p>
        </p:txBody>
      </p:sp>
      <p:sp>
        <p:nvSpPr>
          <p:cNvPr id="38" name="TextBox 37">
            <a:hlinkClick r:id="rId8" action="ppaction://hlinksldjump"/>
          </p:cNvPr>
          <p:cNvSpPr txBox="1"/>
          <p:nvPr/>
        </p:nvSpPr>
        <p:spPr>
          <a:xfrm>
            <a:off x="10287000" y="1170432"/>
            <a:ext cx="749808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Contribution</a:t>
            </a:r>
          </a:p>
        </p:txBody>
      </p:sp>
      <p:sp>
        <p:nvSpPr>
          <p:cNvPr id="39" name="TextBox 38">
            <a:hlinkClick r:id="rId9" action="ppaction://hlinksldjump"/>
          </p:cNvPr>
          <p:cNvSpPr txBox="1"/>
          <p:nvPr/>
        </p:nvSpPr>
        <p:spPr>
          <a:xfrm>
            <a:off x="11064240" y="1170432"/>
            <a:ext cx="6858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Results</a:t>
            </a:r>
          </a:p>
        </p:txBody>
      </p:sp>
      <p:sp>
        <p:nvSpPr>
          <p:cNvPr id="40" name="TextBox 39">
            <a:hlinkClick r:id="rId10" action="ppaction://hlinksldjump"/>
          </p:cNvPr>
          <p:cNvSpPr txBox="1"/>
          <p:nvPr/>
        </p:nvSpPr>
        <p:spPr>
          <a:xfrm>
            <a:off x="594360" y="1170432"/>
            <a:ext cx="4572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A6AFCD"/>
                </a:solidFill>
                <a:latin typeface="Aptos"/>
              </a:rPr>
              <a:t>HOME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30352" y="1115568"/>
            <a:ext cx="7315200" cy="329184"/>
          </a:xfrm>
          <a:prstGeom prst="roundRect">
            <a:avLst/>
          </a:prstGeom>
          <a:solidFill>
            <a:srgbClr val="0C1127"/>
          </a:solidFill>
          <a:ln w="8890">
            <a:solidFill>
              <a:srgbClr val="344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hlinkClick r:id="rId10" action="ppaction://hlinksldjump"/>
          </p:cNvPr>
          <p:cNvSpPr txBox="1"/>
          <p:nvPr/>
        </p:nvSpPr>
        <p:spPr>
          <a:xfrm>
            <a:off x="594360" y="1188720"/>
            <a:ext cx="5029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HOME</a:t>
            </a:r>
          </a:p>
        </p:txBody>
      </p:sp>
      <p:sp>
        <p:nvSpPr>
          <p:cNvPr id="43" name="TextBox 42">
            <a:hlinkClick r:id="rId2" action="ppaction://hlinksldjump"/>
          </p:cNvPr>
          <p:cNvSpPr txBox="1"/>
          <p:nvPr/>
        </p:nvSpPr>
        <p:spPr>
          <a:xfrm>
            <a:off x="1234440" y="1188720"/>
            <a:ext cx="71323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OVERVIEW</a:t>
            </a:r>
          </a:p>
        </p:txBody>
      </p:sp>
      <p:sp>
        <p:nvSpPr>
          <p:cNvPr id="44" name="TextBox 43">
            <a:hlinkClick r:id="rId3" action="ppaction://hlinksldjump"/>
          </p:cNvPr>
          <p:cNvSpPr txBox="1"/>
          <p:nvPr/>
        </p:nvSpPr>
        <p:spPr>
          <a:xfrm>
            <a:off x="2057400" y="1188720"/>
            <a:ext cx="5943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TECH</a:t>
            </a:r>
          </a:p>
        </p:txBody>
      </p:sp>
      <p:sp>
        <p:nvSpPr>
          <p:cNvPr id="45" name="TextBox 44">
            <a:hlinkClick r:id="rId4" action="ppaction://hlinksldjump"/>
          </p:cNvPr>
          <p:cNvSpPr txBox="1"/>
          <p:nvPr/>
        </p:nvSpPr>
        <p:spPr>
          <a:xfrm>
            <a:off x="2852928" y="1188720"/>
            <a:ext cx="62179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PROJECT</a:t>
            </a:r>
          </a:p>
        </p:txBody>
      </p:sp>
      <p:sp>
        <p:nvSpPr>
          <p:cNvPr id="46" name="TextBox 45">
            <a:hlinkClick r:id="rId5" action="ppaction://hlinksldjump"/>
          </p:cNvPr>
          <p:cNvSpPr txBox="1"/>
          <p:nvPr/>
        </p:nvSpPr>
        <p:spPr>
          <a:xfrm>
            <a:off x="3703320" y="1188720"/>
            <a:ext cx="5029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KPI</a:t>
            </a:r>
          </a:p>
        </p:txBody>
      </p:sp>
      <p:sp>
        <p:nvSpPr>
          <p:cNvPr id="47" name="TextBox 46">
            <a:hlinkClick r:id="rId6" action="ppaction://hlinksldjump"/>
          </p:cNvPr>
          <p:cNvSpPr txBox="1"/>
          <p:nvPr/>
        </p:nvSpPr>
        <p:spPr>
          <a:xfrm>
            <a:off x="4370832" y="1188720"/>
            <a:ext cx="57607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ARCH</a:t>
            </a:r>
          </a:p>
        </p:txBody>
      </p:sp>
      <p:sp>
        <p:nvSpPr>
          <p:cNvPr id="48" name="TextBox 47">
            <a:hlinkClick r:id="rId7" action="ppaction://hlinksldjump"/>
          </p:cNvPr>
          <p:cNvSpPr txBox="1"/>
          <p:nvPr/>
        </p:nvSpPr>
        <p:spPr>
          <a:xfrm>
            <a:off x="5138928" y="1188720"/>
            <a:ext cx="65836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MODULES</a:t>
            </a:r>
          </a:p>
        </p:txBody>
      </p:sp>
      <p:sp>
        <p:nvSpPr>
          <p:cNvPr id="49" name="TextBox 48">
            <a:hlinkClick r:id="rId8" action="ppaction://hlinksldjump"/>
          </p:cNvPr>
          <p:cNvSpPr txBox="1"/>
          <p:nvPr/>
        </p:nvSpPr>
        <p:spPr>
          <a:xfrm>
            <a:off x="5989320" y="1188720"/>
            <a:ext cx="5029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WORK</a:t>
            </a:r>
          </a:p>
        </p:txBody>
      </p:sp>
      <p:sp>
        <p:nvSpPr>
          <p:cNvPr id="50" name="TextBox 49">
            <a:hlinkClick r:id="rId9" action="ppaction://hlinksldjump"/>
          </p:cNvPr>
          <p:cNvSpPr txBox="1"/>
          <p:nvPr/>
        </p:nvSpPr>
        <p:spPr>
          <a:xfrm>
            <a:off x="6766560" y="1188720"/>
            <a:ext cx="5943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RESULTS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6510528"/>
            <a:ext cx="4114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A1ABCA"/>
                </a:solidFill>
                <a:latin typeface="Aptos"/>
              </a:rPr>
              <a:t>EDUVISION_DV  •  SPRINGBOARD INFOSYS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82528" y="649224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A1ABCA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138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5F7FF"/>
                </a:solidFill>
                <a:latin typeface="Aptos"/>
              </a:rPr>
              <a:t>System / Project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9601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6AFCD"/>
                </a:solidFill>
                <a:latin typeface="Aptos"/>
              </a:rPr>
              <a:t>End-to-end workflow used to build the dashboard suite.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38912"/>
            <a:ext cx="1508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32DCDC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48840"/>
            <a:ext cx="1353312" cy="960120"/>
          </a:xfrm>
          <a:prstGeom prst="roundRect">
            <a:avLst/>
          </a:prstGeom>
          <a:solidFill>
            <a:srgbClr val="141B35"/>
          </a:solidFill>
          <a:ln w="15240">
            <a:solidFill>
              <a:srgbClr val="3A4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2258568"/>
            <a:ext cx="38404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8548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514600"/>
            <a:ext cx="11247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Collect University
Datasets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65960" y="2633472"/>
            <a:ext cx="228600" cy="868680"/>
          </a:xfrm>
          <a:prstGeom prst="line">
            <a:avLst/>
          </a:prstGeom>
          <a:ln w="17780">
            <a:solidFill>
              <a:srgbClr val="32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221992" y="3703320"/>
            <a:ext cx="1353312" cy="960120"/>
          </a:xfrm>
          <a:prstGeom prst="roundRect">
            <a:avLst/>
          </a:prstGeom>
          <a:solidFill>
            <a:srgbClr val="141B35"/>
          </a:solidFill>
          <a:ln w="15240">
            <a:solidFill>
              <a:srgbClr val="3A4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31720" y="3813048"/>
            <a:ext cx="38404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98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4069080"/>
            <a:ext cx="11247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Data Cleaning &amp;
Transformation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3593592" y="2624328"/>
            <a:ext cx="228599" cy="1563624"/>
          </a:xfrm>
          <a:prstGeom prst="line">
            <a:avLst/>
          </a:prstGeom>
          <a:ln w="17780">
            <a:solidFill>
              <a:srgbClr val="32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849624" y="2148840"/>
            <a:ext cx="1353312" cy="960120"/>
          </a:xfrm>
          <a:prstGeom prst="roundRect">
            <a:avLst/>
          </a:prstGeom>
          <a:solidFill>
            <a:srgbClr val="141B35"/>
          </a:solidFill>
          <a:ln w="15240">
            <a:solidFill>
              <a:srgbClr val="3A4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59352" y="2258568"/>
            <a:ext cx="38404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2DCDC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59352" y="2514600"/>
            <a:ext cx="11247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Education KPI
Engineering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221224" y="2633472"/>
            <a:ext cx="228600" cy="868680"/>
          </a:xfrm>
          <a:prstGeom prst="line">
            <a:avLst/>
          </a:prstGeom>
          <a:ln w="17780">
            <a:solidFill>
              <a:srgbClr val="32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477256" y="3703320"/>
            <a:ext cx="1353312" cy="960120"/>
          </a:xfrm>
          <a:prstGeom prst="roundRect">
            <a:avLst/>
          </a:prstGeom>
          <a:solidFill>
            <a:srgbClr val="141B35"/>
          </a:solidFill>
          <a:ln w="15240">
            <a:solidFill>
              <a:srgbClr val="3A4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586984" y="3813048"/>
            <a:ext cx="38404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AE4D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86984" y="4069080"/>
            <a:ext cx="11247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Dashboard
Development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6848856" y="2624328"/>
            <a:ext cx="228600" cy="1563624"/>
          </a:xfrm>
          <a:prstGeom prst="line">
            <a:avLst/>
          </a:prstGeom>
          <a:ln w="17780">
            <a:solidFill>
              <a:srgbClr val="32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104888" y="2148840"/>
            <a:ext cx="1353312" cy="960120"/>
          </a:xfrm>
          <a:prstGeom prst="roundRect">
            <a:avLst/>
          </a:prstGeom>
          <a:solidFill>
            <a:srgbClr val="141B35"/>
          </a:solidFill>
          <a:ln w="15240">
            <a:solidFill>
              <a:srgbClr val="3A4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14616" y="2258568"/>
            <a:ext cx="38404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8548FF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4616" y="2514600"/>
            <a:ext cx="11247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Dashboard
Integration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76488" y="2633472"/>
            <a:ext cx="228600" cy="868680"/>
          </a:xfrm>
          <a:prstGeom prst="line">
            <a:avLst/>
          </a:prstGeom>
          <a:ln w="17780">
            <a:solidFill>
              <a:srgbClr val="32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732520" y="3703320"/>
            <a:ext cx="1353312" cy="960120"/>
          </a:xfrm>
          <a:prstGeom prst="roundRect">
            <a:avLst/>
          </a:prstGeom>
          <a:solidFill>
            <a:srgbClr val="141B35"/>
          </a:solidFill>
          <a:ln w="15240">
            <a:solidFill>
              <a:srgbClr val="3A4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42248" y="3813048"/>
            <a:ext cx="38404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98FFF"/>
                </a:solidFill>
                <a:latin typeface="Aptos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42248" y="4069080"/>
            <a:ext cx="11247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Testing &amp;
Validation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10104120" y="2624328"/>
            <a:ext cx="228600" cy="1563624"/>
          </a:xfrm>
          <a:prstGeom prst="line">
            <a:avLst/>
          </a:prstGeom>
          <a:ln w="17780">
            <a:solidFill>
              <a:srgbClr val="32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360152" y="2148840"/>
            <a:ext cx="1353312" cy="960120"/>
          </a:xfrm>
          <a:prstGeom prst="roundRect">
            <a:avLst/>
          </a:prstGeom>
          <a:solidFill>
            <a:srgbClr val="141B35"/>
          </a:solidFill>
          <a:ln w="15240">
            <a:solidFill>
              <a:srgbClr val="3A4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469880" y="2258568"/>
            <a:ext cx="38404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2DCDC"/>
                </a:solidFill>
                <a:latin typeface="Aptos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69880" y="2514600"/>
            <a:ext cx="11247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7FF"/>
                </a:solidFill>
                <a:latin typeface="Aptos"/>
              </a:rPr>
              <a:t>Documentation
&amp; Delivery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1554480"/>
            <a:ext cx="7315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2DCDC"/>
                </a:solidFill>
                <a:latin typeface="Aptos"/>
              </a:rPr>
              <a:t>INPUT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52760" y="5074920"/>
            <a:ext cx="7315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2DCDC"/>
                </a:solidFill>
                <a:latin typeface="Aptos"/>
              </a:rPr>
              <a:t>OUTPUT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19672"/>
            <a:ext cx="4572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>
                <a:solidFill>
                  <a:srgbClr val="A6AFCD"/>
                </a:solidFill>
                <a:latin typeface="Aptos"/>
              </a:rPr>
              <a:t>EDUVISION_DV  •  INTERNSHIP PROJECT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A6AFCD"/>
                </a:solidFill>
                <a:latin typeface="Aptos"/>
              </a:rPr>
              <a:t>08</a:t>
            </a:r>
          </a:p>
        </p:txBody>
      </p:sp>
      <p:sp>
        <p:nvSpPr>
          <p:cNvPr id="37" name="TextBox 36">
            <a:hlinkClick r:id="rId2" action="ppaction://hlinksldjump"/>
          </p:cNvPr>
          <p:cNvSpPr txBox="1"/>
          <p:nvPr/>
        </p:nvSpPr>
        <p:spPr>
          <a:xfrm>
            <a:off x="5989320" y="1170432"/>
            <a:ext cx="6858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Overview</a:t>
            </a:r>
          </a:p>
        </p:txBody>
      </p:sp>
      <p:sp>
        <p:nvSpPr>
          <p:cNvPr id="38" name="TextBox 37">
            <a:hlinkClick r:id="rId3" action="ppaction://hlinksldjump"/>
          </p:cNvPr>
          <p:cNvSpPr txBox="1"/>
          <p:nvPr/>
        </p:nvSpPr>
        <p:spPr>
          <a:xfrm>
            <a:off x="6720840" y="1170432"/>
            <a:ext cx="566928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Tech</a:t>
            </a:r>
          </a:p>
        </p:txBody>
      </p:sp>
      <p:sp>
        <p:nvSpPr>
          <p:cNvPr id="39" name="TextBox 38">
            <a:hlinkClick r:id="rId4" action="ppaction://hlinksldjump"/>
          </p:cNvPr>
          <p:cNvSpPr txBox="1"/>
          <p:nvPr/>
        </p:nvSpPr>
        <p:spPr>
          <a:xfrm>
            <a:off x="7315200" y="1170432"/>
            <a:ext cx="566928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Project</a:t>
            </a:r>
          </a:p>
        </p:txBody>
      </p:sp>
      <p:sp>
        <p:nvSpPr>
          <p:cNvPr id="40" name="TextBox 39">
            <a:hlinkClick r:id="rId5" action="ppaction://hlinksldjump"/>
          </p:cNvPr>
          <p:cNvSpPr txBox="1"/>
          <p:nvPr/>
        </p:nvSpPr>
        <p:spPr>
          <a:xfrm>
            <a:off x="7909560" y="1170432"/>
            <a:ext cx="621792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KPIs</a:t>
            </a:r>
          </a:p>
        </p:txBody>
      </p:sp>
      <p:sp>
        <p:nvSpPr>
          <p:cNvPr id="41" name="TextBox 40">
            <a:hlinkClick r:id="rId6" action="ppaction://hlinksldjump"/>
          </p:cNvPr>
          <p:cNvSpPr txBox="1"/>
          <p:nvPr/>
        </p:nvSpPr>
        <p:spPr>
          <a:xfrm>
            <a:off x="8595360" y="1170432"/>
            <a:ext cx="86868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32DCDC"/>
                </a:solidFill>
                <a:latin typeface="Aptos"/>
              </a:rPr>
              <a:t>Architecture</a:t>
            </a:r>
          </a:p>
        </p:txBody>
      </p:sp>
      <p:sp>
        <p:nvSpPr>
          <p:cNvPr id="42" name="TextBox 41">
            <a:hlinkClick r:id="rId7" action="ppaction://hlinksldjump"/>
          </p:cNvPr>
          <p:cNvSpPr txBox="1"/>
          <p:nvPr/>
        </p:nvSpPr>
        <p:spPr>
          <a:xfrm>
            <a:off x="9555480" y="1170432"/>
            <a:ext cx="6858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Modules</a:t>
            </a:r>
          </a:p>
        </p:txBody>
      </p:sp>
      <p:sp>
        <p:nvSpPr>
          <p:cNvPr id="43" name="TextBox 42">
            <a:hlinkClick r:id="rId8" action="ppaction://hlinksldjump"/>
          </p:cNvPr>
          <p:cNvSpPr txBox="1"/>
          <p:nvPr/>
        </p:nvSpPr>
        <p:spPr>
          <a:xfrm>
            <a:off x="10287000" y="1170432"/>
            <a:ext cx="749808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Contribution</a:t>
            </a:r>
          </a:p>
        </p:txBody>
      </p:sp>
      <p:sp>
        <p:nvSpPr>
          <p:cNvPr id="44" name="TextBox 43">
            <a:hlinkClick r:id="rId9" action="ppaction://hlinksldjump"/>
          </p:cNvPr>
          <p:cNvSpPr txBox="1"/>
          <p:nvPr/>
        </p:nvSpPr>
        <p:spPr>
          <a:xfrm>
            <a:off x="11064240" y="1170432"/>
            <a:ext cx="6858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Results</a:t>
            </a:r>
          </a:p>
        </p:txBody>
      </p:sp>
      <p:sp>
        <p:nvSpPr>
          <p:cNvPr id="45" name="TextBox 44">
            <a:hlinkClick r:id="rId10" action="ppaction://hlinksldjump"/>
          </p:cNvPr>
          <p:cNvSpPr txBox="1"/>
          <p:nvPr/>
        </p:nvSpPr>
        <p:spPr>
          <a:xfrm>
            <a:off x="594360" y="1170432"/>
            <a:ext cx="4572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A6AFCD"/>
                </a:solidFill>
                <a:latin typeface="Aptos"/>
              </a:rPr>
              <a:t>HOME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0352" y="1115568"/>
            <a:ext cx="7315200" cy="329184"/>
          </a:xfrm>
          <a:prstGeom prst="roundRect">
            <a:avLst/>
          </a:prstGeom>
          <a:solidFill>
            <a:srgbClr val="0C1127"/>
          </a:solidFill>
          <a:ln w="8890">
            <a:solidFill>
              <a:srgbClr val="344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hlinkClick r:id="rId10" action="ppaction://hlinksldjump"/>
          </p:cNvPr>
          <p:cNvSpPr txBox="1"/>
          <p:nvPr/>
        </p:nvSpPr>
        <p:spPr>
          <a:xfrm>
            <a:off x="594360" y="1188720"/>
            <a:ext cx="5029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HOME</a:t>
            </a:r>
          </a:p>
        </p:txBody>
      </p:sp>
      <p:sp>
        <p:nvSpPr>
          <p:cNvPr id="48" name="TextBox 47">
            <a:hlinkClick r:id="rId2" action="ppaction://hlinksldjump"/>
          </p:cNvPr>
          <p:cNvSpPr txBox="1"/>
          <p:nvPr/>
        </p:nvSpPr>
        <p:spPr>
          <a:xfrm>
            <a:off x="1234440" y="1188720"/>
            <a:ext cx="71323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OVERVIEW</a:t>
            </a:r>
          </a:p>
        </p:txBody>
      </p:sp>
      <p:sp>
        <p:nvSpPr>
          <p:cNvPr id="49" name="TextBox 48">
            <a:hlinkClick r:id="rId3" action="ppaction://hlinksldjump"/>
          </p:cNvPr>
          <p:cNvSpPr txBox="1"/>
          <p:nvPr/>
        </p:nvSpPr>
        <p:spPr>
          <a:xfrm>
            <a:off x="2057400" y="1188720"/>
            <a:ext cx="5943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TECH</a:t>
            </a:r>
          </a:p>
        </p:txBody>
      </p:sp>
      <p:sp>
        <p:nvSpPr>
          <p:cNvPr id="50" name="TextBox 49">
            <a:hlinkClick r:id="rId4" action="ppaction://hlinksldjump"/>
          </p:cNvPr>
          <p:cNvSpPr txBox="1"/>
          <p:nvPr/>
        </p:nvSpPr>
        <p:spPr>
          <a:xfrm>
            <a:off x="2852928" y="1188720"/>
            <a:ext cx="62179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PROJECT</a:t>
            </a:r>
          </a:p>
        </p:txBody>
      </p:sp>
      <p:sp>
        <p:nvSpPr>
          <p:cNvPr id="51" name="TextBox 50">
            <a:hlinkClick r:id="rId5" action="ppaction://hlinksldjump"/>
          </p:cNvPr>
          <p:cNvSpPr txBox="1"/>
          <p:nvPr/>
        </p:nvSpPr>
        <p:spPr>
          <a:xfrm>
            <a:off x="3703320" y="1188720"/>
            <a:ext cx="5029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KPI</a:t>
            </a:r>
          </a:p>
        </p:txBody>
      </p:sp>
      <p:sp>
        <p:nvSpPr>
          <p:cNvPr id="52" name="TextBox 51">
            <a:hlinkClick r:id="rId6" action="ppaction://hlinksldjump"/>
          </p:cNvPr>
          <p:cNvSpPr txBox="1"/>
          <p:nvPr/>
        </p:nvSpPr>
        <p:spPr>
          <a:xfrm>
            <a:off x="4370832" y="1188720"/>
            <a:ext cx="57607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ARCH</a:t>
            </a:r>
          </a:p>
        </p:txBody>
      </p:sp>
      <p:sp>
        <p:nvSpPr>
          <p:cNvPr id="53" name="TextBox 52">
            <a:hlinkClick r:id="rId7" action="ppaction://hlinksldjump"/>
          </p:cNvPr>
          <p:cNvSpPr txBox="1"/>
          <p:nvPr/>
        </p:nvSpPr>
        <p:spPr>
          <a:xfrm>
            <a:off x="5138928" y="1188720"/>
            <a:ext cx="65836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MODULES</a:t>
            </a:r>
          </a:p>
        </p:txBody>
      </p:sp>
      <p:sp>
        <p:nvSpPr>
          <p:cNvPr id="54" name="TextBox 53">
            <a:hlinkClick r:id="rId8" action="ppaction://hlinksldjump"/>
          </p:cNvPr>
          <p:cNvSpPr txBox="1"/>
          <p:nvPr/>
        </p:nvSpPr>
        <p:spPr>
          <a:xfrm>
            <a:off x="5989320" y="1188720"/>
            <a:ext cx="5029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WORK</a:t>
            </a:r>
          </a:p>
        </p:txBody>
      </p:sp>
      <p:sp>
        <p:nvSpPr>
          <p:cNvPr id="55" name="TextBox 54">
            <a:hlinkClick r:id="rId9" action="ppaction://hlinksldjump"/>
          </p:cNvPr>
          <p:cNvSpPr txBox="1"/>
          <p:nvPr/>
        </p:nvSpPr>
        <p:spPr>
          <a:xfrm>
            <a:off x="6766560" y="1188720"/>
            <a:ext cx="5943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RESULTS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4360" y="6510528"/>
            <a:ext cx="4114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A1ABCA"/>
                </a:solidFill>
                <a:latin typeface="Aptos"/>
              </a:rPr>
              <a:t>EDUVISION_DV  •  SPRINGBOARD INFOSYS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82528" y="649224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A1ABCA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138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5F7FF"/>
                </a:solidFill>
                <a:latin typeface="Aptos"/>
              </a:rPr>
              <a:t>Modules /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9601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6AFCD"/>
                </a:solidFill>
                <a:latin typeface="Aptos"/>
              </a:rPr>
              <a:t>Four interconnected dashboards built in Tableau.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38912"/>
            <a:ext cx="1508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32DCDC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5230368" cy="1664208"/>
          </a:xfrm>
          <a:prstGeom prst="roundRect">
            <a:avLst/>
          </a:prstGeom>
          <a:solidFill>
            <a:srgbClr val="141B35"/>
          </a:solidFill>
          <a:ln w="15240">
            <a:solidFill>
              <a:srgbClr val="3A4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508760"/>
            <a:ext cx="73152" cy="1664208"/>
          </a:xfrm>
          <a:prstGeom prst="rect">
            <a:avLst/>
          </a:prstGeom>
          <a:solidFill>
            <a:srgbClr val="8548FF"/>
          </a:solidFill>
          <a:ln>
            <a:solidFill>
              <a:srgbClr val="854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709928"/>
            <a:ext cx="457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8548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73351"/>
            <a:ext cx="3474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5F7FF"/>
                </a:solidFill>
                <a:latin typeface="Aptos"/>
              </a:rPr>
              <a:t>University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167128"/>
            <a:ext cx="4069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6AFCD"/>
                </a:solidFill>
                <a:latin typeface="Aptos"/>
              </a:rPr>
              <a:t>Rankings • global distribution • reputation • trends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0328" y="2761488"/>
            <a:ext cx="685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8548FF"/>
                </a:solidFill>
                <a:latin typeface="Aptos"/>
              </a:rPr>
              <a:t>INTERACTIVE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73368" y="1508760"/>
            <a:ext cx="5230368" cy="1664208"/>
          </a:xfrm>
          <a:prstGeom prst="roundRect">
            <a:avLst/>
          </a:prstGeom>
          <a:solidFill>
            <a:srgbClr val="141B35"/>
          </a:solidFill>
          <a:ln w="15240">
            <a:solidFill>
              <a:srgbClr val="3A4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73368" y="1508760"/>
            <a:ext cx="73152" cy="1664208"/>
          </a:xfrm>
          <a:prstGeom prst="rect">
            <a:avLst/>
          </a:prstGeom>
          <a:solidFill>
            <a:srgbClr val="398FFF"/>
          </a:solidFill>
          <a:ln>
            <a:solidFill>
              <a:srgbClr val="39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1709928"/>
            <a:ext cx="457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98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673351"/>
            <a:ext cx="3474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5F7FF"/>
                </a:solidFill>
                <a:latin typeface="Aptos"/>
              </a:rPr>
              <a:t>Research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2167128"/>
            <a:ext cx="4069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6AFCD"/>
                </a:solidFill>
                <a:latin typeface="Aptos"/>
              </a:rPr>
              <a:t>Publications • citations • productivity •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25328" y="2761488"/>
            <a:ext cx="685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398FFF"/>
                </a:solidFill>
                <a:latin typeface="Aptos"/>
              </a:rPr>
              <a:t>INTERACTIVE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657600"/>
            <a:ext cx="5230368" cy="1664208"/>
          </a:xfrm>
          <a:prstGeom prst="roundRect">
            <a:avLst/>
          </a:prstGeom>
          <a:solidFill>
            <a:srgbClr val="141B35"/>
          </a:solidFill>
          <a:ln w="15240">
            <a:solidFill>
              <a:srgbClr val="3A4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58368" y="3657600"/>
            <a:ext cx="73152" cy="1664208"/>
          </a:xfrm>
          <a:prstGeom prst="rect">
            <a:avLst/>
          </a:prstGeom>
          <a:solidFill>
            <a:srgbClr val="32DCDC"/>
          </a:solidFill>
          <a:ln>
            <a:solidFill>
              <a:srgbClr val="32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858768"/>
            <a:ext cx="457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2DCDC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822191"/>
            <a:ext cx="3474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5F7FF"/>
                </a:solidFill>
                <a:latin typeface="Aptos"/>
              </a:rPr>
              <a:t>Student 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315968"/>
            <a:ext cx="4069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6AFCD"/>
                </a:solidFill>
                <a:latin typeface="Aptos"/>
              </a:rPr>
              <a:t>International students • ratio • diversity • enrollment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10328" y="4910328"/>
            <a:ext cx="685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32DCDC"/>
                </a:solidFill>
                <a:latin typeface="Aptos"/>
              </a:rPr>
              <a:t>INTERACTIVE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73368" y="3657600"/>
            <a:ext cx="5230368" cy="1664208"/>
          </a:xfrm>
          <a:prstGeom prst="roundRect">
            <a:avLst/>
          </a:prstGeom>
          <a:solidFill>
            <a:srgbClr val="141B35"/>
          </a:solidFill>
          <a:ln w="15240">
            <a:solidFill>
              <a:srgbClr val="3A4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373368" y="3657600"/>
            <a:ext cx="73152" cy="1664208"/>
          </a:xfrm>
          <a:prstGeom prst="rect">
            <a:avLst/>
          </a:prstGeom>
          <a:solidFill>
            <a:srgbClr val="FFAE4D"/>
          </a:solidFill>
          <a:ln>
            <a:solidFill>
              <a:srgbClr val="FFAE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29400" y="3858768"/>
            <a:ext cx="457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AE4D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3822191"/>
            <a:ext cx="3474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5F7FF"/>
                </a:solidFill>
                <a:latin typeface="Aptos"/>
              </a:rPr>
              <a:t>Country Comparison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4315968"/>
            <a:ext cx="4069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6AFCD"/>
                </a:solidFill>
                <a:latin typeface="Aptos"/>
              </a:rPr>
              <a:t>Country ranking • benchmarking • regional trends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25328" y="4910328"/>
            <a:ext cx="685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FFAE4D"/>
                </a:solidFill>
                <a:latin typeface="Aptos"/>
              </a:rPr>
              <a:t>INTERACTIVE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9672"/>
            <a:ext cx="4572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>
                <a:solidFill>
                  <a:srgbClr val="A6AFCD"/>
                </a:solidFill>
                <a:latin typeface="Aptos"/>
              </a:rPr>
              <a:t>EDUVISION_DV  •  INTERNSHIP 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A6AFCD"/>
                </a:solidFill>
                <a:latin typeface="Aptos"/>
              </a:rPr>
              <a:t>09</a:t>
            </a:r>
          </a:p>
        </p:txBody>
      </p:sp>
      <p:sp>
        <p:nvSpPr>
          <p:cNvPr id="32" name="TextBox 31">
            <a:hlinkClick r:id="rId2" action="ppaction://hlinksldjump"/>
          </p:cNvPr>
          <p:cNvSpPr txBox="1"/>
          <p:nvPr/>
        </p:nvSpPr>
        <p:spPr>
          <a:xfrm>
            <a:off x="5989320" y="1170432"/>
            <a:ext cx="6858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Overview</a:t>
            </a:r>
          </a:p>
        </p:txBody>
      </p:sp>
      <p:sp>
        <p:nvSpPr>
          <p:cNvPr id="33" name="TextBox 32">
            <a:hlinkClick r:id="rId3" action="ppaction://hlinksldjump"/>
          </p:cNvPr>
          <p:cNvSpPr txBox="1"/>
          <p:nvPr/>
        </p:nvSpPr>
        <p:spPr>
          <a:xfrm>
            <a:off x="6720840" y="1170432"/>
            <a:ext cx="566928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Tech</a:t>
            </a:r>
          </a:p>
        </p:txBody>
      </p:sp>
      <p:sp>
        <p:nvSpPr>
          <p:cNvPr id="34" name="TextBox 33">
            <a:hlinkClick r:id="rId4" action="ppaction://hlinksldjump"/>
          </p:cNvPr>
          <p:cNvSpPr txBox="1"/>
          <p:nvPr/>
        </p:nvSpPr>
        <p:spPr>
          <a:xfrm>
            <a:off x="7315200" y="1170432"/>
            <a:ext cx="566928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Project</a:t>
            </a:r>
          </a:p>
        </p:txBody>
      </p:sp>
      <p:sp>
        <p:nvSpPr>
          <p:cNvPr id="35" name="TextBox 34">
            <a:hlinkClick r:id="rId5" action="ppaction://hlinksldjump"/>
          </p:cNvPr>
          <p:cNvSpPr txBox="1"/>
          <p:nvPr/>
        </p:nvSpPr>
        <p:spPr>
          <a:xfrm>
            <a:off x="7909560" y="1170432"/>
            <a:ext cx="621792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KPIs</a:t>
            </a:r>
          </a:p>
        </p:txBody>
      </p:sp>
      <p:sp>
        <p:nvSpPr>
          <p:cNvPr id="36" name="TextBox 35">
            <a:hlinkClick r:id="rId6" action="ppaction://hlinksldjump"/>
          </p:cNvPr>
          <p:cNvSpPr txBox="1"/>
          <p:nvPr/>
        </p:nvSpPr>
        <p:spPr>
          <a:xfrm>
            <a:off x="8595360" y="1170432"/>
            <a:ext cx="86868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Architecture</a:t>
            </a:r>
          </a:p>
        </p:txBody>
      </p:sp>
      <p:sp>
        <p:nvSpPr>
          <p:cNvPr id="37" name="TextBox 36">
            <a:hlinkClick r:id="rId7" action="ppaction://hlinksldjump"/>
          </p:cNvPr>
          <p:cNvSpPr txBox="1"/>
          <p:nvPr/>
        </p:nvSpPr>
        <p:spPr>
          <a:xfrm>
            <a:off x="9555480" y="1170432"/>
            <a:ext cx="6858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32DCDC"/>
                </a:solidFill>
                <a:latin typeface="Aptos"/>
              </a:rPr>
              <a:t>Modules</a:t>
            </a:r>
          </a:p>
        </p:txBody>
      </p:sp>
      <p:sp>
        <p:nvSpPr>
          <p:cNvPr id="38" name="TextBox 37">
            <a:hlinkClick r:id="rId8" action="ppaction://hlinksldjump"/>
          </p:cNvPr>
          <p:cNvSpPr txBox="1"/>
          <p:nvPr/>
        </p:nvSpPr>
        <p:spPr>
          <a:xfrm>
            <a:off x="10287000" y="1170432"/>
            <a:ext cx="749808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Contribution</a:t>
            </a:r>
          </a:p>
        </p:txBody>
      </p:sp>
      <p:sp>
        <p:nvSpPr>
          <p:cNvPr id="39" name="TextBox 38">
            <a:hlinkClick r:id="rId9" action="ppaction://hlinksldjump"/>
          </p:cNvPr>
          <p:cNvSpPr txBox="1"/>
          <p:nvPr/>
        </p:nvSpPr>
        <p:spPr>
          <a:xfrm>
            <a:off x="11064240" y="1170432"/>
            <a:ext cx="6858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Results</a:t>
            </a:r>
          </a:p>
        </p:txBody>
      </p:sp>
      <p:sp>
        <p:nvSpPr>
          <p:cNvPr id="40" name="TextBox 39">
            <a:hlinkClick r:id="rId10" action="ppaction://hlinksldjump"/>
          </p:cNvPr>
          <p:cNvSpPr txBox="1"/>
          <p:nvPr/>
        </p:nvSpPr>
        <p:spPr>
          <a:xfrm>
            <a:off x="594360" y="1170432"/>
            <a:ext cx="4572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A6AFCD"/>
                </a:solidFill>
                <a:latin typeface="Aptos"/>
              </a:rPr>
              <a:t>HOME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30352" y="1115568"/>
            <a:ext cx="7315200" cy="329184"/>
          </a:xfrm>
          <a:prstGeom prst="roundRect">
            <a:avLst/>
          </a:prstGeom>
          <a:solidFill>
            <a:srgbClr val="0C1127"/>
          </a:solidFill>
          <a:ln w="8890">
            <a:solidFill>
              <a:srgbClr val="344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hlinkClick r:id="rId10" action="ppaction://hlinksldjump"/>
          </p:cNvPr>
          <p:cNvSpPr txBox="1"/>
          <p:nvPr/>
        </p:nvSpPr>
        <p:spPr>
          <a:xfrm>
            <a:off x="594360" y="1188720"/>
            <a:ext cx="5029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HOME</a:t>
            </a:r>
          </a:p>
        </p:txBody>
      </p:sp>
      <p:sp>
        <p:nvSpPr>
          <p:cNvPr id="43" name="TextBox 42">
            <a:hlinkClick r:id="rId2" action="ppaction://hlinksldjump"/>
          </p:cNvPr>
          <p:cNvSpPr txBox="1"/>
          <p:nvPr/>
        </p:nvSpPr>
        <p:spPr>
          <a:xfrm>
            <a:off x="1234440" y="1188720"/>
            <a:ext cx="71323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OVERVIEW</a:t>
            </a:r>
          </a:p>
        </p:txBody>
      </p:sp>
      <p:sp>
        <p:nvSpPr>
          <p:cNvPr id="44" name="TextBox 43">
            <a:hlinkClick r:id="rId3" action="ppaction://hlinksldjump"/>
          </p:cNvPr>
          <p:cNvSpPr txBox="1"/>
          <p:nvPr/>
        </p:nvSpPr>
        <p:spPr>
          <a:xfrm>
            <a:off x="2057400" y="1188720"/>
            <a:ext cx="5943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TECH</a:t>
            </a:r>
          </a:p>
        </p:txBody>
      </p:sp>
      <p:sp>
        <p:nvSpPr>
          <p:cNvPr id="45" name="TextBox 44">
            <a:hlinkClick r:id="rId4" action="ppaction://hlinksldjump"/>
          </p:cNvPr>
          <p:cNvSpPr txBox="1"/>
          <p:nvPr/>
        </p:nvSpPr>
        <p:spPr>
          <a:xfrm>
            <a:off x="2852928" y="1188720"/>
            <a:ext cx="62179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PROJECT</a:t>
            </a:r>
          </a:p>
        </p:txBody>
      </p:sp>
      <p:sp>
        <p:nvSpPr>
          <p:cNvPr id="46" name="TextBox 45">
            <a:hlinkClick r:id="rId5" action="ppaction://hlinksldjump"/>
          </p:cNvPr>
          <p:cNvSpPr txBox="1"/>
          <p:nvPr/>
        </p:nvSpPr>
        <p:spPr>
          <a:xfrm>
            <a:off x="3703320" y="1188720"/>
            <a:ext cx="5029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KPI</a:t>
            </a:r>
          </a:p>
        </p:txBody>
      </p:sp>
      <p:sp>
        <p:nvSpPr>
          <p:cNvPr id="47" name="TextBox 46">
            <a:hlinkClick r:id="rId6" action="ppaction://hlinksldjump"/>
          </p:cNvPr>
          <p:cNvSpPr txBox="1"/>
          <p:nvPr/>
        </p:nvSpPr>
        <p:spPr>
          <a:xfrm>
            <a:off x="4370832" y="1188720"/>
            <a:ext cx="57607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ARCH</a:t>
            </a:r>
          </a:p>
        </p:txBody>
      </p:sp>
      <p:sp>
        <p:nvSpPr>
          <p:cNvPr id="48" name="TextBox 47">
            <a:hlinkClick r:id="rId7" action="ppaction://hlinksldjump"/>
          </p:cNvPr>
          <p:cNvSpPr txBox="1"/>
          <p:nvPr/>
        </p:nvSpPr>
        <p:spPr>
          <a:xfrm>
            <a:off x="5138928" y="1188720"/>
            <a:ext cx="65836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MODULES</a:t>
            </a:r>
          </a:p>
        </p:txBody>
      </p:sp>
      <p:sp>
        <p:nvSpPr>
          <p:cNvPr id="49" name="TextBox 48">
            <a:hlinkClick r:id="rId8" action="ppaction://hlinksldjump"/>
          </p:cNvPr>
          <p:cNvSpPr txBox="1"/>
          <p:nvPr/>
        </p:nvSpPr>
        <p:spPr>
          <a:xfrm>
            <a:off x="5989320" y="1188720"/>
            <a:ext cx="5029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WORK</a:t>
            </a:r>
          </a:p>
        </p:txBody>
      </p:sp>
      <p:sp>
        <p:nvSpPr>
          <p:cNvPr id="50" name="TextBox 49">
            <a:hlinkClick r:id="rId9" action="ppaction://hlinksldjump"/>
          </p:cNvPr>
          <p:cNvSpPr txBox="1"/>
          <p:nvPr/>
        </p:nvSpPr>
        <p:spPr>
          <a:xfrm>
            <a:off x="6766560" y="1188720"/>
            <a:ext cx="5943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RESULTS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6510528"/>
            <a:ext cx="4114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A1ABCA"/>
                </a:solidFill>
                <a:latin typeface="Aptos"/>
              </a:rPr>
              <a:t>EDUVISION_DV  •  SPRINGBOARD INFOSYS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82528" y="649224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A1ABCA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138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5F7FF"/>
                </a:solidFill>
                <a:latin typeface="Aptos"/>
              </a:rPr>
              <a:t>My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9601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6AFCD"/>
                </a:solidFill>
                <a:latin typeface="Aptos"/>
              </a:rPr>
              <a:t>The work performed across the project lifecycle.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38912"/>
            <a:ext cx="1508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32DCDC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3383280" cy="1627632"/>
          </a:xfrm>
          <a:prstGeom prst="roundRect">
            <a:avLst/>
          </a:prstGeom>
          <a:solidFill>
            <a:srgbClr val="141B35"/>
          </a:solidFill>
          <a:ln w="15240">
            <a:solidFill>
              <a:srgbClr val="3A4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59536" y="1636776"/>
            <a:ext cx="384048" cy="384048"/>
          </a:xfrm>
          <a:prstGeom prst="ellipse">
            <a:avLst/>
          </a:prstGeom>
          <a:solidFill>
            <a:srgbClr val="85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89888" y="1600200"/>
            <a:ext cx="2240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5F7FF"/>
                </a:solidFill>
                <a:latin typeface="Aptos"/>
              </a:rPr>
              <a:t>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103120"/>
            <a:ext cx="290779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6AFCD"/>
                </a:solidFill>
                <a:latin typeface="Aptos"/>
              </a:rPr>
              <a:t>Collected &amp; integrated university datasets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1417320"/>
            <a:ext cx="3383280" cy="1627632"/>
          </a:xfrm>
          <a:prstGeom prst="roundRect">
            <a:avLst/>
          </a:prstGeom>
          <a:solidFill>
            <a:srgbClr val="141B35"/>
          </a:solidFill>
          <a:ln w="15240">
            <a:solidFill>
              <a:srgbClr val="3A4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654296" y="1636776"/>
            <a:ext cx="384048" cy="384048"/>
          </a:xfrm>
          <a:prstGeom prst="ellipse">
            <a:avLst/>
          </a:prstGeom>
          <a:solidFill>
            <a:srgbClr val="39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84648" y="1600200"/>
            <a:ext cx="2240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5F7FF"/>
                </a:solidFill>
                <a:latin typeface="Aptos"/>
              </a:rPr>
              <a:t>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2103120"/>
            <a:ext cx="290779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6AFCD"/>
                </a:solidFill>
                <a:latin typeface="Aptos"/>
              </a:rPr>
              <a:t>Cleaned, standardized and transformed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47888" y="1417320"/>
            <a:ext cx="3383280" cy="1627632"/>
          </a:xfrm>
          <a:prstGeom prst="roundRect">
            <a:avLst/>
          </a:prstGeom>
          <a:solidFill>
            <a:srgbClr val="141B35"/>
          </a:solidFill>
          <a:ln w="15240">
            <a:solidFill>
              <a:srgbClr val="3A4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449056" y="1636776"/>
            <a:ext cx="384048" cy="384048"/>
          </a:xfrm>
          <a:prstGeom prst="ellipse">
            <a:avLst/>
          </a:prstGeom>
          <a:solidFill>
            <a:srgbClr val="32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79408" y="1600200"/>
            <a:ext cx="2240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5F7FF"/>
                </a:solidFill>
                <a:latin typeface="Aptos"/>
              </a:rPr>
              <a:t>KPI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6" y="2103120"/>
            <a:ext cx="290779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6AFCD"/>
                </a:solidFill>
                <a:latin typeface="Aptos"/>
              </a:rPr>
              <a:t>Engineered six education performance KPIs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566160"/>
            <a:ext cx="3383280" cy="1627632"/>
          </a:xfrm>
          <a:prstGeom prst="roundRect">
            <a:avLst/>
          </a:prstGeom>
          <a:solidFill>
            <a:srgbClr val="141B35"/>
          </a:solidFill>
          <a:ln w="15240">
            <a:solidFill>
              <a:srgbClr val="3A4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59536" y="3785616"/>
            <a:ext cx="384048" cy="384048"/>
          </a:xfrm>
          <a:prstGeom prst="ellipse">
            <a:avLst/>
          </a:prstGeom>
          <a:solidFill>
            <a:srgbClr val="FFA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89888" y="3749040"/>
            <a:ext cx="2240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5F7FF"/>
                </a:solidFill>
                <a:latin typeface="Aptos"/>
              </a:rPr>
              <a:t>DASHBOARDS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4251960"/>
            <a:ext cx="290779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6AFCD"/>
                </a:solidFill>
                <a:latin typeface="Aptos"/>
              </a:rPr>
              <a:t>Developed and integrated four Tableau dashboards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3128" y="3566160"/>
            <a:ext cx="3383280" cy="1627632"/>
          </a:xfrm>
          <a:prstGeom prst="roundRect">
            <a:avLst/>
          </a:prstGeom>
          <a:solidFill>
            <a:srgbClr val="141B35"/>
          </a:solidFill>
          <a:ln w="15240">
            <a:solidFill>
              <a:srgbClr val="3A4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654296" y="3785616"/>
            <a:ext cx="384048" cy="384048"/>
          </a:xfrm>
          <a:prstGeom prst="ellipse">
            <a:avLst/>
          </a:prstGeom>
          <a:solidFill>
            <a:srgbClr val="85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84648" y="3749040"/>
            <a:ext cx="2240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5F7FF"/>
                </a:solidFill>
                <a:latin typeface="Aptos"/>
              </a:rPr>
              <a:t>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54296" y="4251960"/>
            <a:ext cx="290779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6AFCD"/>
                </a:solidFill>
                <a:latin typeface="Aptos"/>
              </a:rPr>
              <a:t>Tested KPI calculations and dashboard interactions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47888" y="3566160"/>
            <a:ext cx="3383280" cy="1627632"/>
          </a:xfrm>
          <a:prstGeom prst="roundRect">
            <a:avLst/>
          </a:prstGeom>
          <a:solidFill>
            <a:srgbClr val="141B35"/>
          </a:solidFill>
          <a:ln w="15240">
            <a:solidFill>
              <a:srgbClr val="3A4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449056" y="3785616"/>
            <a:ext cx="384048" cy="384048"/>
          </a:xfrm>
          <a:prstGeom prst="ellipse">
            <a:avLst/>
          </a:prstGeom>
          <a:solidFill>
            <a:srgbClr val="39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79408" y="3749040"/>
            <a:ext cx="2240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5F7FF"/>
                </a:solidFill>
                <a:latin typeface="Aptos"/>
              </a:rPr>
              <a:t>DELIVERY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49056" y="4251960"/>
            <a:ext cx="290779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6AFCD"/>
                </a:solidFill>
                <a:latin typeface="Aptos"/>
              </a:rPr>
              <a:t>Prepared documentation and final project structure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9672"/>
            <a:ext cx="4572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>
                <a:solidFill>
                  <a:srgbClr val="A6AFCD"/>
                </a:solidFill>
                <a:latin typeface="Aptos"/>
              </a:rPr>
              <a:t>EDUVISION_DV  •  INTERNSHIP 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A6AFCD"/>
                </a:solidFill>
                <a:latin typeface="Aptos"/>
              </a:rPr>
              <a:t>10</a:t>
            </a:r>
          </a:p>
        </p:txBody>
      </p:sp>
      <p:sp>
        <p:nvSpPr>
          <p:cNvPr id="32" name="TextBox 31">
            <a:hlinkClick r:id="rId2" action="ppaction://hlinksldjump"/>
          </p:cNvPr>
          <p:cNvSpPr txBox="1"/>
          <p:nvPr/>
        </p:nvSpPr>
        <p:spPr>
          <a:xfrm>
            <a:off x="5989320" y="1170432"/>
            <a:ext cx="6858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Overview</a:t>
            </a:r>
          </a:p>
        </p:txBody>
      </p:sp>
      <p:sp>
        <p:nvSpPr>
          <p:cNvPr id="33" name="TextBox 32">
            <a:hlinkClick r:id="rId3" action="ppaction://hlinksldjump"/>
          </p:cNvPr>
          <p:cNvSpPr txBox="1"/>
          <p:nvPr/>
        </p:nvSpPr>
        <p:spPr>
          <a:xfrm>
            <a:off x="6720840" y="1170432"/>
            <a:ext cx="566928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Tech</a:t>
            </a:r>
          </a:p>
        </p:txBody>
      </p:sp>
      <p:sp>
        <p:nvSpPr>
          <p:cNvPr id="34" name="TextBox 33">
            <a:hlinkClick r:id="rId4" action="ppaction://hlinksldjump"/>
          </p:cNvPr>
          <p:cNvSpPr txBox="1"/>
          <p:nvPr/>
        </p:nvSpPr>
        <p:spPr>
          <a:xfrm>
            <a:off x="7315200" y="1170432"/>
            <a:ext cx="566928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Project</a:t>
            </a:r>
          </a:p>
        </p:txBody>
      </p:sp>
      <p:sp>
        <p:nvSpPr>
          <p:cNvPr id="35" name="TextBox 34">
            <a:hlinkClick r:id="rId5" action="ppaction://hlinksldjump"/>
          </p:cNvPr>
          <p:cNvSpPr txBox="1"/>
          <p:nvPr/>
        </p:nvSpPr>
        <p:spPr>
          <a:xfrm>
            <a:off x="7909560" y="1170432"/>
            <a:ext cx="621792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KPIs</a:t>
            </a:r>
          </a:p>
        </p:txBody>
      </p:sp>
      <p:sp>
        <p:nvSpPr>
          <p:cNvPr id="36" name="TextBox 35">
            <a:hlinkClick r:id="rId6" action="ppaction://hlinksldjump"/>
          </p:cNvPr>
          <p:cNvSpPr txBox="1"/>
          <p:nvPr/>
        </p:nvSpPr>
        <p:spPr>
          <a:xfrm>
            <a:off x="8595360" y="1170432"/>
            <a:ext cx="86868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Architecture</a:t>
            </a:r>
          </a:p>
        </p:txBody>
      </p:sp>
      <p:sp>
        <p:nvSpPr>
          <p:cNvPr id="37" name="TextBox 36">
            <a:hlinkClick r:id="rId7" action="ppaction://hlinksldjump"/>
          </p:cNvPr>
          <p:cNvSpPr txBox="1"/>
          <p:nvPr/>
        </p:nvSpPr>
        <p:spPr>
          <a:xfrm>
            <a:off x="9555480" y="1170432"/>
            <a:ext cx="6858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Modules</a:t>
            </a:r>
          </a:p>
        </p:txBody>
      </p:sp>
      <p:sp>
        <p:nvSpPr>
          <p:cNvPr id="38" name="TextBox 37">
            <a:hlinkClick r:id="rId8" action="ppaction://hlinksldjump"/>
          </p:cNvPr>
          <p:cNvSpPr txBox="1"/>
          <p:nvPr/>
        </p:nvSpPr>
        <p:spPr>
          <a:xfrm>
            <a:off x="10287000" y="1170432"/>
            <a:ext cx="749808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32DCDC"/>
                </a:solidFill>
                <a:latin typeface="Aptos"/>
              </a:rPr>
              <a:t>Contribution</a:t>
            </a:r>
          </a:p>
        </p:txBody>
      </p:sp>
      <p:sp>
        <p:nvSpPr>
          <p:cNvPr id="39" name="TextBox 38">
            <a:hlinkClick r:id="rId9" action="ppaction://hlinksldjump"/>
          </p:cNvPr>
          <p:cNvSpPr txBox="1"/>
          <p:nvPr/>
        </p:nvSpPr>
        <p:spPr>
          <a:xfrm>
            <a:off x="11064240" y="1170432"/>
            <a:ext cx="6858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Results</a:t>
            </a:r>
          </a:p>
        </p:txBody>
      </p:sp>
      <p:sp>
        <p:nvSpPr>
          <p:cNvPr id="40" name="TextBox 39">
            <a:hlinkClick r:id="rId10" action="ppaction://hlinksldjump"/>
          </p:cNvPr>
          <p:cNvSpPr txBox="1"/>
          <p:nvPr/>
        </p:nvSpPr>
        <p:spPr>
          <a:xfrm>
            <a:off x="594360" y="1170432"/>
            <a:ext cx="4572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A6AFCD"/>
                </a:solidFill>
                <a:latin typeface="Aptos"/>
              </a:rPr>
              <a:t>HOME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30352" y="1115568"/>
            <a:ext cx="7315200" cy="329184"/>
          </a:xfrm>
          <a:prstGeom prst="roundRect">
            <a:avLst/>
          </a:prstGeom>
          <a:solidFill>
            <a:srgbClr val="0C1127"/>
          </a:solidFill>
          <a:ln w="8890">
            <a:solidFill>
              <a:srgbClr val="344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hlinkClick r:id="rId10" action="ppaction://hlinksldjump"/>
          </p:cNvPr>
          <p:cNvSpPr txBox="1"/>
          <p:nvPr/>
        </p:nvSpPr>
        <p:spPr>
          <a:xfrm>
            <a:off x="594360" y="1188720"/>
            <a:ext cx="5029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HOME</a:t>
            </a:r>
          </a:p>
        </p:txBody>
      </p:sp>
      <p:sp>
        <p:nvSpPr>
          <p:cNvPr id="43" name="TextBox 42">
            <a:hlinkClick r:id="rId2" action="ppaction://hlinksldjump"/>
          </p:cNvPr>
          <p:cNvSpPr txBox="1"/>
          <p:nvPr/>
        </p:nvSpPr>
        <p:spPr>
          <a:xfrm>
            <a:off x="1234440" y="1188720"/>
            <a:ext cx="71323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OVERVIEW</a:t>
            </a:r>
          </a:p>
        </p:txBody>
      </p:sp>
      <p:sp>
        <p:nvSpPr>
          <p:cNvPr id="44" name="TextBox 43">
            <a:hlinkClick r:id="rId3" action="ppaction://hlinksldjump"/>
          </p:cNvPr>
          <p:cNvSpPr txBox="1"/>
          <p:nvPr/>
        </p:nvSpPr>
        <p:spPr>
          <a:xfrm>
            <a:off x="2057400" y="1188720"/>
            <a:ext cx="5943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TECH</a:t>
            </a:r>
          </a:p>
        </p:txBody>
      </p:sp>
      <p:sp>
        <p:nvSpPr>
          <p:cNvPr id="45" name="TextBox 44">
            <a:hlinkClick r:id="rId4" action="ppaction://hlinksldjump"/>
          </p:cNvPr>
          <p:cNvSpPr txBox="1"/>
          <p:nvPr/>
        </p:nvSpPr>
        <p:spPr>
          <a:xfrm>
            <a:off x="2852928" y="1188720"/>
            <a:ext cx="62179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PROJECT</a:t>
            </a:r>
          </a:p>
        </p:txBody>
      </p:sp>
      <p:sp>
        <p:nvSpPr>
          <p:cNvPr id="46" name="TextBox 45">
            <a:hlinkClick r:id="rId5" action="ppaction://hlinksldjump"/>
          </p:cNvPr>
          <p:cNvSpPr txBox="1"/>
          <p:nvPr/>
        </p:nvSpPr>
        <p:spPr>
          <a:xfrm>
            <a:off x="3703320" y="1188720"/>
            <a:ext cx="5029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KPI</a:t>
            </a:r>
          </a:p>
        </p:txBody>
      </p:sp>
      <p:sp>
        <p:nvSpPr>
          <p:cNvPr id="47" name="TextBox 46">
            <a:hlinkClick r:id="rId6" action="ppaction://hlinksldjump"/>
          </p:cNvPr>
          <p:cNvSpPr txBox="1"/>
          <p:nvPr/>
        </p:nvSpPr>
        <p:spPr>
          <a:xfrm>
            <a:off x="4370832" y="1188720"/>
            <a:ext cx="57607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ARCH</a:t>
            </a:r>
          </a:p>
        </p:txBody>
      </p:sp>
      <p:sp>
        <p:nvSpPr>
          <p:cNvPr id="48" name="TextBox 47">
            <a:hlinkClick r:id="rId7" action="ppaction://hlinksldjump"/>
          </p:cNvPr>
          <p:cNvSpPr txBox="1"/>
          <p:nvPr/>
        </p:nvSpPr>
        <p:spPr>
          <a:xfrm>
            <a:off x="5138928" y="1188720"/>
            <a:ext cx="65836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MODULES</a:t>
            </a:r>
          </a:p>
        </p:txBody>
      </p:sp>
      <p:sp>
        <p:nvSpPr>
          <p:cNvPr id="49" name="TextBox 48">
            <a:hlinkClick r:id="rId8" action="ppaction://hlinksldjump"/>
          </p:cNvPr>
          <p:cNvSpPr txBox="1"/>
          <p:nvPr/>
        </p:nvSpPr>
        <p:spPr>
          <a:xfrm>
            <a:off x="5989320" y="1188720"/>
            <a:ext cx="5029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WORK</a:t>
            </a:r>
          </a:p>
        </p:txBody>
      </p:sp>
      <p:sp>
        <p:nvSpPr>
          <p:cNvPr id="50" name="TextBox 49">
            <a:hlinkClick r:id="rId9" action="ppaction://hlinksldjump"/>
          </p:cNvPr>
          <p:cNvSpPr txBox="1"/>
          <p:nvPr/>
        </p:nvSpPr>
        <p:spPr>
          <a:xfrm>
            <a:off x="6766560" y="1188720"/>
            <a:ext cx="5943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RESULTS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6510528"/>
            <a:ext cx="4114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A1ABCA"/>
                </a:solidFill>
                <a:latin typeface="Aptos"/>
              </a:rPr>
              <a:t>EDUVISION_DV  •  SPRINGBOARD INFOSYS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82528" y="649224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A1ABCA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138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5F7FF"/>
                </a:solidFill>
                <a:latin typeface="Aptos"/>
              </a:rPr>
              <a:t>Challenges &amp;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9601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6AFCD"/>
                </a:solidFill>
                <a:latin typeface="Aptos"/>
              </a:rPr>
              <a:t>Key practical challenges encountered during the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38912"/>
            <a:ext cx="1508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32DCDC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53312"/>
            <a:ext cx="10835640" cy="960120"/>
          </a:xfrm>
          <a:prstGeom prst="roundRect">
            <a:avLst/>
          </a:prstGeom>
          <a:solidFill>
            <a:srgbClr val="141B35"/>
          </a:solidFill>
          <a:ln w="15240">
            <a:solidFill>
              <a:srgbClr val="3A4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96112" y="1609344"/>
            <a:ext cx="411480" cy="411480"/>
          </a:xfrm>
          <a:prstGeom prst="ellipse">
            <a:avLst/>
          </a:prstGeom>
          <a:solidFill>
            <a:srgbClr val="85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08760" y="1499616"/>
            <a:ext cx="19202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5F7FF"/>
                </a:solidFill>
                <a:latin typeface="Aptos"/>
              </a:rPr>
              <a:t>Inconsistent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463040"/>
            <a:ext cx="3246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6AFCD"/>
                </a:solidFill>
                <a:latin typeface="Aptos"/>
              </a:rPr>
              <a:t>Different ranking fields and naming conventions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9712" y="1618488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8548FF"/>
                </a:solidFill>
                <a:latin typeface="Aptos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463040"/>
            <a:ext cx="37947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5F7FF"/>
                </a:solidFill>
                <a:latin typeface="Aptos"/>
              </a:rPr>
              <a:t>Standardized fields and prepared a common structure.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587752"/>
            <a:ext cx="10835640" cy="960120"/>
          </a:xfrm>
          <a:prstGeom prst="roundRect">
            <a:avLst/>
          </a:prstGeom>
          <a:solidFill>
            <a:srgbClr val="141B35"/>
          </a:solidFill>
          <a:ln w="15240">
            <a:solidFill>
              <a:srgbClr val="3A4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96112" y="2843784"/>
            <a:ext cx="411480" cy="411480"/>
          </a:xfrm>
          <a:prstGeom prst="ellipse">
            <a:avLst/>
          </a:prstGeom>
          <a:solidFill>
            <a:srgbClr val="39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08760" y="2734056"/>
            <a:ext cx="19202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5F7FF"/>
                </a:solidFill>
                <a:latin typeface="Aptos"/>
              </a:rPr>
              <a:t>Data 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697480"/>
            <a:ext cx="3246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6AFCD"/>
                </a:solidFill>
                <a:latin typeface="Aptos"/>
              </a:rPr>
              <a:t>Duplicates / missing values could affect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2852928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398FFF"/>
                </a:solidFill>
                <a:latin typeface="Apto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697480"/>
            <a:ext cx="37947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5F7FF"/>
                </a:solidFill>
                <a:latin typeface="Aptos"/>
              </a:rPr>
              <a:t>Applied cleaning and validation before KPI generation.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822191"/>
            <a:ext cx="10835640" cy="960120"/>
          </a:xfrm>
          <a:prstGeom prst="roundRect">
            <a:avLst/>
          </a:prstGeom>
          <a:solidFill>
            <a:srgbClr val="141B35"/>
          </a:solidFill>
          <a:ln w="15240">
            <a:solidFill>
              <a:srgbClr val="3A4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96112" y="4078224"/>
            <a:ext cx="411480" cy="411480"/>
          </a:xfrm>
          <a:prstGeom prst="ellipse">
            <a:avLst/>
          </a:prstGeom>
          <a:solidFill>
            <a:srgbClr val="32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508760" y="3968496"/>
            <a:ext cx="19202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5F7FF"/>
                </a:solidFill>
                <a:latin typeface="Aptos"/>
              </a:rPr>
              <a:t>KPI consistency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3931920"/>
            <a:ext cx="3246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6AFCD"/>
                </a:solidFill>
                <a:latin typeface="Aptos"/>
              </a:rPr>
              <a:t>Multiple source indicators needed a unified metric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9712" y="4087368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32DCDC"/>
                </a:solidFill>
                <a:latin typeface="Aptos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931920"/>
            <a:ext cx="37947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5F7FF"/>
                </a:solidFill>
                <a:latin typeface="Aptos"/>
              </a:rPr>
              <a:t>Used defined calculation formulas for six KPIs.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056632"/>
            <a:ext cx="10835640" cy="960120"/>
          </a:xfrm>
          <a:prstGeom prst="roundRect">
            <a:avLst/>
          </a:prstGeom>
          <a:solidFill>
            <a:srgbClr val="141B35"/>
          </a:solidFill>
          <a:ln w="15240">
            <a:solidFill>
              <a:srgbClr val="3A4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96112" y="5312664"/>
            <a:ext cx="411480" cy="411480"/>
          </a:xfrm>
          <a:prstGeom prst="ellipse">
            <a:avLst/>
          </a:prstGeom>
          <a:solidFill>
            <a:srgbClr val="FFA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508760" y="5202936"/>
            <a:ext cx="19202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5F7FF"/>
                </a:solidFill>
                <a:latin typeface="Aptos"/>
              </a:rPr>
              <a:t>Dashboard complexity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5166360"/>
            <a:ext cx="3246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6AFCD"/>
                </a:solidFill>
                <a:latin typeface="Aptos"/>
              </a:rPr>
              <a:t>Multiple analytics views had to work together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5321808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AE4D"/>
                </a:solidFill>
                <a:latin typeface="Aptos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5166360"/>
            <a:ext cx="37947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5F7FF"/>
                </a:solidFill>
                <a:latin typeface="Aptos"/>
              </a:rPr>
              <a:t>Used filters, parameters, actions and dashboard linking.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9672"/>
            <a:ext cx="4572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>
                <a:solidFill>
                  <a:srgbClr val="A6AFCD"/>
                </a:solidFill>
                <a:latin typeface="Aptos"/>
              </a:rPr>
              <a:t>EDUVISION_DV  •  INTERNSHIP 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A6AFCD"/>
                </a:solidFill>
                <a:latin typeface="Aptos"/>
              </a:rPr>
              <a:t>11</a:t>
            </a:r>
          </a:p>
        </p:txBody>
      </p:sp>
      <p:sp>
        <p:nvSpPr>
          <p:cNvPr id="32" name="TextBox 31">
            <a:hlinkClick r:id="rId2" action="ppaction://hlinksldjump"/>
          </p:cNvPr>
          <p:cNvSpPr txBox="1"/>
          <p:nvPr/>
        </p:nvSpPr>
        <p:spPr>
          <a:xfrm>
            <a:off x="5989320" y="1170432"/>
            <a:ext cx="6858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Overview</a:t>
            </a:r>
          </a:p>
        </p:txBody>
      </p:sp>
      <p:sp>
        <p:nvSpPr>
          <p:cNvPr id="33" name="TextBox 32">
            <a:hlinkClick r:id="rId3" action="ppaction://hlinksldjump"/>
          </p:cNvPr>
          <p:cNvSpPr txBox="1"/>
          <p:nvPr/>
        </p:nvSpPr>
        <p:spPr>
          <a:xfrm>
            <a:off x="6720840" y="1170432"/>
            <a:ext cx="566928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Tech</a:t>
            </a:r>
          </a:p>
        </p:txBody>
      </p:sp>
      <p:sp>
        <p:nvSpPr>
          <p:cNvPr id="34" name="TextBox 33">
            <a:hlinkClick r:id="rId4" action="ppaction://hlinksldjump"/>
          </p:cNvPr>
          <p:cNvSpPr txBox="1"/>
          <p:nvPr/>
        </p:nvSpPr>
        <p:spPr>
          <a:xfrm>
            <a:off x="7315200" y="1170432"/>
            <a:ext cx="566928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Project</a:t>
            </a:r>
          </a:p>
        </p:txBody>
      </p:sp>
      <p:sp>
        <p:nvSpPr>
          <p:cNvPr id="35" name="TextBox 34">
            <a:hlinkClick r:id="rId5" action="ppaction://hlinksldjump"/>
          </p:cNvPr>
          <p:cNvSpPr txBox="1"/>
          <p:nvPr/>
        </p:nvSpPr>
        <p:spPr>
          <a:xfrm>
            <a:off x="7909560" y="1170432"/>
            <a:ext cx="621792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KPIs</a:t>
            </a:r>
          </a:p>
        </p:txBody>
      </p:sp>
      <p:sp>
        <p:nvSpPr>
          <p:cNvPr id="36" name="TextBox 35">
            <a:hlinkClick r:id="rId6" action="ppaction://hlinksldjump"/>
          </p:cNvPr>
          <p:cNvSpPr txBox="1"/>
          <p:nvPr/>
        </p:nvSpPr>
        <p:spPr>
          <a:xfrm>
            <a:off x="8595360" y="1170432"/>
            <a:ext cx="86868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Architecture</a:t>
            </a:r>
          </a:p>
        </p:txBody>
      </p:sp>
      <p:sp>
        <p:nvSpPr>
          <p:cNvPr id="37" name="TextBox 36">
            <a:hlinkClick r:id="rId7" action="ppaction://hlinksldjump"/>
          </p:cNvPr>
          <p:cNvSpPr txBox="1"/>
          <p:nvPr/>
        </p:nvSpPr>
        <p:spPr>
          <a:xfrm>
            <a:off x="9555480" y="1170432"/>
            <a:ext cx="6858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Modules</a:t>
            </a:r>
          </a:p>
        </p:txBody>
      </p:sp>
      <p:sp>
        <p:nvSpPr>
          <p:cNvPr id="38" name="TextBox 37">
            <a:hlinkClick r:id="rId8" action="ppaction://hlinksldjump"/>
          </p:cNvPr>
          <p:cNvSpPr txBox="1"/>
          <p:nvPr/>
        </p:nvSpPr>
        <p:spPr>
          <a:xfrm>
            <a:off x="10287000" y="1170432"/>
            <a:ext cx="749808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32DCDC"/>
                </a:solidFill>
                <a:latin typeface="Aptos"/>
              </a:rPr>
              <a:t>Contribution</a:t>
            </a:r>
          </a:p>
        </p:txBody>
      </p:sp>
      <p:sp>
        <p:nvSpPr>
          <p:cNvPr id="39" name="TextBox 38">
            <a:hlinkClick r:id="rId9" action="ppaction://hlinksldjump"/>
          </p:cNvPr>
          <p:cNvSpPr txBox="1"/>
          <p:nvPr/>
        </p:nvSpPr>
        <p:spPr>
          <a:xfrm>
            <a:off x="11064240" y="1170432"/>
            <a:ext cx="6858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Results</a:t>
            </a:r>
          </a:p>
        </p:txBody>
      </p:sp>
      <p:sp>
        <p:nvSpPr>
          <p:cNvPr id="40" name="TextBox 39">
            <a:hlinkClick r:id="rId10" action="ppaction://hlinksldjump"/>
          </p:cNvPr>
          <p:cNvSpPr txBox="1"/>
          <p:nvPr/>
        </p:nvSpPr>
        <p:spPr>
          <a:xfrm>
            <a:off x="594360" y="1170432"/>
            <a:ext cx="4572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A6AFCD"/>
                </a:solidFill>
                <a:latin typeface="Aptos"/>
              </a:rPr>
              <a:t>HOME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30352" y="1115568"/>
            <a:ext cx="7315200" cy="329184"/>
          </a:xfrm>
          <a:prstGeom prst="roundRect">
            <a:avLst/>
          </a:prstGeom>
          <a:solidFill>
            <a:srgbClr val="0C1127"/>
          </a:solidFill>
          <a:ln w="8890">
            <a:solidFill>
              <a:srgbClr val="344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hlinkClick r:id="rId10" action="ppaction://hlinksldjump"/>
          </p:cNvPr>
          <p:cNvSpPr txBox="1"/>
          <p:nvPr/>
        </p:nvSpPr>
        <p:spPr>
          <a:xfrm>
            <a:off x="594360" y="1188720"/>
            <a:ext cx="5029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HOME</a:t>
            </a:r>
          </a:p>
        </p:txBody>
      </p:sp>
      <p:sp>
        <p:nvSpPr>
          <p:cNvPr id="43" name="TextBox 42">
            <a:hlinkClick r:id="rId2" action="ppaction://hlinksldjump"/>
          </p:cNvPr>
          <p:cNvSpPr txBox="1"/>
          <p:nvPr/>
        </p:nvSpPr>
        <p:spPr>
          <a:xfrm>
            <a:off x="1234440" y="1188720"/>
            <a:ext cx="71323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OVERVIEW</a:t>
            </a:r>
          </a:p>
        </p:txBody>
      </p:sp>
      <p:sp>
        <p:nvSpPr>
          <p:cNvPr id="44" name="TextBox 43">
            <a:hlinkClick r:id="rId3" action="ppaction://hlinksldjump"/>
          </p:cNvPr>
          <p:cNvSpPr txBox="1"/>
          <p:nvPr/>
        </p:nvSpPr>
        <p:spPr>
          <a:xfrm>
            <a:off x="2057400" y="1188720"/>
            <a:ext cx="5943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TECH</a:t>
            </a:r>
          </a:p>
        </p:txBody>
      </p:sp>
      <p:sp>
        <p:nvSpPr>
          <p:cNvPr id="45" name="TextBox 44">
            <a:hlinkClick r:id="rId4" action="ppaction://hlinksldjump"/>
          </p:cNvPr>
          <p:cNvSpPr txBox="1"/>
          <p:nvPr/>
        </p:nvSpPr>
        <p:spPr>
          <a:xfrm>
            <a:off x="2852928" y="1188720"/>
            <a:ext cx="62179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PROJECT</a:t>
            </a:r>
          </a:p>
        </p:txBody>
      </p:sp>
      <p:sp>
        <p:nvSpPr>
          <p:cNvPr id="46" name="TextBox 45">
            <a:hlinkClick r:id="rId5" action="ppaction://hlinksldjump"/>
          </p:cNvPr>
          <p:cNvSpPr txBox="1"/>
          <p:nvPr/>
        </p:nvSpPr>
        <p:spPr>
          <a:xfrm>
            <a:off x="3703320" y="1188720"/>
            <a:ext cx="5029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KPI</a:t>
            </a:r>
          </a:p>
        </p:txBody>
      </p:sp>
      <p:sp>
        <p:nvSpPr>
          <p:cNvPr id="47" name="TextBox 46">
            <a:hlinkClick r:id="rId6" action="ppaction://hlinksldjump"/>
          </p:cNvPr>
          <p:cNvSpPr txBox="1"/>
          <p:nvPr/>
        </p:nvSpPr>
        <p:spPr>
          <a:xfrm>
            <a:off x="4370832" y="1188720"/>
            <a:ext cx="57607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ARCH</a:t>
            </a:r>
          </a:p>
        </p:txBody>
      </p:sp>
      <p:sp>
        <p:nvSpPr>
          <p:cNvPr id="48" name="TextBox 47">
            <a:hlinkClick r:id="rId7" action="ppaction://hlinksldjump"/>
          </p:cNvPr>
          <p:cNvSpPr txBox="1"/>
          <p:nvPr/>
        </p:nvSpPr>
        <p:spPr>
          <a:xfrm>
            <a:off x="5138928" y="1188720"/>
            <a:ext cx="65836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MODULES</a:t>
            </a:r>
          </a:p>
        </p:txBody>
      </p:sp>
      <p:sp>
        <p:nvSpPr>
          <p:cNvPr id="49" name="TextBox 48">
            <a:hlinkClick r:id="rId8" action="ppaction://hlinksldjump"/>
          </p:cNvPr>
          <p:cNvSpPr txBox="1"/>
          <p:nvPr/>
        </p:nvSpPr>
        <p:spPr>
          <a:xfrm>
            <a:off x="5989320" y="1188720"/>
            <a:ext cx="5029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WORK</a:t>
            </a:r>
          </a:p>
        </p:txBody>
      </p:sp>
      <p:sp>
        <p:nvSpPr>
          <p:cNvPr id="50" name="TextBox 49">
            <a:hlinkClick r:id="rId9" action="ppaction://hlinksldjump"/>
          </p:cNvPr>
          <p:cNvSpPr txBox="1"/>
          <p:nvPr/>
        </p:nvSpPr>
        <p:spPr>
          <a:xfrm>
            <a:off x="6766560" y="1188720"/>
            <a:ext cx="5943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RESULTS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6510528"/>
            <a:ext cx="4114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A1ABCA"/>
                </a:solidFill>
                <a:latin typeface="Aptos"/>
              </a:rPr>
              <a:t>EDUVISION_DV  •  SPRINGBOARD INFOSYS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82528" y="649224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A1ABCA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138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5F7FF"/>
                </a:solidFill>
                <a:latin typeface="Aptos"/>
              </a:rPr>
              <a:t>Skills Gained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9601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6AFCD"/>
                </a:solidFill>
                <a:latin typeface="Aptos"/>
              </a:rPr>
              <a:t>Technical and analytical skills developed during the internship.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38912"/>
            <a:ext cx="1508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32DCDC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514600" cy="1600200"/>
          </a:xfrm>
          <a:prstGeom prst="roundRect">
            <a:avLst/>
          </a:prstGeom>
          <a:solidFill>
            <a:srgbClr val="141B35"/>
          </a:solidFill>
          <a:ln w="15240">
            <a:solidFill>
              <a:srgbClr val="3A4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645920"/>
            <a:ext cx="411480" cy="411480"/>
          </a:xfrm>
          <a:prstGeom prst="ellipse">
            <a:avLst/>
          </a:prstGeom>
          <a:solidFill>
            <a:srgbClr val="85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1618488"/>
            <a:ext cx="1554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5F7FF"/>
                </a:solidFill>
                <a:latin typeface="Aptos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258568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6AFCD"/>
                </a:solidFill>
                <a:latin typeface="Aptos"/>
              </a:rPr>
              <a:t>Data handling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417320"/>
            <a:ext cx="2514600" cy="1600200"/>
          </a:xfrm>
          <a:prstGeom prst="roundRect">
            <a:avLst/>
          </a:prstGeom>
          <a:solidFill>
            <a:srgbClr val="141B35"/>
          </a:solidFill>
          <a:ln w="15240">
            <a:solidFill>
              <a:srgbClr val="3A4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657600" y="1645920"/>
            <a:ext cx="411480" cy="411480"/>
          </a:xfrm>
          <a:prstGeom prst="ellipse">
            <a:avLst/>
          </a:prstGeom>
          <a:solidFill>
            <a:srgbClr val="39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06240" y="1618488"/>
            <a:ext cx="1554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5F7FF"/>
                </a:solidFill>
                <a:latin typeface="Aptos"/>
              </a:rPr>
              <a:t>Pandas / NumPy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258568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6AFCD"/>
                </a:solidFill>
                <a:latin typeface="Aptos"/>
              </a:rPr>
              <a:t>Processing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2514600" cy="1600200"/>
          </a:xfrm>
          <a:prstGeom prst="roundRect">
            <a:avLst/>
          </a:prstGeom>
          <a:solidFill>
            <a:srgbClr val="141B35"/>
          </a:solidFill>
          <a:ln w="15240">
            <a:solidFill>
              <a:srgbClr val="3A4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492240" y="1645920"/>
            <a:ext cx="411480" cy="411480"/>
          </a:xfrm>
          <a:prstGeom prst="ellipse">
            <a:avLst/>
          </a:prstGeom>
          <a:solidFill>
            <a:srgbClr val="32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40880" y="1618488"/>
            <a:ext cx="1554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5F7FF"/>
                </a:solidFill>
                <a:latin typeface="Aptos"/>
              </a:rPr>
              <a:t>Data Cleaning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258568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6AFCD"/>
                </a:solidFill>
                <a:latin typeface="Aptos"/>
              </a:rPr>
              <a:t>Quality &amp; consistency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417320"/>
            <a:ext cx="2514600" cy="1600200"/>
          </a:xfrm>
          <a:prstGeom prst="roundRect">
            <a:avLst/>
          </a:prstGeom>
          <a:solidFill>
            <a:srgbClr val="141B35"/>
          </a:solidFill>
          <a:ln w="15240">
            <a:solidFill>
              <a:srgbClr val="3A4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326880" y="1645920"/>
            <a:ext cx="411480" cy="411480"/>
          </a:xfrm>
          <a:prstGeom prst="ellipse">
            <a:avLst/>
          </a:prstGeom>
          <a:solidFill>
            <a:srgbClr val="FFA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75520" y="1618488"/>
            <a:ext cx="1554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5F7FF"/>
                </a:solidFill>
                <a:latin typeface="Aptos"/>
              </a:rPr>
              <a:t>KPI 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258568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6AFCD"/>
                </a:solidFill>
                <a:latin typeface="Aptos"/>
              </a:rPr>
              <a:t>Metric design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566160"/>
            <a:ext cx="2514600" cy="1600200"/>
          </a:xfrm>
          <a:prstGeom prst="roundRect">
            <a:avLst/>
          </a:prstGeom>
          <a:solidFill>
            <a:srgbClr val="141B35"/>
          </a:solidFill>
          <a:ln w="15240">
            <a:solidFill>
              <a:srgbClr val="3A4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22959" y="3794760"/>
            <a:ext cx="411480" cy="411480"/>
          </a:xfrm>
          <a:prstGeom prst="ellipse">
            <a:avLst/>
          </a:prstGeom>
          <a:solidFill>
            <a:srgbClr val="85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371600" y="3767328"/>
            <a:ext cx="1554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5F7FF"/>
                </a:solidFill>
                <a:latin typeface="Aptos"/>
              </a:rPr>
              <a:t>Tableau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4407408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6AFCD"/>
                </a:solidFill>
                <a:latin typeface="Aptos"/>
              </a:rPr>
              <a:t>Visualization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0" y="3566160"/>
            <a:ext cx="2514600" cy="1600200"/>
          </a:xfrm>
          <a:prstGeom prst="roundRect">
            <a:avLst/>
          </a:prstGeom>
          <a:solidFill>
            <a:srgbClr val="141B35"/>
          </a:solidFill>
          <a:ln w="15240">
            <a:solidFill>
              <a:srgbClr val="3A4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657600" y="3794760"/>
            <a:ext cx="411480" cy="411480"/>
          </a:xfrm>
          <a:prstGeom prst="ellipse">
            <a:avLst/>
          </a:prstGeom>
          <a:solidFill>
            <a:srgbClr val="39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06240" y="3767328"/>
            <a:ext cx="1554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5F7FF"/>
                </a:solidFill>
                <a:latin typeface="Aptos"/>
              </a:rPr>
              <a:t>Dashboard Design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4407408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6AFCD"/>
                </a:solidFill>
                <a:latin typeface="Aptos"/>
              </a:rPr>
              <a:t>UX &amp; storytelling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3566160"/>
            <a:ext cx="2514600" cy="1600200"/>
          </a:xfrm>
          <a:prstGeom prst="roundRect">
            <a:avLst/>
          </a:prstGeom>
          <a:solidFill>
            <a:srgbClr val="141B35"/>
          </a:solidFill>
          <a:ln w="15240">
            <a:solidFill>
              <a:srgbClr val="3A4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492240" y="3794760"/>
            <a:ext cx="411480" cy="411480"/>
          </a:xfrm>
          <a:prstGeom prst="ellipse">
            <a:avLst/>
          </a:prstGeom>
          <a:solidFill>
            <a:srgbClr val="32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40880" y="3767328"/>
            <a:ext cx="1554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5F7FF"/>
                </a:solidFill>
                <a:latin typeface="Aptos"/>
              </a:rPr>
              <a:t>Data Analysis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407408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6AFCD"/>
                </a:solidFill>
                <a:latin typeface="Aptos"/>
              </a:rPr>
              <a:t>Comparisons &amp; trends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3566160"/>
            <a:ext cx="2514600" cy="1600200"/>
          </a:xfrm>
          <a:prstGeom prst="roundRect">
            <a:avLst/>
          </a:prstGeom>
          <a:solidFill>
            <a:srgbClr val="141B35"/>
          </a:solidFill>
          <a:ln w="15240">
            <a:solidFill>
              <a:srgbClr val="3A4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9326880" y="3794760"/>
            <a:ext cx="411480" cy="411480"/>
          </a:xfrm>
          <a:prstGeom prst="ellipse">
            <a:avLst/>
          </a:prstGeom>
          <a:solidFill>
            <a:srgbClr val="FFA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875520" y="3767328"/>
            <a:ext cx="1554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5F7FF"/>
                </a:solidFill>
                <a:latin typeface="Aptos"/>
              </a:rPr>
              <a:t>GitHub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4407408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6AFCD"/>
                </a:solidFill>
                <a:latin typeface="Aptos"/>
              </a:rPr>
              <a:t>Project delivery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519672"/>
            <a:ext cx="4572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>
                <a:solidFill>
                  <a:srgbClr val="A6AFCD"/>
                </a:solidFill>
                <a:latin typeface="Aptos"/>
              </a:rPr>
              <a:t>EDUVISION_DV  •  INTERNSHIP PROJECT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09960" y="6492240"/>
            <a:ext cx="457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A6AFCD"/>
                </a:solidFill>
                <a:latin typeface="Aptos"/>
              </a:rPr>
              <a:t>12</a:t>
            </a:r>
          </a:p>
        </p:txBody>
      </p:sp>
      <p:sp>
        <p:nvSpPr>
          <p:cNvPr id="40" name="TextBox 39">
            <a:hlinkClick r:id="rId2" action="ppaction://hlinksldjump"/>
          </p:cNvPr>
          <p:cNvSpPr txBox="1"/>
          <p:nvPr/>
        </p:nvSpPr>
        <p:spPr>
          <a:xfrm>
            <a:off x="5989320" y="1170432"/>
            <a:ext cx="6858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Overview</a:t>
            </a:r>
          </a:p>
        </p:txBody>
      </p:sp>
      <p:sp>
        <p:nvSpPr>
          <p:cNvPr id="41" name="TextBox 40">
            <a:hlinkClick r:id="rId3" action="ppaction://hlinksldjump"/>
          </p:cNvPr>
          <p:cNvSpPr txBox="1"/>
          <p:nvPr/>
        </p:nvSpPr>
        <p:spPr>
          <a:xfrm>
            <a:off x="6720840" y="1170432"/>
            <a:ext cx="566928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Tech</a:t>
            </a:r>
          </a:p>
        </p:txBody>
      </p:sp>
      <p:sp>
        <p:nvSpPr>
          <p:cNvPr id="42" name="TextBox 41">
            <a:hlinkClick r:id="rId4" action="ppaction://hlinksldjump"/>
          </p:cNvPr>
          <p:cNvSpPr txBox="1"/>
          <p:nvPr/>
        </p:nvSpPr>
        <p:spPr>
          <a:xfrm>
            <a:off x="7315200" y="1170432"/>
            <a:ext cx="566928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Project</a:t>
            </a:r>
          </a:p>
        </p:txBody>
      </p:sp>
      <p:sp>
        <p:nvSpPr>
          <p:cNvPr id="43" name="TextBox 42">
            <a:hlinkClick r:id="rId5" action="ppaction://hlinksldjump"/>
          </p:cNvPr>
          <p:cNvSpPr txBox="1"/>
          <p:nvPr/>
        </p:nvSpPr>
        <p:spPr>
          <a:xfrm>
            <a:off x="7909560" y="1170432"/>
            <a:ext cx="621792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KPIs</a:t>
            </a:r>
          </a:p>
        </p:txBody>
      </p:sp>
      <p:sp>
        <p:nvSpPr>
          <p:cNvPr id="44" name="TextBox 43">
            <a:hlinkClick r:id="rId6" action="ppaction://hlinksldjump"/>
          </p:cNvPr>
          <p:cNvSpPr txBox="1"/>
          <p:nvPr/>
        </p:nvSpPr>
        <p:spPr>
          <a:xfrm>
            <a:off x="8595360" y="1170432"/>
            <a:ext cx="86868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Architecture</a:t>
            </a:r>
          </a:p>
        </p:txBody>
      </p:sp>
      <p:sp>
        <p:nvSpPr>
          <p:cNvPr id="45" name="TextBox 44">
            <a:hlinkClick r:id="rId7" action="ppaction://hlinksldjump"/>
          </p:cNvPr>
          <p:cNvSpPr txBox="1"/>
          <p:nvPr/>
        </p:nvSpPr>
        <p:spPr>
          <a:xfrm>
            <a:off x="9555480" y="1170432"/>
            <a:ext cx="6858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Modules</a:t>
            </a:r>
          </a:p>
        </p:txBody>
      </p:sp>
      <p:sp>
        <p:nvSpPr>
          <p:cNvPr id="46" name="TextBox 45">
            <a:hlinkClick r:id="rId8" action="ppaction://hlinksldjump"/>
          </p:cNvPr>
          <p:cNvSpPr txBox="1"/>
          <p:nvPr/>
        </p:nvSpPr>
        <p:spPr>
          <a:xfrm>
            <a:off x="10287000" y="1170432"/>
            <a:ext cx="749808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32DCDC"/>
                </a:solidFill>
                <a:latin typeface="Aptos"/>
              </a:rPr>
              <a:t>Contribution</a:t>
            </a:r>
          </a:p>
        </p:txBody>
      </p:sp>
      <p:sp>
        <p:nvSpPr>
          <p:cNvPr id="47" name="TextBox 46">
            <a:hlinkClick r:id="rId9" action="ppaction://hlinksldjump"/>
          </p:cNvPr>
          <p:cNvSpPr txBox="1"/>
          <p:nvPr/>
        </p:nvSpPr>
        <p:spPr>
          <a:xfrm>
            <a:off x="11064240" y="1170432"/>
            <a:ext cx="6858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A6AFCD"/>
                </a:solidFill>
                <a:latin typeface="Aptos"/>
              </a:rPr>
              <a:t>Results</a:t>
            </a:r>
          </a:p>
        </p:txBody>
      </p:sp>
      <p:sp>
        <p:nvSpPr>
          <p:cNvPr id="48" name="TextBox 47">
            <a:hlinkClick r:id="rId10" action="ppaction://hlinksldjump"/>
          </p:cNvPr>
          <p:cNvSpPr txBox="1"/>
          <p:nvPr/>
        </p:nvSpPr>
        <p:spPr>
          <a:xfrm>
            <a:off x="594360" y="1170432"/>
            <a:ext cx="4572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A6AFCD"/>
                </a:solidFill>
                <a:latin typeface="Aptos"/>
              </a:rPr>
              <a:t>HOME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30352" y="1115568"/>
            <a:ext cx="7315200" cy="329184"/>
          </a:xfrm>
          <a:prstGeom prst="roundRect">
            <a:avLst/>
          </a:prstGeom>
          <a:solidFill>
            <a:srgbClr val="0C1127"/>
          </a:solidFill>
          <a:ln w="8890">
            <a:solidFill>
              <a:srgbClr val="344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hlinkClick r:id="rId10" action="ppaction://hlinksldjump"/>
          </p:cNvPr>
          <p:cNvSpPr txBox="1"/>
          <p:nvPr/>
        </p:nvSpPr>
        <p:spPr>
          <a:xfrm>
            <a:off x="594360" y="1188720"/>
            <a:ext cx="5029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HOME</a:t>
            </a:r>
          </a:p>
        </p:txBody>
      </p:sp>
      <p:sp>
        <p:nvSpPr>
          <p:cNvPr id="51" name="TextBox 50">
            <a:hlinkClick r:id="rId2" action="ppaction://hlinksldjump"/>
          </p:cNvPr>
          <p:cNvSpPr txBox="1"/>
          <p:nvPr/>
        </p:nvSpPr>
        <p:spPr>
          <a:xfrm>
            <a:off x="1234440" y="1188720"/>
            <a:ext cx="71323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OVERVIEW</a:t>
            </a:r>
          </a:p>
        </p:txBody>
      </p:sp>
      <p:sp>
        <p:nvSpPr>
          <p:cNvPr id="52" name="TextBox 51">
            <a:hlinkClick r:id="rId3" action="ppaction://hlinksldjump"/>
          </p:cNvPr>
          <p:cNvSpPr txBox="1"/>
          <p:nvPr/>
        </p:nvSpPr>
        <p:spPr>
          <a:xfrm>
            <a:off x="2057400" y="1188720"/>
            <a:ext cx="5943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TECH</a:t>
            </a:r>
          </a:p>
        </p:txBody>
      </p:sp>
      <p:sp>
        <p:nvSpPr>
          <p:cNvPr id="53" name="TextBox 52">
            <a:hlinkClick r:id="rId4" action="ppaction://hlinksldjump"/>
          </p:cNvPr>
          <p:cNvSpPr txBox="1"/>
          <p:nvPr/>
        </p:nvSpPr>
        <p:spPr>
          <a:xfrm>
            <a:off x="2852928" y="1188720"/>
            <a:ext cx="62179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PROJECT</a:t>
            </a:r>
          </a:p>
        </p:txBody>
      </p:sp>
      <p:sp>
        <p:nvSpPr>
          <p:cNvPr id="54" name="TextBox 53">
            <a:hlinkClick r:id="rId5" action="ppaction://hlinksldjump"/>
          </p:cNvPr>
          <p:cNvSpPr txBox="1"/>
          <p:nvPr/>
        </p:nvSpPr>
        <p:spPr>
          <a:xfrm>
            <a:off x="3703320" y="1188720"/>
            <a:ext cx="5029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KPI</a:t>
            </a:r>
          </a:p>
        </p:txBody>
      </p:sp>
      <p:sp>
        <p:nvSpPr>
          <p:cNvPr id="55" name="TextBox 54">
            <a:hlinkClick r:id="rId6" action="ppaction://hlinksldjump"/>
          </p:cNvPr>
          <p:cNvSpPr txBox="1"/>
          <p:nvPr/>
        </p:nvSpPr>
        <p:spPr>
          <a:xfrm>
            <a:off x="4370832" y="1188720"/>
            <a:ext cx="57607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ARCH</a:t>
            </a:r>
          </a:p>
        </p:txBody>
      </p:sp>
      <p:sp>
        <p:nvSpPr>
          <p:cNvPr id="56" name="TextBox 55">
            <a:hlinkClick r:id="rId7" action="ppaction://hlinksldjump"/>
          </p:cNvPr>
          <p:cNvSpPr txBox="1"/>
          <p:nvPr/>
        </p:nvSpPr>
        <p:spPr>
          <a:xfrm>
            <a:off x="5138928" y="1188720"/>
            <a:ext cx="65836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MODULES</a:t>
            </a:r>
          </a:p>
        </p:txBody>
      </p:sp>
      <p:sp>
        <p:nvSpPr>
          <p:cNvPr id="57" name="TextBox 56">
            <a:hlinkClick r:id="rId8" action="ppaction://hlinksldjump"/>
          </p:cNvPr>
          <p:cNvSpPr txBox="1"/>
          <p:nvPr/>
        </p:nvSpPr>
        <p:spPr>
          <a:xfrm>
            <a:off x="5989320" y="1188720"/>
            <a:ext cx="5029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WORK</a:t>
            </a:r>
          </a:p>
        </p:txBody>
      </p:sp>
      <p:sp>
        <p:nvSpPr>
          <p:cNvPr id="58" name="TextBox 57">
            <a:hlinkClick r:id="rId9" action="ppaction://hlinksldjump"/>
          </p:cNvPr>
          <p:cNvSpPr txBox="1"/>
          <p:nvPr/>
        </p:nvSpPr>
        <p:spPr>
          <a:xfrm>
            <a:off x="6766560" y="1188720"/>
            <a:ext cx="5943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RESULTS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4360" y="6510528"/>
            <a:ext cx="4114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A1ABCA"/>
                </a:solidFill>
                <a:latin typeface="Aptos"/>
              </a:rPr>
              <a:t>EDUVISION_DV  •  SPRINGBOARD INFOSYS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82528" y="649224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A1ABCA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84048"/>
            <a:ext cx="3291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33DEDE"/>
                </a:solidFill>
                <a:latin typeface="Aptos"/>
              </a:rPr>
              <a:t>RESULTS / FINAL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7863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A1ABCA"/>
                </a:solidFill>
                <a:latin typeface="Aptos"/>
              </a:rPr>
              <a:t>Ranking, reputation, distribution and university performance at a glance.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719072"/>
            <a:ext cx="2724912" cy="4407408"/>
          </a:xfrm>
          <a:prstGeom prst="roundRect">
            <a:avLst/>
          </a:prstGeom>
          <a:solidFill>
            <a:srgbClr val="121933"/>
          </a:solidFill>
          <a:ln w="15240">
            <a:solidFill>
              <a:srgbClr val="344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972800" y="6364224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80" b="1">
                <a:solidFill>
                  <a:srgbClr val="A1ABCA"/>
                </a:solidFill>
                <a:latin typeface="Aptos"/>
              </a:rPr>
              <a:t>01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" y="1115568"/>
            <a:ext cx="7315200" cy="329184"/>
          </a:xfrm>
          <a:prstGeom prst="roundRect">
            <a:avLst/>
          </a:prstGeom>
          <a:solidFill>
            <a:srgbClr val="0C1127"/>
          </a:solidFill>
          <a:ln w="8890">
            <a:solidFill>
              <a:srgbClr val="344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hlinkClick r:id="rId2" action="ppaction://hlinksldjump"/>
          </p:cNvPr>
          <p:cNvSpPr txBox="1"/>
          <p:nvPr/>
        </p:nvSpPr>
        <p:spPr>
          <a:xfrm>
            <a:off x="594360" y="1188720"/>
            <a:ext cx="5029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A1ABCA"/>
                </a:solidFill>
                <a:latin typeface="Aptos"/>
              </a:rPr>
              <a:t>HOME</a:t>
            </a:r>
          </a:p>
        </p:txBody>
      </p:sp>
      <p:sp>
        <p:nvSpPr>
          <p:cNvPr id="28" name="TextBox 27">
            <a:hlinkClick r:id="rId3" action="ppaction://hlinksldjump"/>
          </p:cNvPr>
          <p:cNvSpPr txBox="1"/>
          <p:nvPr/>
        </p:nvSpPr>
        <p:spPr>
          <a:xfrm>
            <a:off x="1234440" y="1188720"/>
            <a:ext cx="71323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A1ABCA"/>
                </a:solidFill>
                <a:latin typeface="Aptos"/>
              </a:rPr>
              <a:t>OVERVIEW</a:t>
            </a:r>
          </a:p>
        </p:txBody>
      </p:sp>
      <p:sp>
        <p:nvSpPr>
          <p:cNvPr id="29" name="TextBox 28">
            <a:hlinkClick r:id="rId4" action="ppaction://hlinksldjump"/>
          </p:cNvPr>
          <p:cNvSpPr txBox="1"/>
          <p:nvPr/>
        </p:nvSpPr>
        <p:spPr>
          <a:xfrm>
            <a:off x="2057400" y="1188720"/>
            <a:ext cx="5943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A1ABCA"/>
                </a:solidFill>
                <a:latin typeface="Aptos"/>
              </a:rPr>
              <a:t>TECH</a:t>
            </a:r>
          </a:p>
        </p:txBody>
      </p:sp>
      <p:sp>
        <p:nvSpPr>
          <p:cNvPr id="30" name="TextBox 29">
            <a:hlinkClick r:id="rId5" action="ppaction://hlinksldjump"/>
          </p:cNvPr>
          <p:cNvSpPr txBox="1"/>
          <p:nvPr/>
        </p:nvSpPr>
        <p:spPr>
          <a:xfrm>
            <a:off x="2852928" y="1188720"/>
            <a:ext cx="62179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A1ABCA"/>
                </a:solidFill>
                <a:latin typeface="Aptos"/>
              </a:rPr>
              <a:t>PROJECT</a:t>
            </a:r>
          </a:p>
        </p:txBody>
      </p:sp>
      <p:sp>
        <p:nvSpPr>
          <p:cNvPr id="31" name="TextBox 30">
            <a:hlinkClick r:id="rId6" action="ppaction://hlinksldjump"/>
          </p:cNvPr>
          <p:cNvSpPr txBox="1"/>
          <p:nvPr/>
        </p:nvSpPr>
        <p:spPr>
          <a:xfrm>
            <a:off x="3703320" y="1188720"/>
            <a:ext cx="5029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A1ABCA"/>
                </a:solidFill>
                <a:latin typeface="Aptos"/>
              </a:rPr>
              <a:t>KPI</a:t>
            </a:r>
          </a:p>
        </p:txBody>
      </p:sp>
      <p:sp>
        <p:nvSpPr>
          <p:cNvPr id="32" name="TextBox 31">
            <a:hlinkClick r:id="rId7" action="ppaction://hlinksldjump"/>
          </p:cNvPr>
          <p:cNvSpPr txBox="1"/>
          <p:nvPr/>
        </p:nvSpPr>
        <p:spPr>
          <a:xfrm>
            <a:off x="4370832" y="1188720"/>
            <a:ext cx="57607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A1ABCA"/>
                </a:solidFill>
                <a:latin typeface="Aptos"/>
              </a:rPr>
              <a:t>ARCH</a:t>
            </a:r>
          </a:p>
        </p:txBody>
      </p:sp>
      <p:sp>
        <p:nvSpPr>
          <p:cNvPr id="33" name="TextBox 32">
            <a:hlinkClick r:id="rId8" action="ppaction://hlinksldjump"/>
          </p:cNvPr>
          <p:cNvSpPr txBox="1"/>
          <p:nvPr/>
        </p:nvSpPr>
        <p:spPr>
          <a:xfrm>
            <a:off x="5138928" y="1188720"/>
            <a:ext cx="65836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A1ABCA"/>
                </a:solidFill>
                <a:latin typeface="Aptos"/>
              </a:rPr>
              <a:t>MODULES</a:t>
            </a:r>
          </a:p>
        </p:txBody>
      </p:sp>
      <p:sp>
        <p:nvSpPr>
          <p:cNvPr id="34" name="TextBox 33">
            <a:hlinkClick r:id="rId9" action="ppaction://hlinksldjump"/>
          </p:cNvPr>
          <p:cNvSpPr txBox="1"/>
          <p:nvPr/>
        </p:nvSpPr>
        <p:spPr>
          <a:xfrm>
            <a:off x="5989320" y="1188720"/>
            <a:ext cx="5029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A1ABCA"/>
                </a:solidFill>
                <a:latin typeface="Aptos"/>
              </a:rPr>
              <a:t>WORK</a:t>
            </a:r>
          </a:p>
        </p:txBody>
      </p:sp>
      <p:sp>
        <p:nvSpPr>
          <p:cNvPr id="35" name="TextBox 34">
            <a:hlinkClick r:id="rId10" action="ppaction://hlinksldjump"/>
          </p:cNvPr>
          <p:cNvSpPr txBox="1"/>
          <p:nvPr/>
        </p:nvSpPr>
        <p:spPr>
          <a:xfrm>
            <a:off x="6766560" y="1188720"/>
            <a:ext cx="5943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A1ABCA"/>
                </a:solidFill>
                <a:latin typeface="Aptos"/>
              </a:rPr>
              <a:t>RESULTS</a:t>
            </a:r>
          </a:p>
        </p:txBody>
      </p:sp>
      <p:sp>
        <p:nvSpPr>
          <p:cNvPr id="36" name="TextBox 35">
            <a:hlinkClick r:id="rId10" action="ppaction://hlinksldjump"/>
          </p:cNvPr>
          <p:cNvSpPr txBox="1"/>
          <p:nvPr/>
        </p:nvSpPr>
        <p:spPr>
          <a:xfrm>
            <a:off x="9162288" y="1179576"/>
            <a:ext cx="38404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1">
                <a:solidFill>
                  <a:srgbClr val="894BFF"/>
                </a:solidFill>
                <a:latin typeface="Aptos"/>
              </a:rPr>
              <a:t>D1</a:t>
            </a:r>
          </a:p>
        </p:txBody>
      </p:sp>
      <p:sp>
        <p:nvSpPr>
          <p:cNvPr id="37" name="TextBox 36">
            <a:hlinkClick r:id="rId11" action="ppaction://hlinksldjump"/>
          </p:cNvPr>
          <p:cNvSpPr txBox="1"/>
          <p:nvPr/>
        </p:nvSpPr>
        <p:spPr>
          <a:xfrm>
            <a:off x="9665208" y="1179576"/>
            <a:ext cx="38404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0">
                <a:solidFill>
                  <a:srgbClr val="3D91FF"/>
                </a:solidFill>
                <a:latin typeface="Aptos"/>
              </a:rPr>
              <a:t>D2</a:t>
            </a:r>
          </a:p>
        </p:txBody>
      </p:sp>
      <p:sp>
        <p:nvSpPr>
          <p:cNvPr id="38" name="TextBox 37">
            <a:hlinkClick r:id="rId12" action="ppaction://hlinksldjump"/>
          </p:cNvPr>
          <p:cNvSpPr txBox="1"/>
          <p:nvPr/>
        </p:nvSpPr>
        <p:spPr>
          <a:xfrm>
            <a:off x="10168128" y="1179576"/>
            <a:ext cx="38404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0">
                <a:solidFill>
                  <a:srgbClr val="33DEDE"/>
                </a:solidFill>
                <a:latin typeface="Aptos"/>
              </a:rPr>
              <a:t>D3</a:t>
            </a:r>
          </a:p>
        </p:txBody>
      </p:sp>
      <p:sp>
        <p:nvSpPr>
          <p:cNvPr id="39" name="TextBox 38">
            <a:hlinkClick r:id="rId13" action="ppaction://hlinksldjump"/>
          </p:cNvPr>
          <p:cNvSpPr txBox="1"/>
          <p:nvPr/>
        </p:nvSpPr>
        <p:spPr>
          <a:xfrm>
            <a:off x="10671048" y="1179576"/>
            <a:ext cx="38404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0">
                <a:solidFill>
                  <a:srgbClr val="FFAD4B"/>
                </a:solidFill>
                <a:latin typeface="Aptos"/>
              </a:rPr>
              <a:t>D4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23960" y="1481328"/>
            <a:ext cx="26517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A1ABCA"/>
                </a:solidFill>
                <a:latin typeface="Aptos"/>
              </a:rPr>
              <a:t>D1–D4  •  click to navigate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510528"/>
            <a:ext cx="4114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A1ABCA"/>
                </a:solidFill>
                <a:latin typeface="Aptos"/>
              </a:rPr>
              <a:t>EDUVISION_DV  •  SPRINGBOARD INFOSYS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82528" y="649224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80" b="1">
                <a:solidFill>
                  <a:srgbClr val="A1ABCA"/>
                </a:solidFill>
                <a:latin typeface="Aptos"/>
              </a:rPr>
              <a:t>13</a:t>
            </a:r>
          </a:p>
        </p:txBody>
      </p:sp>
      <p:sp>
        <p:nvSpPr>
          <p:cNvPr id="43" name="TextBox 42">
            <a:hlinkClick r:id="rId11" action="ppaction://hlinksldjump"/>
          </p:cNvPr>
          <p:cNvSpPr txBox="1"/>
          <p:nvPr/>
        </p:nvSpPr>
        <p:spPr>
          <a:xfrm>
            <a:off x="10515600" y="6254496"/>
            <a:ext cx="7772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80" b="1">
                <a:solidFill>
                  <a:srgbClr val="33DEDE"/>
                </a:solidFill>
                <a:latin typeface="Aptos"/>
              </a:rPr>
              <a:t>NEXT  ›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70848" y="1975104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6F8FF"/>
                </a:solidFill>
                <a:latin typeface="Aptos"/>
              </a:rPr>
              <a:t>PURPOSE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70848" y="2267712"/>
            <a:ext cx="21488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F6F8FF"/>
                </a:solidFill>
                <a:latin typeface="Aptos"/>
              </a:rPr>
              <a:t>A consolidated view of university performance, rankings, regional distribution and key institutional indicators.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70848" y="3429000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33DEDE"/>
                </a:solidFill>
                <a:latin typeface="Aptos"/>
              </a:rPr>
              <a:t>KEY INSIGHTS</a:t>
            </a:r>
          </a:p>
        </p:txBody>
      </p:sp>
      <p:sp>
        <p:nvSpPr>
          <p:cNvPr id="61" name="Oval 60"/>
          <p:cNvSpPr/>
          <p:nvPr/>
        </p:nvSpPr>
        <p:spPr>
          <a:xfrm>
            <a:off x="9089136" y="3813048"/>
            <a:ext cx="137160" cy="137160"/>
          </a:xfrm>
          <a:prstGeom prst="ellipse">
            <a:avLst/>
          </a:prstGeom>
          <a:solidFill>
            <a:srgbClr val="89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326880" y="3767328"/>
            <a:ext cx="18745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F6F8FF"/>
                </a:solidFill>
                <a:latin typeface="Aptos"/>
              </a:rPr>
              <a:t>879 total universities</a:t>
            </a:r>
          </a:p>
        </p:txBody>
      </p:sp>
      <p:sp>
        <p:nvSpPr>
          <p:cNvPr id="63" name="Oval 62"/>
          <p:cNvSpPr/>
          <p:nvPr/>
        </p:nvSpPr>
        <p:spPr>
          <a:xfrm>
            <a:off x="9089136" y="4334256"/>
            <a:ext cx="137160" cy="137160"/>
          </a:xfrm>
          <a:prstGeom prst="ellipse">
            <a:avLst/>
          </a:prstGeom>
          <a:solidFill>
            <a:srgbClr val="89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326880" y="4288536"/>
            <a:ext cx="18745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F6F8FF"/>
                </a:solidFill>
                <a:latin typeface="Aptos"/>
              </a:rPr>
              <a:t>16,408 international students</a:t>
            </a:r>
          </a:p>
        </p:txBody>
      </p:sp>
      <p:sp>
        <p:nvSpPr>
          <p:cNvPr id="65" name="Oval 64"/>
          <p:cNvSpPr/>
          <p:nvPr/>
        </p:nvSpPr>
        <p:spPr>
          <a:xfrm>
            <a:off x="9089136" y="4855464"/>
            <a:ext cx="137160" cy="137160"/>
          </a:xfrm>
          <a:prstGeom prst="ellipse">
            <a:avLst/>
          </a:prstGeom>
          <a:solidFill>
            <a:srgbClr val="89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326880" y="4809744"/>
            <a:ext cx="18745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F6F8FF"/>
                </a:solidFill>
                <a:latin typeface="Aptos"/>
              </a:rPr>
              <a:t>Global ranking score: 43.04</a:t>
            </a:r>
          </a:p>
        </p:txBody>
      </p:sp>
      <p:sp>
        <p:nvSpPr>
          <p:cNvPr id="67" name="Oval 66"/>
          <p:cNvSpPr/>
          <p:nvPr/>
        </p:nvSpPr>
        <p:spPr>
          <a:xfrm>
            <a:off x="9089136" y="5376672"/>
            <a:ext cx="137160" cy="137160"/>
          </a:xfrm>
          <a:prstGeom prst="ellipse">
            <a:avLst/>
          </a:prstGeom>
          <a:solidFill>
            <a:srgbClr val="89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326880" y="5330952"/>
            <a:ext cx="18745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F6F8FF"/>
                </a:solidFill>
                <a:latin typeface="Aptos"/>
              </a:rPr>
              <a:t>Faculty-to-student ratio: 25.92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70848" y="5760720"/>
            <a:ext cx="2148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894BFF"/>
                </a:solidFill>
                <a:latin typeface="Aptos"/>
              </a:rPr>
              <a:t>UNIVERSITY OVERVIEW  •  DASHBOARD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49808" y="1810512"/>
            <a:ext cx="7516368" cy="4352544"/>
          </a:xfrm>
          <a:prstGeom prst="roundRect">
            <a:avLst/>
          </a:prstGeom>
          <a:solidFill>
            <a:srgbClr val="0C1127"/>
          </a:solidFill>
          <a:ln w="21590">
            <a:solidFill>
              <a:srgbClr val="89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6720840" y="1517904"/>
            <a:ext cx="1417320" cy="274320"/>
          </a:xfrm>
          <a:prstGeom prst="roundRect">
            <a:avLst/>
          </a:prstGeom>
          <a:solidFill>
            <a:srgbClr val="121933"/>
          </a:solidFill>
          <a:ln w="10160">
            <a:solidFill>
              <a:srgbClr val="89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A1ABCA"/>
                </a:solidFill>
                <a:latin typeface="Aptos"/>
              </a:rPr>
              <a:t>TABLEAU OUTPUT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94360" y="1554480"/>
            <a:ext cx="4800600" cy="246888"/>
          </a:xfrm>
          <a:prstGeom prst="roundRect">
            <a:avLst/>
          </a:prstGeom>
          <a:solidFill>
            <a:srgbClr val="121933"/>
          </a:solidFill>
          <a:ln w="19050">
            <a:solidFill>
              <a:srgbClr val="89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04672" y="1586484"/>
            <a:ext cx="4389120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F6F8FF"/>
                </a:solidFill>
                <a:latin typeface="Aptos"/>
              </a:rPr>
              <a:t>01  •  UNIVERSITY OVERVIEW</a:t>
            </a:r>
          </a:p>
        </p:txBody>
      </p:sp>
      <p:pic>
        <p:nvPicPr>
          <p:cNvPr id="75" name="Picture 74" descr="crop_1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2104" y="1901952"/>
            <a:ext cx="7351775" cy="416966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84048"/>
            <a:ext cx="3291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33DEDE"/>
                </a:solidFill>
                <a:latin typeface="Aptos"/>
              </a:rPr>
              <a:t>RESULTS / FINAL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7863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A1ABCA"/>
                </a:solidFill>
                <a:latin typeface="Aptos"/>
              </a:rPr>
              <a:t>Research output, citations and institutional research impact.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719072"/>
            <a:ext cx="2724912" cy="4407408"/>
          </a:xfrm>
          <a:prstGeom prst="roundRect">
            <a:avLst/>
          </a:prstGeom>
          <a:solidFill>
            <a:srgbClr val="121933"/>
          </a:solidFill>
          <a:ln w="15240">
            <a:solidFill>
              <a:srgbClr val="344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972800" y="6364224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80" b="1">
                <a:solidFill>
                  <a:srgbClr val="A1ABCA"/>
                </a:solidFill>
                <a:latin typeface="Aptos"/>
              </a:rPr>
              <a:t>02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" y="1115568"/>
            <a:ext cx="7315200" cy="329184"/>
          </a:xfrm>
          <a:prstGeom prst="roundRect">
            <a:avLst/>
          </a:prstGeom>
          <a:solidFill>
            <a:srgbClr val="0C1127"/>
          </a:solidFill>
          <a:ln w="8890">
            <a:solidFill>
              <a:srgbClr val="344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hlinkClick r:id="rId2" action="ppaction://hlinksldjump"/>
          </p:cNvPr>
          <p:cNvSpPr txBox="1"/>
          <p:nvPr/>
        </p:nvSpPr>
        <p:spPr>
          <a:xfrm>
            <a:off x="594360" y="1188720"/>
            <a:ext cx="5029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A1ABCA"/>
                </a:solidFill>
                <a:latin typeface="Aptos"/>
              </a:rPr>
              <a:t>HOME</a:t>
            </a:r>
          </a:p>
        </p:txBody>
      </p:sp>
      <p:sp>
        <p:nvSpPr>
          <p:cNvPr id="28" name="TextBox 27">
            <a:hlinkClick r:id="rId3" action="ppaction://hlinksldjump"/>
          </p:cNvPr>
          <p:cNvSpPr txBox="1"/>
          <p:nvPr/>
        </p:nvSpPr>
        <p:spPr>
          <a:xfrm>
            <a:off x="1234440" y="1188720"/>
            <a:ext cx="71323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A1ABCA"/>
                </a:solidFill>
                <a:latin typeface="Aptos"/>
              </a:rPr>
              <a:t>OVERVIEW</a:t>
            </a:r>
          </a:p>
        </p:txBody>
      </p:sp>
      <p:sp>
        <p:nvSpPr>
          <p:cNvPr id="29" name="TextBox 28">
            <a:hlinkClick r:id="rId4" action="ppaction://hlinksldjump"/>
          </p:cNvPr>
          <p:cNvSpPr txBox="1"/>
          <p:nvPr/>
        </p:nvSpPr>
        <p:spPr>
          <a:xfrm>
            <a:off x="2057400" y="1188720"/>
            <a:ext cx="5943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A1ABCA"/>
                </a:solidFill>
                <a:latin typeface="Aptos"/>
              </a:rPr>
              <a:t>TECH</a:t>
            </a:r>
          </a:p>
        </p:txBody>
      </p:sp>
      <p:sp>
        <p:nvSpPr>
          <p:cNvPr id="30" name="TextBox 29">
            <a:hlinkClick r:id="rId5" action="ppaction://hlinksldjump"/>
          </p:cNvPr>
          <p:cNvSpPr txBox="1"/>
          <p:nvPr/>
        </p:nvSpPr>
        <p:spPr>
          <a:xfrm>
            <a:off x="2852928" y="1188720"/>
            <a:ext cx="62179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A1ABCA"/>
                </a:solidFill>
                <a:latin typeface="Aptos"/>
              </a:rPr>
              <a:t>PROJECT</a:t>
            </a:r>
          </a:p>
        </p:txBody>
      </p:sp>
      <p:sp>
        <p:nvSpPr>
          <p:cNvPr id="31" name="TextBox 30">
            <a:hlinkClick r:id="rId6" action="ppaction://hlinksldjump"/>
          </p:cNvPr>
          <p:cNvSpPr txBox="1"/>
          <p:nvPr/>
        </p:nvSpPr>
        <p:spPr>
          <a:xfrm>
            <a:off x="3703320" y="1188720"/>
            <a:ext cx="5029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A1ABCA"/>
                </a:solidFill>
                <a:latin typeface="Aptos"/>
              </a:rPr>
              <a:t>KPI</a:t>
            </a:r>
          </a:p>
        </p:txBody>
      </p:sp>
      <p:sp>
        <p:nvSpPr>
          <p:cNvPr id="32" name="TextBox 31">
            <a:hlinkClick r:id="rId7" action="ppaction://hlinksldjump"/>
          </p:cNvPr>
          <p:cNvSpPr txBox="1"/>
          <p:nvPr/>
        </p:nvSpPr>
        <p:spPr>
          <a:xfrm>
            <a:off x="4370832" y="1188720"/>
            <a:ext cx="57607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A1ABCA"/>
                </a:solidFill>
                <a:latin typeface="Aptos"/>
              </a:rPr>
              <a:t>ARCH</a:t>
            </a:r>
          </a:p>
        </p:txBody>
      </p:sp>
      <p:sp>
        <p:nvSpPr>
          <p:cNvPr id="33" name="TextBox 32">
            <a:hlinkClick r:id="rId8" action="ppaction://hlinksldjump"/>
          </p:cNvPr>
          <p:cNvSpPr txBox="1"/>
          <p:nvPr/>
        </p:nvSpPr>
        <p:spPr>
          <a:xfrm>
            <a:off x="5138928" y="1188720"/>
            <a:ext cx="65836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A1ABCA"/>
                </a:solidFill>
                <a:latin typeface="Aptos"/>
              </a:rPr>
              <a:t>MODULES</a:t>
            </a:r>
          </a:p>
        </p:txBody>
      </p:sp>
      <p:sp>
        <p:nvSpPr>
          <p:cNvPr id="34" name="TextBox 33">
            <a:hlinkClick r:id="rId9" action="ppaction://hlinksldjump"/>
          </p:cNvPr>
          <p:cNvSpPr txBox="1"/>
          <p:nvPr/>
        </p:nvSpPr>
        <p:spPr>
          <a:xfrm>
            <a:off x="5989320" y="1188720"/>
            <a:ext cx="5029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A1ABCA"/>
                </a:solidFill>
                <a:latin typeface="Aptos"/>
              </a:rPr>
              <a:t>WORK</a:t>
            </a:r>
          </a:p>
        </p:txBody>
      </p:sp>
      <p:sp>
        <p:nvSpPr>
          <p:cNvPr id="35" name="TextBox 34">
            <a:hlinkClick r:id="rId10" action="ppaction://hlinksldjump"/>
          </p:cNvPr>
          <p:cNvSpPr txBox="1"/>
          <p:nvPr/>
        </p:nvSpPr>
        <p:spPr>
          <a:xfrm>
            <a:off x="6766560" y="1188720"/>
            <a:ext cx="5943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A1ABCA"/>
                </a:solidFill>
                <a:latin typeface="Aptos"/>
              </a:rPr>
              <a:t>RESULTS</a:t>
            </a:r>
          </a:p>
        </p:txBody>
      </p:sp>
      <p:sp>
        <p:nvSpPr>
          <p:cNvPr id="36" name="TextBox 35">
            <a:hlinkClick r:id="rId10" action="ppaction://hlinksldjump"/>
          </p:cNvPr>
          <p:cNvSpPr txBox="1"/>
          <p:nvPr/>
        </p:nvSpPr>
        <p:spPr>
          <a:xfrm>
            <a:off x="9162288" y="1179576"/>
            <a:ext cx="38404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0">
                <a:solidFill>
                  <a:srgbClr val="894BFF"/>
                </a:solidFill>
                <a:latin typeface="Aptos"/>
              </a:rPr>
              <a:t>D1</a:t>
            </a:r>
          </a:p>
        </p:txBody>
      </p:sp>
      <p:sp>
        <p:nvSpPr>
          <p:cNvPr id="37" name="TextBox 36">
            <a:hlinkClick r:id="rId11" action="ppaction://hlinksldjump"/>
          </p:cNvPr>
          <p:cNvSpPr txBox="1"/>
          <p:nvPr/>
        </p:nvSpPr>
        <p:spPr>
          <a:xfrm>
            <a:off x="9665208" y="1179576"/>
            <a:ext cx="38404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1">
                <a:solidFill>
                  <a:srgbClr val="3D91FF"/>
                </a:solidFill>
                <a:latin typeface="Aptos"/>
              </a:rPr>
              <a:t>D2</a:t>
            </a:r>
          </a:p>
        </p:txBody>
      </p:sp>
      <p:sp>
        <p:nvSpPr>
          <p:cNvPr id="38" name="TextBox 37">
            <a:hlinkClick r:id="rId12" action="ppaction://hlinksldjump"/>
          </p:cNvPr>
          <p:cNvSpPr txBox="1"/>
          <p:nvPr/>
        </p:nvSpPr>
        <p:spPr>
          <a:xfrm>
            <a:off x="10168128" y="1179576"/>
            <a:ext cx="38404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0">
                <a:solidFill>
                  <a:srgbClr val="33DEDE"/>
                </a:solidFill>
                <a:latin typeface="Aptos"/>
              </a:rPr>
              <a:t>D3</a:t>
            </a:r>
          </a:p>
        </p:txBody>
      </p:sp>
      <p:sp>
        <p:nvSpPr>
          <p:cNvPr id="39" name="TextBox 38">
            <a:hlinkClick r:id="rId13" action="ppaction://hlinksldjump"/>
          </p:cNvPr>
          <p:cNvSpPr txBox="1"/>
          <p:nvPr/>
        </p:nvSpPr>
        <p:spPr>
          <a:xfrm>
            <a:off x="10671048" y="1179576"/>
            <a:ext cx="38404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0">
                <a:solidFill>
                  <a:srgbClr val="FFAD4B"/>
                </a:solidFill>
                <a:latin typeface="Aptos"/>
              </a:rPr>
              <a:t>D4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23960" y="1481328"/>
            <a:ext cx="26517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A1ABCA"/>
                </a:solidFill>
                <a:latin typeface="Aptos"/>
              </a:rPr>
              <a:t>D1–D4  •  click to navigate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510528"/>
            <a:ext cx="4114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A1ABCA"/>
                </a:solidFill>
                <a:latin typeface="Aptos"/>
              </a:rPr>
              <a:t>EDUVISION_DV  •  SPRINGBOARD INFOSYS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82528" y="649224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80" b="1">
                <a:solidFill>
                  <a:srgbClr val="A1ABCA"/>
                </a:solidFill>
                <a:latin typeface="Aptos"/>
              </a:rPr>
              <a:t>14</a:t>
            </a:r>
          </a:p>
        </p:txBody>
      </p:sp>
      <p:sp>
        <p:nvSpPr>
          <p:cNvPr id="43" name="TextBox 42">
            <a:hlinkClick r:id="rId10" action="ppaction://hlinksldjump"/>
          </p:cNvPr>
          <p:cNvSpPr txBox="1"/>
          <p:nvPr/>
        </p:nvSpPr>
        <p:spPr>
          <a:xfrm>
            <a:off x="8823960" y="6254496"/>
            <a:ext cx="7772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>
                <a:solidFill>
                  <a:srgbClr val="A1ABCA"/>
                </a:solidFill>
                <a:latin typeface="Aptos"/>
              </a:rPr>
              <a:t>‹  BACK</a:t>
            </a:r>
          </a:p>
        </p:txBody>
      </p:sp>
      <p:sp>
        <p:nvSpPr>
          <p:cNvPr id="44" name="TextBox 43">
            <a:hlinkClick r:id="rId12" action="ppaction://hlinksldjump"/>
          </p:cNvPr>
          <p:cNvSpPr txBox="1"/>
          <p:nvPr/>
        </p:nvSpPr>
        <p:spPr>
          <a:xfrm>
            <a:off x="10515600" y="6254496"/>
            <a:ext cx="7772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80" b="1">
                <a:solidFill>
                  <a:srgbClr val="33DEDE"/>
                </a:solidFill>
                <a:latin typeface="Aptos"/>
              </a:rPr>
              <a:t>NEXT  ›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70848" y="1975104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3D91FF"/>
                </a:solidFill>
                <a:latin typeface="Aptos"/>
              </a:rPr>
              <a:t>PURPOSE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70848" y="2267712"/>
            <a:ext cx="21488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F6F8FF"/>
                </a:solidFill>
                <a:latin typeface="Aptos"/>
              </a:rPr>
              <a:t>Brings research quality, research impact, productivity and citation performance into one analytical view.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70848" y="3429000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33DEDE"/>
                </a:solidFill>
                <a:latin typeface="Aptos"/>
              </a:rPr>
              <a:t>KEY INSIGHTS</a:t>
            </a:r>
          </a:p>
        </p:txBody>
      </p:sp>
      <p:sp>
        <p:nvSpPr>
          <p:cNvPr id="62" name="Oval 61"/>
          <p:cNvSpPr/>
          <p:nvPr/>
        </p:nvSpPr>
        <p:spPr>
          <a:xfrm>
            <a:off x="9089136" y="3813048"/>
            <a:ext cx="137160" cy="137160"/>
          </a:xfrm>
          <a:prstGeom prst="ellipse">
            <a:avLst/>
          </a:prstGeom>
          <a:solidFill>
            <a:srgbClr val="3D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326880" y="3767328"/>
            <a:ext cx="18745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A1ABCA"/>
                </a:solidFill>
                <a:latin typeface="Aptos"/>
              </a:rPr>
              <a:t>Research quality: 66.64</a:t>
            </a:r>
          </a:p>
        </p:txBody>
      </p:sp>
      <p:sp>
        <p:nvSpPr>
          <p:cNvPr id="64" name="Oval 63"/>
          <p:cNvSpPr/>
          <p:nvPr/>
        </p:nvSpPr>
        <p:spPr>
          <a:xfrm>
            <a:off x="9089136" y="4334256"/>
            <a:ext cx="137160" cy="137160"/>
          </a:xfrm>
          <a:prstGeom prst="ellipse">
            <a:avLst/>
          </a:prstGeom>
          <a:solidFill>
            <a:srgbClr val="3D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326880" y="4288536"/>
            <a:ext cx="18745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A1ABCA"/>
                </a:solidFill>
                <a:latin typeface="Aptos"/>
              </a:rPr>
              <a:t>Research impact: 55.5</a:t>
            </a:r>
          </a:p>
        </p:txBody>
      </p:sp>
      <p:sp>
        <p:nvSpPr>
          <p:cNvPr id="66" name="Oval 65"/>
          <p:cNvSpPr/>
          <p:nvPr/>
        </p:nvSpPr>
        <p:spPr>
          <a:xfrm>
            <a:off x="9089136" y="4855464"/>
            <a:ext cx="137160" cy="137160"/>
          </a:xfrm>
          <a:prstGeom prst="ellipse">
            <a:avLst/>
          </a:prstGeom>
          <a:solidFill>
            <a:srgbClr val="3D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326880" y="4809744"/>
            <a:ext cx="18745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A1ABCA"/>
                </a:solidFill>
                <a:latin typeface="Aptos"/>
              </a:rPr>
              <a:t>Productivity index: 53.0</a:t>
            </a:r>
          </a:p>
        </p:txBody>
      </p:sp>
      <p:sp>
        <p:nvSpPr>
          <p:cNvPr id="68" name="Oval 67"/>
          <p:cNvSpPr/>
          <p:nvPr/>
        </p:nvSpPr>
        <p:spPr>
          <a:xfrm>
            <a:off x="9089136" y="5376672"/>
            <a:ext cx="137160" cy="137160"/>
          </a:xfrm>
          <a:prstGeom prst="ellipse">
            <a:avLst/>
          </a:prstGeom>
          <a:solidFill>
            <a:srgbClr val="3D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326880" y="5330952"/>
            <a:ext cx="18745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A1ABCA"/>
                </a:solidFill>
                <a:latin typeface="Aptos"/>
              </a:rPr>
              <a:t>Faculty citations: 44.4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70848" y="5760720"/>
            <a:ext cx="2148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D91FF"/>
                </a:solidFill>
                <a:latin typeface="Aptos"/>
              </a:rPr>
              <a:t>RESEARCH ANALYTICS  •  DASHBOARD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49808" y="1810512"/>
            <a:ext cx="7516368" cy="4352544"/>
          </a:xfrm>
          <a:prstGeom prst="roundRect">
            <a:avLst/>
          </a:prstGeom>
          <a:solidFill>
            <a:srgbClr val="0C1127"/>
          </a:solidFill>
          <a:ln w="21590">
            <a:solidFill>
              <a:srgbClr val="3D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2" name="Picture 71" descr="cropped_dashboard_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2104" y="1901952"/>
            <a:ext cx="7351775" cy="4169663"/>
          </a:xfrm>
          <a:prstGeom prst="rect">
            <a:avLst/>
          </a:prstGeom>
        </p:spPr>
      </p:pic>
      <p:sp>
        <p:nvSpPr>
          <p:cNvPr id="73" name="Rounded Rectangle 72"/>
          <p:cNvSpPr/>
          <p:nvPr/>
        </p:nvSpPr>
        <p:spPr>
          <a:xfrm>
            <a:off x="6720840" y="1517904"/>
            <a:ext cx="1417320" cy="274320"/>
          </a:xfrm>
          <a:prstGeom prst="roundRect">
            <a:avLst/>
          </a:prstGeom>
          <a:solidFill>
            <a:srgbClr val="121933"/>
          </a:solidFill>
          <a:ln w="10160">
            <a:solidFill>
              <a:srgbClr val="3D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A1ABCA"/>
                </a:solidFill>
                <a:latin typeface="Aptos"/>
              </a:rPr>
              <a:t>TABLEAU OUTPUT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94360" y="1554480"/>
            <a:ext cx="4800600" cy="246888"/>
          </a:xfrm>
          <a:prstGeom prst="roundRect">
            <a:avLst/>
          </a:prstGeom>
          <a:solidFill>
            <a:srgbClr val="121933"/>
          </a:solidFill>
          <a:ln w="19050">
            <a:solidFill>
              <a:srgbClr val="3D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04672" y="1586484"/>
            <a:ext cx="4389120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F6F8FF"/>
                </a:solidFill>
                <a:latin typeface="Aptos"/>
              </a:rPr>
              <a:t>02  •  RESEARCH ANALYTICS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84048"/>
            <a:ext cx="3291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33DEDE"/>
                </a:solidFill>
                <a:latin typeface="Aptos"/>
              </a:rPr>
              <a:t>RESULTS / FINAL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7863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A1ABCA"/>
                </a:solidFill>
                <a:latin typeface="Aptos"/>
              </a:rPr>
              <a:t>Student diversity, international participation and faculty-to-student analysis.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719072"/>
            <a:ext cx="2724912" cy="4407408"/>
          </a:xfrm>
          <a:prstGeom prst="roundRect">
            <a:avLst/>
          </a:prstGeom>
          <a:solidFill>
            <a:srgbClr val="121933"/>
          </a:solidFill>
          <a:ln w="15240">
            <a:solidFill>
              <a:srgbClr val="344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972800" y="6364224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80" b="1">
                <a:solidFill>
                  <a:srgbClr val="A1ABCA"/>
                </a:solidFill>
                <a:latin typeface="Aptos"/>
              </a:rPr>
              <a:t>03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" y="1115568"/>
            <a:ext cx="7315200" cy="329184"/>
          </a:xfrm>
          <a:prstGeom prst="roundRect">
            <a:avLst/>
          </a:prstGeom>
          <a:solidFill>
            <a:srgbClr val="0C1127"/>
          </a:solidFill>
          <a:ln w="8890">
            <a:solidFill>
              <a:srgbClr val="344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hlinkClick r:id="rId2" action="ppaction://hlinksldjump"/>
          </p:cNvPr>
          <p:cNvSpPr txBox="1"/>
          <p:nvPr/>
        </p:nvSpPr>
        <p:spPr>
          <a:xfrm>
            <a:off x="594360" y="1188720"/>
            <a:ext cx="5029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A1ABCA"/>
                </a:solidFill>
                <a:latin typeface="Aptos"/>
              </a:rPr>
              <a:t>HOME</a:t>
            </a:r>
          </a:p>
        </p:txBody>
      </p:sp>
      <p:sp>
        <p:nvSpPr>
          <p:cNvPr id="28" name="TextBox 27">
            <a:hlinkClick r:id="rId3" action="ppaction://hlinksldjump"/>
          </p:cNvPr>
          <p:cNvSpPr txBox="1"/>
          <p:nvPr/>
        </p:nvSpPr>
        <p:spPr>
          <a:xfrm>
            <a:off x="1234440" y="1188720"/>
            <a:ext cx="71323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A1ABCA"/>
                </a:solidFill>
                <a:latin typeface="Aptos"/>
              </a:rPr>
              <a:t>OVERVIEW</a:t>
            </a:r>
          </a:p>
        </p:txBody>
      </p:sp>
      <p:sp>
        <p:nvSpPr>
          <p:cNvPr id="29" name="TextBox 28">
            <a:hlinkClick r:id="rId4" action="ppaction://hlinksldjump"/>
          </p:cNvPr>
          <p:cNvSpPr txBox="1"/>
          <p:nvPr/>
        </p:nvSpPr>
        <p:spPr>
          <a:xfrm>
            <a:off x="2057400" y="1188720"/>
            <a:ext cx="5943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A1ABCA"/>
                </a:solidFill>
                <a:latin typeface="Aptos"/>
              </a:rPr>
              <a:t>TECH</a:t>
            </a:r>
          </a:p>
        </p:txBody>
      </p:sp>
      <p:sp>
        <p:nvSpPr>
          <p:cNvPr id="30" name="TextBox 29">
            <a:hlinkClick r:id="rId5" action="ppaction://hlinksldjump"/>
          </p:cNvPr>
          <p:cNvSpPr txBox="1"/>
          <p:nvPr/>
        </p:nvSpPr>
        <p:spPr>
          <a:xfrm>
            <a:off x="2852928" y="1188720"/>
            <a:ext cx="62179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A1ABCA"/>
                </a:solidFill>
                <a:latin typeface="Aptos"/>
              </a:rPr>
              <a:t>PROJECT</a:t>
            </a:r>
          </a:p>
        </p:txBody>
      </p:sp>
      <p:sp>
        <p:nvSpPr>
          <p:cNvPr id="31" name="TextBox 30">
            <a:hlinkClick r:id="rId6" action="ppaction://hlinksldjump"/>
          </p:cNvPr>
          <p:cNvSpPr txBox="1"/>
          <p:nvPr/>
        </p:nvSpPr>
        <p:spPr>
          <a:xfrm>
            <a:off x="3703320" y="1188720"/>
            <a:ext cx="5029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A1ABCA"/>
                </a:solidFill>
                <a:latin typeface="Aptos"/>
              </a:rPr>
              <a:t>KPI</a:t>
            </a:r>
          </a:p>
        </p:txBody>
      </p:sp>
      <p:sp>
        <p:nvSpPr>
          <p:cNvPr id="32" name="TextBox 31">
            <a:hlinkClick r:id="rId7" action="ppaction://hlinksldjump"/>
          </p:cNvPr>
          <p:cNvSpPr txBox="1"/>
          <p:nvPr/>
        </p:nvSpPr>
        <p:spPr>
          <a:xfrm>
            <a:off x="4370832" y="1188720"/>
            <a:ext cx="57607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A1ABCA"/>
                </a:solidFill>
                <a:latin typeface="Aptos"/>
              </a:rPr>
              <a:t>ARCH</a:t>
            </a:r>
          </a:p>
        </p:txBody>
      </p:sp>
      <p:sp>
        <p:nvSpPr>
          <p:cNvPr id="33" name="TextBox 32">
            <a:hlinkClick r:id="rId8" action="ppaction://hlinksldjump"/>
          </p:cNvPr>
          <p:cNvSpPr txBox="1"/>
          <p:nvPr/>
        </p:nvSpPr>
        <p:spPr>
          <a:xfrm>
            <a:off x="5138928" y="1188720"/>
            <a:ext cx="65836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A1ABCA"/>
                </a:solidFill>
                <a:latin typeface="Aptos"/>
              </a:rPr>
              <a:t>MODULES</a:t>
            </a:r>
          </a:p>
        </p:txBody>
      </p:sp>
      <p:sp>
        <p:nvSpPr>
          <p:cNvPr id="34" name="TextBox 33">
            <a:hlinkClick r:id="rId9" action="ppaction://hlinksldjump"/>
          </p:cNvPr>
          <p:cNvSpPr txBox="1"/>
          <p:nvPr/>
        </p:nvSpPr>
        <p:spPr>
          <a:xfrm>
            <a:off x="5989320" y="1188720"/>
            <a:ext cx="5029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A1ABCA"/>
                </a:solidFill>
                <a:latin typeface="Aptos"/>
              </a:rPr>
              <a:t>WORK</a:t>
            </a:r>
          </a:p>
        </p:txBody>
      </p:sp>
      <p:sp>
        <p:nvSpPr>
          <p:cNvPr id="35" name="TextBox 34">
            <a:hlinkClick r:id="rId10" action="ppaction://hlinksldjump"/>
          </p:cNvPr>
          <p:cNvSpPr txBox="1"/>
          <p:nvPr/>
        </p:nvSpPr>
        <p:spPr>
          <a:xfrm>
            <a:off x="6766560" y="1188720"/>
            <a:ext cx="5943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A1ABCA"/>
                </a:solidFill>
                <a:latin typeface="Aptos"/>
              </a:rPr>
              <a:t>RESULTS</a:t>
            </a:r>
          </a:p>
        </p:txBody>
      </p:sp>
      <p:sp>
        <p:nvSpPr>
          <p:cNvPr id="36" name="TextBox 35">
            <a:hlinkClick r:id="rId10" action="ppaction://hlinksldjump"/>
          </p:cNvPr>
          <p:cNvSpPr txBox="1"/>
          <p:nvPr/>
        </p:nvSpPr>
        <p:spPr>
          <a:xfrm>
            <a:off x="9162288" y="1179576"/>
            <a:ext cx="38404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0">
                <a:solidFill>
                  <a:srgbClr val="894BFF"/>
                </a:solidFill>
                <a:latin typeface="Aptos"/>
              </a:rPr>
              <a:t>D1</a:t>
            </a:r>
          </a:p>
        </p:txBody>
      </p:sp>
      <p:sp>
        <p:nvSpPr>
          <p:cNvPr id="37" name="TextBox 36">
            <a:hlinkClick r:id="rId11" action="ppaction://hlinksldjump"/>
          </p:cNvPr>
          <p:cNvSpPr txBox="1"/>
          <p:nvPr/>
        </p:nvSpPr>
        <p:spPr>
          <a:xfrm>
            <a:off x="9665208" y="1179576"/>
            <a:ext cx="38404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0">
                <a:solidFill>
                  <a:srgbClr val="3D91FF"/>
                </a:solidFill>
                <a:latin typeface="Aptos"/>
              </a:rPr>
              <a:t>D2</a:t>
            </a:r>
          </a:p>
        </p:txBody>
      </p:sp>
      <p:sp>
        <p:nvSpPr>
          <p:cNvPr id="38" name="TextBox 37">
            <a:hlinkClick r:id="rId12" action="ppaction://hlinksldjump"/>
          </p:cNvPr>
          <p:cNvSpPr txBox="1"/>
          <p:nvPr/>
        </p:nvSpPr>
        <p:spPr>
          <a:xfrm>
            <a:off x="10168128" y="1179576"/>
            <a:ext cx="38404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1">
                <a:solidFill>
                  <a:srgbClr val="33DEDE"/>
                </a:solidFill>
                <a:latin typeface="Aptos"/>
              </a:rPr>
              <a:t>D3</a:t>
            </a:r>
          </a:p>
        </p:txBody>
      </p:sp>
      <p:sp>
        <p:nvSpPr>
          <p:cNvPr id="39" name="TextBox 38">
            <a:hlinkClick r:id="rId13" action="ppaction://hlinksldjump"/>
          </p:cNvPr>
          <p:cNvSpPr txBox="1"/>
          <p:nvPr/>
        </p:nvSpPr>
        <p:spPr>
          <a:xfrm>
            <a:off x="10671048" y="1179576"/>
            <a:ext cx="38404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0">
                <a:solidFill>
                  <a:srgbClr val="FFAD4B"/>
                </a:solidFill>
                <a:latin typeface="Aptos"/>
              </a:rPr>
              <a:t>D4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23960" y="1481328"/>
            <a:ext cx="26517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A1ABCA"/>
                </a:solidFill>
                <a:latin typeface="Aptos"/>
              </a:rPr>
              <a:t>D1–D4  •  click to navigate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510528"/>
            <a:ext cx="4114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A1ABCA"/>
                </a:solidFill>
                <a:latin typeface="Aptos"/>
              </a:rPr>
              <a:t>EDUVISION_DV  •  SPRINGBOARD INFOSYS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82528" y="649224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80" b="1">
                <a:solidFill>
                  <a:srgbClr val="A1ABCA"/>
                </a:solidFill>
                <a:latin typeface="Aptos"/>
              </a:rPr>
              <a:t>15</a:t>
            </a:r>
          </a:p>
        </p:txBody>
      </p:sp>
      <p:sp>
        <p:nvSpPr>
          <p:cNvPr id="43" name="TextBox 42">
            <a:hlinkClick r:id="rId11" action="ppaction://hlinksldjump"/>
          </p:cNvPr>
          <p:cNvSpPr txBox="1"/>
          <p:nvPr/>
        </p:nvSpPr>
        <p:spPr>
          <a:xfrm>
            <a:off x="8823960" y="6254496"/>
            <a:ext cx="7772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>
                <a:solidFill>
                  <a:srgbClr val="A1ABCA"/>
                </a:solidFill>
                <a:latin typeface="Aptos"/>
              </a:rPr>
              <a:t>‹  BACK</a:t>
            </a:r>
          </a:p>
        </p:txBody>
      </p:sp>
      <p:sp>
        <p:nvSpPr>
          <p:cNvPr id="44" name="TextBox 43">
            <a:hlinkClick r:id="rId13" action="ppaction://hlinksldjump"/>
          </p:cNvPr>
          <p:cNvSpPr txBox="1"/>
          <p:nvPr/>
        </p:nvSpPr>
        <p:spPr>
          <a:xfrm>
            <a:off x="10515600" y="6254496"/>
            <a:ext cx="7772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80" b="1">
                <a:solidFill>
                  <a:srgbClr val="33DEDE"/>
                </a:solidFill>
                <a:latin typeface="Aptos"/>
              </a:rPr>
              <a:t>NEXT  ›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70848" y="1975104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6F8FF"/>
                </a:solidFill>
                <a:latin typeface="Aptos"/>
              </a:rPr>
              <a:t>PURPOSE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70848" y="2267712"/>
            <a:ext cx="21488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F6F8FF"/>
                </a:solidFill>
                <a:latin typeface="Aptos"/>
              </a:rPr>
              <a:t>Focuses on student population, international participation and faculty-to-student relationship across countries.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70848" y="3429000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33DEDE"/>
                </a:solidFill>
                <a:latin typeface="Aptos"/>
              </a:rPr>
              <a:t>KEY INSIGHTS</a:t>
            </a:r>
          </a:p>
        </p:txBody>
      </p:sp>
      <p:sp>
        <p:nvSpPr>
          <p:cNvPr id="62" name="Oval 61"/>
          <p:cNvSpPr/>
          <p:nvPr/>
        </p:nvSpPr>
        <p:spPr>
          <a:xfrm>
            <a:off x="9089136" y="3813048"/>
            <a:ext cx="137160" cy="137160"/>
          </a:xfrm>
          <a:prstGeom prst="ellipse">
            <a:avLst/>
          </a:prstGeom>
          <a:solidFill>
            <a:srgbClr val="33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326880" y="3767328"/>
            <a:ext cx="18745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F6F8FF"/>
                </a:solidFill>
                <a:latin typeface="Aptos"/>
              </a:rPr>
              <a:t>Avg student population: 24,469</a:t>
            </a:r>
          </a:p>
        </p:txBody>
      </p:sp>
      <p:sp>
        <p:nvSpPr>
          <p:cNvPr id="64" name="Oval 63"/>
          <p:cNvSpPr/>
          <p:nvPr/>
        </p:nvSpPr>
        <p:spPr>
          <a:xfrm>
            <a:off x="9089136" y="4334256"/>
            <a:ext cx="137160" cy="137160"/>
          </a:xfrm>
          <a:prstGeom prst="ellipse">
            <a:avLst/>
          </a:prstGeom>
          <a:solidFill>
            <a:srgbClr val="33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326880" y="4288536"/>
            <a:ext cx="18745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F6F8FF"/>
                </a:solidFill>
                <a:latin typeface="Aptos"/>
              </a:rPr>
              <a:t>92 countries represented</a:t>
            </a:r>
          </a:p>
        </p:txBody>
      </p:sp>
      <p:sp>
        <p:nvSpPr>
          <p:cNvPr id="66" name="Oval 65"/>
          <p:cNvSpPr/>
          <p:nvPr/>
        </p:nvSpPr>
        <p:spPr>
          <a:xfrm>
            <a:off x="9089136" y="4855464"/>
            <a:ext cx="137160" cy="137160"/>
          </a:xfrm>
          <a:prstGeom prst="ellipse">
            <a:avLst/>
          </a:prstGeom>
          <a:solidFill>
            <a:srgbClr val="33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326880" y="4809744"/>
            <a:ext cx="18745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F6F8FF"/>
                </a:solidFill>
                <a:latin typeface="Aptos"/>
              </a:rPr>
              <a:t>Avg faculty-to-student ratio: 25.92</a:t>
            </a:r>
          </a:p>
        </p:txBody>
      </p:sp>
      <p:sp>
        <p:nvSpPr>
          <p:cNvPr id="68" name="Oval 67"/>
          <p:cNvSpPr/>
          <p:nvPr/>
        </p:nvSpPr>
        <p:spPr>
          <a:xfrm>
            <a:off x="9089136" y="5376672"/>
            <a:ext cx="137160" cy="137160"/>
          </a:xfrm>
          <a:prstGeom prst="ellipse">
            <a:avLst/>
          </a:prstGeom>
          <a:solidFill>
            <a:srgbClr val="33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326880" y="5330952"/>
            <a:ext cx="18745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F6F8FF"/>
                </a:solidFill>
                <a:latin typeface="Aptos"/>
              </a:rPr>
              <a:t>Avg international student: 18.67%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70848" y="5760720"/>
            <a:ext cx="2148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3DEDE"/>
                </a:solidFill>
                <a:latin typeface="Aptos"/>
              </a:rPr>
              <a:t>STUDENT ANALYTICS  •  DASHBOARD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49808" y="1810512"/>
            <a:ext cx="7516368" cy="4352544"/>
          </a:xfrm>
          <a:prstGeom prst="roundRect">
            <a:avLst/>
          </a:prstGeom>
          <a:solidFill>
            <a:srgbClr val="0C1127"/>
          </a:solidFill>
          <a:ln w="21590">
            <a:solidFill>
              <a:srgbClr val="33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6720840" y="1517904"/>
            <a:ext cx="1417320" cy="274320"/>
          </a:xfrm>
          <a:prstGeom prst="roundRect">
            <a:avLst/>
          </a:prstGeom>
          <a:solidFill>
            <a:srgbClr val="121933"/>
          </a:solidFill>
          <a:ln w="10160">
            <a:solidFill>
              <a:srgbClr val="33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A1ABCA"/>
                </a:solidFill>
                <a:latin typeface="Aptos"/>
              </a:rPr>
              <a:t>TABLEAU OUTPUT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94360" y="1554480"/>
            <a:ext cx="4800600" cy="246888"/>
          </a:xfrm>
          <a:prstGeom prst="roundRect">
            <a:avLst/>
          </a:prstGeom>
          <a:solidFill>
            <a:srgbClr val="121933"/>
          </a:solidFill>
          <a:ln w="19050">
            <a:solidFill>
              <a:srgbClr val="33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04672" y="1586484"/>
            <a:ext cx="4389120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F6F8FF"/>
                </a:solidFill>
                <a:latin typeface="Aptos"/>
              </a:rPr>
              <a:t>03  •  STUDENT ANALYTICS</a:t>
            </a:r>
          </a:p>
        </p:txBody>
      </p:sp>
      <p:pic>
        <p:nvPicPr>
          <p:cNvPr id="76" name="Picture 75" descr="crop_14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2104" y="1901952"/>
            <a:ext cx="7351775" cy="416966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84048"/>
            <a:ext cx="3291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33DEDE"/>
                </a:solidFill>
                <a:latin typeface="Aptos"/>
              </a:rPr>
              <a:t>RESULTS / FINAL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7863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A1ABCA"/>
                </a:solidFill>
                <a:latin typeface="Aptos"/>
              </a:rPr>
              <a:t>Country-level benchmarking of higher education performance.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719072"/>
            <a:ext cx="2724912" cy="4407408"/>
          </a:xfrm>
          <a:prstGeom prst="roundRect">
            <a:avLst/>
          </a:prstGeom>
          <a:solidFill>
            <a:srgbClr val="121933"/>
          </a:solidFill>
          <a:ln w="15240">
            <a:solidFill>
              <a:srgbClr val="344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972800" y="6364224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80" b="1">
                <a:solidFill>
                  <a:srgbClr val="A1ABCA"/>
                </a:solidFill>
                <a:latin typeface="Aptos"/>
              </a:rPr>
              <a:t>04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" y="1115568"/>
            <a:ext cx="7315200" cy="329184"/>
          </a:xfrm>
          <a:prstGeom prst="roundRect">
            <a:avLst/>
          </a:prstGeom>
          <a:solidFill>
            <a:srgbClr val="0C1127"/>
          </a:solidFill>
          <a:ln w="8890">
            <a:solidFill>
              <a:srgbClr val="344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hlinkClick r:id="rId2" action="ppaction://hlinksldjump"/>
          </p:cNvPr>
          <p:cNvSpPr txBox="1"/>
          <p:nvPr/>
        </p:nvSpPr>
        <p:spPr>
          <a:xfrm>
            <a:off x="594360" y="1188720"/>
            <a:ext cx="5029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A1ABCA"/>
                </a:solidFill>
                <a:latin typeface="Aptos"/>
              </a:rPr>
              <a:t>HOME</a:t>
            </a:r>
          </a:p>
        </p:txBody>
      </p:sp>
      <p:sp>
        <p:nvSpPr>
          <p:cNvPr id="28" name="TextBox 27">
            <a:hlinkClick r:id="rId3" action="ppaction://hlinksldjump"/>
          </p:cNvPr>
          <p:cNvSpPr txBox="1"/>
          <p:nvPr/>
        </p:nvSpPr>
        <p:spPr>
          <a:xfrm>
            <a:off x="1234440" y="1188720"/>
            <a:ext cx="71323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A1ABCA"/>
                </a:solidFill>
                <a:latin typeface="Aptos"/>
              </a:rPr>
              <a:t>OVERVIEW</a:t>
            </a:r>
          </a:p>
        </p:txBody>
      </p:sp>
      <p:sp>
        <p:nvSpPr>
          <p:cNvPr id="29" name="TextBox 28">
            <a:hlinkClick r:id="rId4" action="ppaction://hlinksldjump"/>
          </p:cNvPr>
          <p:cNvSpPr txBox="1"/>
          <p:nvPr/>
        </p:nvSpPr>
        <p:spPr>
          <a:xfrm>
            <a:off x="2057400" y="1188720"/>
            <a:ext cx="5943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A1ABCA"/>
                </a:solidFill>
                <a:latin typeface="Aptos"/>
              </a:rPr>
              <a:t>TECH</a:t>
            </a:r>
          </a:p>
        </p:txBody>
      </p:sp>
      <p:sp>
        <p:nvSpPr>
          <p:cNvPr id="30" name="TextBox 29">
            <a:hlinkClick r:id="rId5" action="ppaction://hlinksldjump"/>
          </p:cNvPr>
          <p:cNvSpPr txBox="1"/>
          <p:nvPr/>
        </p:nvSpPr>
        <p:spPr>
          <a:xfrm>
            <a:off x="2852928" y="1188720"/>
            <a:ext cx="62179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A1ABCA"/>
                </a:solidFill>
                <a:latin typeface="Aptos"/>
              </a:rPr>
              <a:t>PROJECT</a:t>
            </a:r>
          </a:p>
        </p:txBody>
      </p:sp>
      <p:sp>
        <p:nvSpPr>
          <p:cNvPr id="31" name="TextBox 30">
            <a:hlinkClick r:id="rId6" action="ppaction://hlinksldjump"/>
          </p:cNvPr>
          <p:cNvSpPr txBox="1"/>
          <p:nvPr/>
        </p:nvSpPr>
        <p:spPr>
          <a:xfrm>
            <a:off x="3703320" y="1188720"/>
            <a:ext cx="5029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A1ABCA"/>
                </a:solidFill>
                <a:latin typeface="Aptos"/>
              </a:rPr>
              <a:t>KPI</a:t>
            </a:r>
          </a:p>
        </p:txBody>
      </p:sp>
      <p:sp>
        <p:nvSpPr>
          <p:cNvPr id="32" name="TextBox 31">
            <a:hlinkClick r:id="rId7" action="ppaction://hlinksldjump"/>
          </p:cNvPr>
          <p:cNvSpPr txBox="1"/>
          <p:nvPr/>
        </p:nvSpPr>
        <p:spPr>
          <a:xfrm>
            <a:off x="4370832" y="1188720"/>
            <a:ext cx="57607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A1ABCA"/>
                </a:solidFill>
                <a:latin typeface="Aptos"/>
              </a:rPr>
              <a:t>ARCH</a:t>
            </a:r>
          </a:p>
        </p:txBody>
      </p:sp>
      <p:sp>
        <p:nvSpPr>
          <p:cNvPr id="33" name="TextBox 32">
            <a:hlinkClick r:id="rId8" action="ppaction://hlinksldjump"/>
          </p:cNvPr>
          <p:cNvSpPr txBox="1"/>
          <p:nvPr/>
        </p:nvSpPr>
        <p:spPr>
          <a:xfrm>
            <a:off x="5138928" y="1188720"/>
            <a:ext cx="65836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A1ABCA"/>
                </a:solidFill>
                <a:latin typeface="Aptos"/>
              </a:rPr>
              <a:t>MODULES</a:t>
            </a:r>
          </a:p>
        </p:txBody>
      </p:sp>
      <p:sp>
        <p:nvSpPr>
          <p:cNvPr id="34" name="TextBox 33">
            <a:hlinkClick r:id="rId9" action="ppaction://hlinksldjump"/>
          </p:cNvPr>
          <p:cNvSpPr txBox="1"/>
          <p:nvPr/>
        </p:nvSpPr>
        <p:spPr>
          <a:xfrm>
            <a:off x="5989320" y="1188720"/>
            <a:ext cx="5029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A1ABCA"/>
                </a:solidFill>
                <a:latin typeface="Aptos"/>
              </a:rPr>
              <a:t>WORK</a:t>
            </a:r>
          </a:p>
        </p:txBody>
      </p:sp>
      <p:sp>
        <p:nvSpPr>
          <p:cNvPr id="35" name="TextBox 34">
            <a:hlinkClick r:id="rId10" action="ppaction://hlinksldjump"/>
          </p:cNvPr>
          <p:cNvSpPr txBox="1"/>
          <p:nvPr/>
        </p:nvSpPr>
        <p:spPr>
          <a:xfrm>
            <a:off x="6766560" y="1188720"/>
            <a:ext cx="5943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A1ABCA"/>
                </a:solidFill>
                <a:latin typeface="Aptos"/>
              </a:rPr>
              <a:t>RESULTS</a:t>
            </a:r>
          </a:p>
        </p:txBody>
      </p:sp>
      <p:sp>
        <p:nvSpPr>
          <p:cNvPr id="36" name="TextBox 35">
            <a:hlinkClick r:id="rId10" action="ppaction://hlinksldjump"/>
          </p:cNvPr>
          <p:cNvSpPr txBox="1"/>
          <p:nvPr/>
        </p:nvSpPr>
        <p:spPr>
          <a:xfrm>
            <a:off x="9162288" y="1179576"/>
            <a:ext cx="38404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0">
                <a:solidFill>
                  <a:srgbClr val="894BFF"/>
                </a:solidFill>
                <a:latin typeface="Aptos"/>
              </a:rPr>
              <a:t>D1</a:t>
            </a:r>
          </a:p>
        </p:txBody>
      </p:sp>
      <p:sp>
        <p:nvSpPr>
          <p:cNvPr id="37" name="TextBox 36">
            <a:hlinkClick r:id="rId11" action="ppaction://hlinksldjump"/>
          </p:cNvPr>
          <p:cNvSpPr txBox="1"/>
          <p:nvPr/>
        </p:nvSpPr>
        <p:spPr>
          <a:xfrm>
            <a:off x="9665208" y="1179576"/>
            <a:ext cx="38404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0">
                <a:solidFill>
                  <a:srgbClr val="3D91FF"/>
                </a:solidFill>
                <a:latin typeface="Aptos"/>
              </a:rPr>
              <a:t>D2</a:t>
            </a:r>
          </a:p>
        </p:txBody>
      </p:sp>
      <p:sp>
        <p:nvSpPr>
          <p:cNvPr id="38" name="TextBox 37">
            <a:hlinkClick r:id="rId12" action="ppaction://hlinksldjump"/>
          </p:cNvPr>
          <p:cNvSpPr txBox="1"/>
          <p:nvPr/>
        </p:nvSpPr>
        <p:spPr>
          <a:xfrm>
            <a:off x="10168128" y="1179576"/>
            <a:ext cx="38404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0">
                <a:solidFill>
                  <a:srgbClr val="33DEDE"/>
                </a:solidFill>
                <a:latin typeface="Aptos"/>
              </a:rPr>
              <a:t>D3</a:t>
            </a:r>
          </a:p>
        </p:txBody>
      </p:sp>
      <p:sp>
        <p:nvSpPr>
          <p:cNvPr id="39" name="TextBox 38">
            <a:hlinkClick r:id="rId13" action="ppaction://hlinksldjump"/>
          </p:cNvPr>
          <p:cNvSpPr txBox="1"/>
          <p:nvPr/>
        </p:nvSpPr>
        <p:spPr>
          <a:xfrm>
            <a:off x="10671048" y="1179576"/>
            <a:ext cx="38404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1">
                <a:solidFill>
                  <a:srgbClr val="FFAD4B"/>
                </a:solidFill>
                <a:latin typeface="Aptos"/>
              </a:rPr>
              <a:t>D4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23960" y="1481328"/>
            <a:ext cx="26517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A1ABCA"/>
                </a:solidFill>
                <a:latin typeface="Aptos"/>
              </a:rPr>
              <a:t>D1–D4  •  click to navigate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510528"/>
            <a:ext cx="4114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A1ABCA"/>
                </a:solidFill>
                <a:latin typeface="Aptos"/>
              </a:rPr>
              <a:t>EDUVISION_DV  •  SPRINGBOARD INFOSYS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82528" y="649224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80" b="1">
                <a:solidFill>
                  <a:srgbClr val="A1ABCA"/>
                </a:solidFill>
                <a:latin typeface="Aptos"/>
              </a:rPr>
              <a:t>16</a:t>
            </a:r>
          </a:p>
        </p:txBody>
      </p:sp>
      <p:sp>
        <p:nvSpPr>
          <p:cNvPr id="43" name="TextBox 42">
            <a:hlinkClick r:id="rId12" action="ppaction://hlinksldjump"/>
          </p:cNvPr>
          <p:cNvSpPr txBox="1"/>
          <p:nvPr/>
        </p:nvSpPr>
        <p:spPr>
          <a:xfrm>
            <a:off x="8823960" y="6254496"/>
            <a:ext cx="7772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>
                <a:solidFill>
                  <a:srgbClr val="A1ABCA"/>
                </a:solidFill>
                <a:latin typeface="Aptos"/>
              </a:rPr>
              <a:t>‹  BACK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70848" y="1975104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6F8FF"/>
                </a:solidFill>
                <a:latin typeface="Aptos"/>
              </a:rPr>
              <a:t>PURPOSE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70848" y="2267712"/>
            <a:ext cx="21488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F6F8FF"/>
                </a:solidFill>
                <a:latin typeface="Aptos"/>
              </a:rPr>
              <a:t>Compares higher-education performance across countries using ranking, reputation and research indicators.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70848" y="3429000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33DEDE"/>
                </a:solidFill>
                <a:latin typeface="Aptos"/>
              </a:rPr>
              <a:t>KEY INSIGHTS</a:t>
            </a:r>
          </a:p>
        </p:txBody>
      </p:sp>
      <p:sp>
        <p:nvSpPr>
          <p:cNvPr id="61" name="Oval 60"/>
          <p:cNvSpPr/>
          <p:nvPr/>
        </p:nvSpPr>
        <p:spPr>
          <a:xfrm>
            <a:off x="9089136" y="3813048"/>
            <a:ext cx="137160" cy="137160"/>
          </a:xfrm>
          <a:prstGeom prst="ellipse">
            <a:avLst/>
          </a:prstGeom>
          <a:solidFill>
            <a:srgbClr val="FFA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326880" y="3767328"/>
            <a:ext cx="18745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F6F8FF"/>
                </a:solidFill>
                <a:latin typeface="Aptos"/>
              </a:rPr>
              <a:t>92 countries represented</a:t>
            </a:r>
          </a:p>
        </p:txBody>
      </p:sp>
      <p:sp>
        <p:nvSpPr>
          <p:cNvPr id="63" name="Oval 62"/>
          <p:cNvSpPr/>
          <p:nvPr/>
        </p:nvSpPr>
        <p:spPr>
          <a:xfrm>
            <a:off x="9089136" y="4334256"/>
            <a:ext cx="137160" cy="137160"/>
          </a:xfrm>
          <a:prstGeom prst="ellipse">
            <a:avLst/>
          </a:prstGeom>
          <a:solidFill>
            <a:srgbClr val="FFA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326880" y="4288536"/>
            <a:ext cx="18745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F6F8FF"/>
                </a:solidFill>
                <a:latin typeface="Aptos"/>
              </a:rPr>
              <a:t>Avg global ranking score: 43.04</a:t>
            </a:r>
          </a:p>
        </p:txBody>
      </p:sp>
      <p:sp>
        <p:nvSpPr>
          <p:cNvPr id="65" name="Oval 64"/>
          <p:cNvSpPr/>
          <p:nvPr/>
        </p:nvSpPr>
        <p:spPr>
          <a:xfrm>
            <a:off x="9089136" y="4855464"/>
            <a:ext cx="137160" cy="137160"/>
          </a:xfrm>
          <a:prstGeom prst="ellipse">
            <a:avLst/>
          </a:prstGeom>
          <a:solidFill>
            <a:srgbClr val="FFA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326880" y="4809744"/>
            <a:ext cx="18745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F6F8FF"/>
                </a:solidFill>
                <a:latin typeface="Aptos"/>
              </a:rPr>
              <a:t>Avg academic reputation: 29.45</a:t>
            </a:r>
          </a:p>
        </p:txBody>
      </p:sp>
      <p:sp>
        <p:nvSpPr>
          <p:cNvPr id="67" name="Oval 66"/>
          <p:cNvSpPr/>
          <p:nvPr/>
        </p:nvSpPr>
        <p:spPr>
          <a:xfrm>
            <a:off x="9089136" y="5376672"/>
            <a:ext cx="137160" cy="137160"/>
          </a:xfrm>
          <a:prstGeom prst="ellipse">
            <a:avLst/>
          </a:prstGeom>
          <a:solidFill>
            <a:srgbClr val="FFA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326880" y="5330952"/>
            <a:ext cx="18745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F6F8FF"/>
                </a:solidFill>
                <a:latin typeface="Aptos"/>
              </a:rPr>
              <a:t>Avg research impact: 49.17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70848" y="5760720"/>
            <a:ext cx="2148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AD4B"/>
                </a:solidFill>
                <a:latin typeface="Aptos"/>
              </a:rPr>
              <a:t>COUNTRY COMPARISON  •  DASHBOARD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49808" y="1810512"/>
            <a:ext cx="7516368" cy="4352544"/>
          </a:xfrm>
          <a:prstGeom prst="roundRect">
            <a:avLst/>
          </a:prstGeom>
          <a:solidFill>
            <a:srgbClr val="0C1127"/>
          </a:solidFill>
          <a:ln w="21590">
            <a:solidFill>
              <a:srgbClr val="FFA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6720840" y="1517904"/>
            <a:ext cx="1417320" cy="274320"/>
          </a:xfrm>
          <a:prstGeom prst="roundRect">
            <a:avLst/>
          </a:prstGeom>
          <a:solidFill>
            <a:srgbClr val="121933"/>
          </a:solidFill>
          <a:ln w="10160">
            <a:solidFill>
              <a:srgbClr val="FFA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A1ABCA"/>
                </a:solidFill>
                <a:latin typeface="Aptos"/>
              </a:rPr>
              <a:t>TABLEAU OUTPUT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94360" y="1554480"/>
            <a:ext cx="4800600" cy="246888"/>
          </a:xfrm>
          <a:prstGeom prst="roundRect">
            <a:avLst/>
          </a:prstGeom>
          <a:solidFill>
            <a:srgbClr val="121933"/>
          </a:solidFill>
          <a:ln w="19050">
            <a:solidFill>
              <a:srgbClr val="FFA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04672" y="1586484"/>
            <a:ext cx="4389120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F6F8FF"/>
                </a:solidFill>
                <a:latin typeface="Aptos"/>
              </a:rPr>
              <a:t>04  •  COUNTRY COMPARISON</a:t>
            </a:r>
          </a:p>
        </p:txBody>
      </p:sp>
      <p:pic>
        <p:nvPicPr>
          <p:cNvPr id="75" name="Picture 74" descr="crop_15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2104" y="1901952"/>
            <a:ext cx="7351775" cy="416966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0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658368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33DEDE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34440"/>
            <a:ext cx="585216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300" b="1">
                <a:solidFill>
                  <a:srgbClr val="F6F8FF"/>
                </a:solidFill>
                <a:latin typeface="Aptos"/>
              </a:rPr>
              <a:t>From raw data to
interactive insight.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761488"/>
            <a:ext cx="585216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A1ABCA"/>
                </a:solidFill>
                <a:latin typeface="Aptos"/>
              </a:rPr>
              <a:t>The internship provided hands-on experience in data collection,
data preparation, KPI engineering, Tableau visualization,
dashboard integration, validation and project delivery.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051560"/>
            <a:ext cx="4069080" cy="4160520"/>
          </a:xfrm>
          <a:prstGeom prst="roundRect">
            <a:avLst/>
          </a:prstGeom>
          <a:solidFill>
            <a:srgbClr val="121933"/>
          </a:solidFill>
          <a:ln w="15240">
            <a:solidFill>
              <a:srgbClr val="344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43800" y="1417320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894BFF"/>
                </a:solidFill>
                <a:latin typeface="Aptos"/>
              </a:rPr>
              <a:t>EDUVISION_DV</a:t>
            </a:r>
          </a:p>
        </p:txBody>
      </p:sp>
      <p:sp>
        <p:nvSpPr>
          <p:cNvPr id="8" name="Oval 7"/>
          <p:cNvSpPr/>
          <p:nvPr/>
        </p:nvSpPr>
        <p:spPr>
          <a:xfrm>
            <a:off x="7543800" y="2148840"/>
            <a:ext cx="438912" cy="438912"/>
          </a:xfrm>
          <a:prstGeom prst="ellipse">
            <a:avLst/>
          </a:prstGeom>
          <a:solidFill>
            <a:srgbClr val="89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43800" y="2240280"/>
            <a:ext cx="438912" cy="155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6F8FF"/>
                </a:solidFill>
                <a:latin typeface="Aptos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176272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6F8FF"/>
                </a:solidFill>
                <a:latin typeface="Aptos"/>
              </a:rPr>
              <a:t>KPIs</a:t>
            </a:r>
          </a:p>
        </p:txBody>
      </p:sp>
      <p:sp>
        <p:nvSpPr>
          <p:cNvPr id="11" name="Oval 10"/>
          <p:cNvSpPr/>
          <p:nvPr/>
        </p:nvSpPr>
        <p:spPr>
          <a:xfrm>
            <a:off x="7543800" y="2971800"/>
            <a:ext cx="438912" cy="438912"/>
          </a:xfrm>
          <a:prstGeom prst="ellipse">
            <a:avLst/>
          </a:prstGeom>
          <a:solidFill>
            <a:srgbClr val="3D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43800" y="3063240"/>
            <a:ext cx="438912" cy="155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6F8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999232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6F8FF"/>
                </a:solidFill>
                <a:latin typeface="Aptos"/>
              </a:rPr>
              <a:t>Dashboards</a:t>
            </a:r>
          </a:p>
        </p:txBody>
      </p:sp>
      <p:sp>
        <p:nvSpPr>
          <p:cNvPr id="14" name="Oval 13"/>
          <p:cNvSpPr/>
          <p:nvPr/>
        </p:nvSpPr>
        <p:spPr>
          <a:xfrm>
            <a:off x="7543800" y="3794760"/>
            <a:ext cx="438912" cy="438912"/>
          </a:xfrm>
          <a:prstGeom prst="ellipse">
            <a:avLst/>
          </a:prstGeom>
          <a:solidFill>
            <a:srgbClr val="33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43800" y="3886200"/>
            <a:ext cx="438912" cy="155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6F8FF"/>
                </a:solidFill>
                <a:latin typeface="Aptos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3822192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6F8FF"/>
                </a:solidFill>
                <a:latin typeface="Aptos"/>
              </a:rPr>
              <a:t>Weeks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230368"/>
            <a:ext cx="2468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F6F8FF"/>
                </a:solidFill>
                <a:latin typeface="Aptos"/>
              </a:rPr>
              <a:t>THANK YOU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5806440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3DEDE"/>
                </a:solidFill>
                <a:latin typeface="Aptos"/>
              </a:rPr>
              <a:t>Mahesh Deshmukh  •  Springboard InfoSys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" y="1115568"/>
            <a:ext cx="7315200" cy="329184"/>
          </a:xfrm>
          <a:prstGeom prst="roundRect">
            <a:avLst/>
          </a:prstGeom>
          <a:solidFill>
            <a:srgbClr val="0C1127"/>
          </a:solidFill>
          <a:ln w="8890">
            <a:solidFill>
              <a:srgbClr val="344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hlinkClick r:id="rId2" action="ppaction://hlinksldjump"/>
          </p:cNvPr>
          <p:cNvSpPr txBox="1"/>
          <p:nvPr/>
        </p:nvSpPr>
        <p:spPr>
          <a:xfrm>
            <a:off x="594360" y="1188720"/>
            <a:ext cx="5029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HOME</a:t>
            </a:r>
          </a:p>
        </p:txBody>
      </p:sp>
      <p:sp>
        <p:nvSpPr>
          <p:cNvPr id="21" name="TextBox 20">
            <a:hlinkClick r:id="rId3" action="ppaction://hlinksldjump"/>
          </p:cNvPr>
          <p:cNvSpPr txBox="1"/>
          <p:nvPr/>
        </p:nvSpPr>
        <p:spPr>
          <a:xfrm>
            <a:off x="1234440" y="1188720"/>
            <a:ext cx="71323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OVERVIEW</a:t>
            </a:r>
          </a:p>
        </p:txBody>
      </p:sp>
      <p:sp>
        <p:nvSpPr>
          <p:cNvPr id="22" name="TextBox 21">
            <a:hlinkClick r:id="rId4" action="ppaction://hlinksldjump"/>
          </p:cNvPr>
          <p:cNvSpPr txBox="1"/>
          <p:nvPr/>
        </p:nvSpPr>
        <p:spPr>
          <a:xfrm>
            <a:off x="2057400" y="1188720"/>
            <a:ext cx="5943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TECH</a:t>
            </a:r>
          </a:p>
        </p:txBody>
      </p:sp>
      <p:sp>
        <p:nvSpPr>
          <p:cNvPr id="23" name="TextBox 22">
            <a:hlinkClick r:id="rId5" action="ppaction://hlinksldjump"/>
          </p:cNvPr>
          <p:cNvSpPr txBox="1"/>
          <p:nvPr/>
        </p:nvSpPr>
        <p:spPr>
          <a:xfrm>
            <a:off x="2852928" y="1188720"/>
            <a:ext cx="62179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PROJECT</a:t>
            </a:r>
          </a:p>
        </p:txBody>
      </p:sp>
      <p:sp>
        <p:nvSpPr>
          <p:cNvPr id="24" name="TextBox 23">
            <a:hlinkClick r:id="rId6" action="ppaction://hlinksldjump"/>
          </p:cNvPr>
          <p:cNvSpPr txBox="1"/>
          <p:nvPr/>
        </p:nvSpPr>
        <p:spPr>
          <a:xfrm>
            <a:off x="3703320" y="1188720"/>
            <a:ext cx="5029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KPI</a:t>
            </a:r>
          </a:p>
        </p:txBody>
      </p:sp>
      <p:sp>
        <p:nvSpPr>
          <p:cNvPr id="25" name="TextBox 24">
            <a:hlinkClick r:id="rId7" action="ppaction://hlinksldjump"/>
          </p:cNvPr>
          <p:cNvSpPr txBox="1"/>
          <p:nvPr/>
        </p:nvSpPr>
        <p:spPr>
          <a:xfrm>
            <a:off x="4370832" y="1188720"/>
            <a:ext cx="57607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ARCH</a:t>
            </a:r>
          </a:p>
        </p:txBody>
      </p:sp>
      <p:sp>
        <p:nvSpPr>
          <p:cNvPr id="26" name="TextBox 25">
            <a:hlinkClick r:id="rId8" action="ppaction://hlinksldjump"/>
          </p:cNvPr>
          <p:cNvSpPr txBox="1"/>
          <p:nvPr/>
        </p:nvSpPr>
        <p:spPr>
          <a:xfrm>
            <a:off x="5138928" y="1188720"/>
            <a:ext cx="65836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MODULES</a:t>
            </a:r>
          </a:p>
        </p:txBody>
      </p:sp>
      <p:sp>
        <p:nvSpPr>
          <p:cNvPr id="27" name="TextBox 26">
            <a:hlinkClick r:id="rId9" action="ppaction://hlinksldjump"/>
          </p:cNvPr>
          <p:cNvSpPr txBox="1"/>
          <p:nvPr/>
        </p:nvSpPr>
        <p:spPr>
          <a:xfrm>
            <a:off x="5989320" y="1188720"/>
            <a:ext cx="5029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WORK</a:t>
            </a:r>
          </a:p>
        </p:txBody>
      </p:sp>
      <p:sp>
        <p:nvSpPr>
          <p:cNvPr id="28" name="TextBox 27">
            <a:hlinkClick r:id="rId10" action="ppaction://hlinksldjump"/>
          </p:cNvPr>
          <p:cNvSpPr txBox="1"/>
          <p:nvPr/>
        </p:nvSpPr>
        <p:spPr>
          <a:xfrm>
            <a:off x="6766560" y="1188720"/>
            <a:ext cx="5943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A1ABCA"/>
                </a:solidFill>
                <a:latin typeface="Aptos"/>
              </a:rPr>
              <a:t>RESULTS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4114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A1ABCA"/>
                </a:solidFill>
                <a:latin typeface="Aptos"/>
              </a:rPr>
              <a:t>EDUVISION_DV  •  SPRINGBOARD INFOSYS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82528" y="6492240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A1ABCA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1481</Words>
  <Application>Microsoft Office PowerPoint</Application>
  <PresentationFormat>Widescreen</PresentationFormat>
  <Paragraphs>613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Mahesh Bhimrao Deshmukh Deshmukh</cp:lastModifiedBy>
  <cp:revision>1</cp:revision>
  <dcterms:created xsi:type="dcterms:W3CDTF">2013-01-27T09:14:16Z</dcterms:created>
  <dcterms:modified xsi:type="dcterms:W3CDTF">2026-09-18T12:02:57Z</dcterms:modified>
  <cp:category/>
</cp:coreProperties>
</file>