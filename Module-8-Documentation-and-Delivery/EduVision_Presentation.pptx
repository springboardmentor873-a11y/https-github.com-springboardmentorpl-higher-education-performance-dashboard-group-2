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7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109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www.kaggle.com/datasets/raymondtoo/the-world-university-rankings-2016-2024/data" TargetMode="External"/><Relationship Id="rId4" Type="http://schemas.openxmlformats.org/officeDocument/2006/relationships/hyperlink" Target="https://www.kaggle.com/datasets/dhrubangtalukdar/qs-world-university-rankings-2026-top-1500"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F"/>
        </a:solidFill>
        <a:effectLst/>
      </p:bgPr>
    </p:bg>
    <p:spTree>
      <p:nvGrpSpPr>
        <p:cNvPr id="1" name=""/>
        <p:cNvGrpSpPr/>
        <p:nvPr/>
      </p:nvGrpSpPr>
      <p:grpSpPr>
        <a:xfrm>
          <a:off x="0" y="0"/>
          <a:ext cx="0" cy="0"/>
          <a:chOff x="0" y="0"/>
          <a:chExt cx="0" cy="0"/>
        </a:xfrm>
      </p:grpSpPr>
      <p:sp>
        <p:nvSpPr>
          <p:cNvPr id="2" name="Shape 0"/>
          <p:cNvSpPr/>
          <p:nvPr/>
        </p:nvSpPr>
        <p:spPr>
          <a:xfrm>
            <a:off x="8412480" y="-2194560"/>
            <a:ext cx="5943600" cy="5943600"/>
          </a:xfrm>
          <a:prstGeom prst="ellipse">
            <a:avLst/>
          </a:prstGeom>
          <a:solidFill>
            <a:srgbClr val="6D28D9">
              <a:alpha val="18000"/>
            </a:srgbClr>
          </a:solidFill>
          <a:ln/>
        </p:spPr>
      </p:sp>
      <p:sp>
        <p:nvSpPr>
          <p:cNvPr id="3" name="Shape 1"/>
          <p:cNvSpPr/>
          <p:nvPr/>
        </p:nvSpPr>
        <p:spPr>
          <a:xfrm>
            <a:off x="-2011680" y="4206240"/>
            <a:ext cx="5029200" cy="5029200"/>
          </a:xfrm>
          <a:prstGeom prst="ellipse">
            <a:avLst/>
          </a:prstGeom>
          <a:solidFill>
            <a:srgbClr val="3B82F6">
              <a:alpha val="14000"/>
            </a:srgbClr>
          </a:solidFill>
          <a:ln/>
        </p:spPr>
      </p:sp>
      <p:pic>
        <p:nvPicPr>
          <p:cNvPr id="4" name="Image 0" descr="/home/claude/work/imgs/icon_grad_cap.png"/>
          <p:cNvPicPr>
            <a:picLocks noChangeAspect="1"/>
          </p:cNvPicPr>
          <p:nvPr/>
        </p:nvPicPr>
        <p:blipFill>
          <a:blip r:embed="rId3"/>
          <a:stretch>
            <a:fillRect/>
          </a:stretch>
        </p:blipFill>
        <p:spPr>
          <a:xfrm>
            <a:off x="5138928" y="1417320"/>
            <a:ext cx="822960" cy="822960"/>
          </a:xfrm>
          <a:prstGeom prst="rect">
            <a:avLst/>
          </a:prstGeom>
        </p:spPr>
      </p:pic>
      <p:sp>
        <p:nvSpPr>
          <p:cNvPr id="5" name="Text 2"/>
          <p:cNvSpPr/>
          <p:nvPr/>
        </p:nvSpPr>
        <p:spPr>
          <a:xfrm>
            <a:off x="0" y="2395728"/>
            <a:ext cx="12188952" cy="365760"/>
          </a:xfrm>
          <a:prstGeom prst="rect">
            <a:avLst/>
          </a:prstGeom>
          <a:noFill/>
          <a:ln/>
        </p:spPr>
        <p:txBody>
          <a:bodyPr wrap="square" rtlCol="0" anchor="ctr"/>
          <a:lstStyle/>
          <a:p>
            <a:pPr marL="0" indent="0" algn="ctr">
              <a:buNone/>
            </a:pPr>
            <a:r>
              <a:rPr lang="en-US" sz="1500" b="1" kern="0" spc="400" dirty="0">
                <a:solidFill>
                  <a:srgbClr val="8B5CF6"/>
                </a:solidFill>
                <a:latin typeface="Calibri" pitchFamily="34" charset="0"/>
                <a:ea typeface="Calibri" pitchFamily="34" charset="-122"/>
                <a:cs typeface="Calibri" pitchFamily="34" charset="-120"/>
              </a:rPr>
              <a:t>EDUVISION</a:t>
            </a:r>
            <a:endParaRPr lang="en-US" sz="1500" dirty="0"/>
          </a:p>
        </p:txBody>
      </p:sp>
      <p:sp>
        <p:nvSpPr>
          <p:cNvPr id="6" name="Text 3"/>
          <p:cNvSpPr/>
          <p:nvPr/>
        </p:nvSpPr>
        <p:spPr>
          <a:xfrm>
            <a:off x="548640" y="2743200"/>
            <a:ext cx="11091672" cy="914400"/>
          </a:xfrm>
          <a:prstGeom prst="rect">
            <a:avLst/>
          </a:prstGeom>
          <a:noFill/>
          <a:ln/>
        </p:spPr>
        <p:txBody>
          <a:bodyPr wrap="square"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Higher Education Performance Dashboard</a:t>
            </a:r>
            <a:endParaRPr lang="en-US" sz="4000" dirty="0"/>
          </a:p>
        </p:txBody>
      </p:sp>
      <p:sp>
        <p:nvSpPr>
          <p:cNvPr id="7" name="Shape 4"/>
          <p:cNvSpPr/>
          <p:nvPr/>
        </p:nvSpPr>
        <p:spPr>
          <a:xfrm>
            <a:off x="5413248" y="3749040"/>
            <a:ext cx="1371600" cy="41148"/>
          </a:xfrm>
          <a:prstGeom prst="rect">
            <a:avLst/>
          </a:prstGeom>
          <a:solidFill>
            <a:srgbClr val="8B5CF6"/>
          </a:solidFill>
          <a:ln/>
        </p:spPr>
      </p:sp>
      <p:sp>
        <p:nvSpPr>
          <p:cNvPr id="8" name="Text 5"/>
          <p:cNvSpPr/>
          <p:nvPr/>
        </p:nvSpPr>
        <p:spPr>
          <a:xfrm>
            <a:off x="548640" y="3977640"/>
            <a:ext cx="11091672" cy="457200"/>
          </a:xfrm>
          <a:prstGeom prst="rect">
            <a:avLst/>
          </a:prstGeom>
          <a:noFill/>
          <a:ln/>
        </p:spPr>
        <p:txBody>
          <a:bodyPr wrap="square" rtlCol="0" anchor="ctr"/>
          <a:lstStyle/>
          <a:p>
            <a:pPr marL="0" indent="0" algn="ctr">
              <a:buNone/>
            </a:pPr>
            <a:r>
              <a:rPr lang="en-US" sz="1700" dirty="0">
                <a:solidFill>
                  <a:srgbClr val="AEB4CC"/>
                </a:solidFill>
                <a:latin typeface="Calibri" pitchFamily="34" charset="0"/>
                <a:ea typeface="Calibri" pitchFamily="34" charset="-122"/>
                <a:cs typeface="Calibri" pitchFamily="34" charset="-120"/>
              </a:rPr>
              <a:t>Higher Education Analytics using QS &amp; THE Rankings</a:t>
            </a:r>
            <a:endParaRPr lang="en-US" sz="1700" dirty="0"/>
          </a:p>
        </p:txBody>
      </p:sp>
      <p:sp>
        <p:nvSpPr>
          <p:cNvPr id="9" name="Text 6"/>
          <p:cNvSpPr/>
          <p:nvPr/>
        </p:nvSpPr>
        <p:spPr>
          <a:xfrm>
            <a:off x="548640" y="5623560"/>
            <a:ext cx="11091672" cy="274320"/>
          </a:xfrm>
          <a:prstGeom prst="rect">
            <a:avLst/>
          </a:prstGeom>
          <a:noFill/>
          <a:ln/>
        </p:spPr>
        <p:txBody>
          <a:bodyPr wrap="square" rtlCol="0" anchor="ctr"/>
          <a:lstStyle/>
          <a:p>
            <a:pPr marL="0" indent="0" algn="ctr">
              <a:buNone/>
            </a:pPr>
            <a:r>
              <a:rPr lang="en-US" sz="1200" dirty="0">
                <a:solidFill>
                  <a:srgbClr val="8A90AE"/>
                </a:solidFill>
                <a:latin typeface="Calibri" pitchFamily="34" charset="0"/>
                <a:ea typeface="Calibri" pitchFamily="34" charset="-122"/>
                <a:cs typeface="Calibri" pitchFamily="34" charset="-120"/>
              </a:rPr>
              <a:t>Presented by</a:t>
            </a:r>
            <a:endParaRPr lang="en-US" sz="1200" dirty="0"/>
          </a:p>
        </p:txBody>
      </p:sp>
      <p:sp>
        <p:nvSpPr>
          <p:cNvPr id="10" name="Text 7"/>
          <p:cNvSpPr/>
          <p:nvPr/>
        </p:nvSpPr>
        <p:spPr>
          <a:xfrm>
            <a:off x="548640" y="5897880"/>
            <a:ext cx="11091672"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Puppala Lavanya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300" b="1" kern="0" spc="200" dirty="0">
                <a:solidFill>
                  <a:srgbClr val="8B5CF6"/>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548640" y="658368"/>
            <a:ext cx="109728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One Question, Too Many Rankings</a:t>
            </a:r>
            <a:endParaRPr lang="en-US" sz="2800" dirty="0"/>
          </a:p>
        </p:txBody>
      </p:sp>
      <p:sp>
        <p:nvSpPr>
          <p:cNvPr id="4" name="Shape 2"/>
          <p:cNvSpPr/>
          <p:nvPr/>
        </p:nvSpPr>
        <p:spPr>
          <a:xfrm>
            <a:off x="548640" y="1965960"/>
            <a:ext cx="11091672" cy="3017520"/>
          </a:xfrm>
          <a:prstGeom prst="roundRect">
            <a:avLst>
              <a:gd name="adj" fmla="val 3030"/>
            </a:avLst>
          </a:prstGeom>
          <a:solidFill>
            <a:srgbClr val="141834"/>
          </a:solidFill>
          <a:ln w="12700">
            <a:solidFill>
              <a:srgbClr val="262B4A"/>
            </a:solidFill>
            <a:prstDash val="solid"/>
          </a:ln>
        </p:spPr>
      </p:sp>
      <p:sp>
        <p:nvSpPr>
          <p:cNvPr id="5" name="Shape 3"/>
          <p:cNvSpPr/>
          <p:nvPr/>
        </p:nvSpPr>
        <p:spPr>
          <a:xfrm>
            <a:off x="548640" y="1965960"/>
            <a:ext cx="73152" cy="3017520"/>
          </a:xfrm>
          <a:prstGeom prst="rect">
            <a:avLst/>
          </a:prstGeom>
          <a:solidFill>
            <a:srgbClr val="F5A623"/>
          </a:solidFill>
          <a:ln/>
        </p:spPr>
      </p:sp>
      <p:sp>
        <p:nvSpPr>
          <p:cNvPr id="6" name="Text 4"/>
          <p:cNvSpPr/>
          <p:nvPr/>
        </p:nvSpPr>
        <p:spPr>
          <a:xfrm>
            <a:off x="1051560" y="1965960"/>
            <a:ext cx="9966960" cy="3017520"/>
          </a:xfrm>
          <a:prstGeom prst="rect">
            <a:avLst/>
          </a:prstGeom>
          <a:noFill/>
          <a:ln/>
        </p:spPr>
        <p:txBody>
          <a:bodyPr wrap="square" rtlCol="0" anchor="ctr"/>
          <a:lstStyle/>
          <a:p>
            <a:pPr marL="0" indent="0">
              <a:lnSpc>
                <a:spcPct val="140000"/>
              </a:lnSpc>
              <a:buNone/>
            </a:pPr>
            <a:r>
              <a:rPr lang="en-US" sz="2000" dirty="0">
                <a:solidFill>
                  <a:srgbClr val="E7E9F5"/>
                </a:solidFill>
                <a:latin typeface="Calibri" pitchFamily="34" charset="0"/>
                <a:ea typeface="Calibri" pitchFamily="34" charset="-122"/>
                <a:cs typeface="Calibri" pitchFamily="34" charset="-120"/>
              </a:rPr>
              <a:t>Higher education data is spread across different ranking sources, making it difficult to compare universities, analyze research performance, understand student diversity, and identify global education trends.</a:t>
            </a:r>
            <a:endParaRPr lang="en-US" sz="2000" dirty="0"/>
          </a:p>
        </p:txBody>
      </p:sp>
      <p:sp>
        <p:nvSpPr>
          <p:cNvPr id="7" name="Text 5"/>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8" name="Text 6"/>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300" b="1" kern="0" spc="200" dirty="0">
                <a:solidFill>
                  <a:srgbClr val="8B5CF6"/>
                </a:solidFill>
                <a:latin typeface="Calibri" pitchFamily="34" charset="0"/>
                <a:ea typeface="Calibri" pitchFamily="34" charset="-122"/>
                <a:cs typeface="Calibri" pitchFamily="34" charset="-120"/>
              </a:rPr>
              <a:t>PROPOSED SOLUTION</a:t>
            </a:r>
            <a:endParaRPr lang="en-US" sz="1300" dirty="0"/>
          </a:p>
        </p:txBody>
      </p:sp>
      <p:sp>
        <p:nvSpPr>
          <p:cNvPr id="3" name="Text 1"/>
          <p:cNvSpPr/>
          <p:nvPr/>
        </p:nvSpPr>
        <p:spPr>
          <a:xfrm>
            <a:off x="548640" y="658368"/>
            <a:ext cx="109728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One Connected Dashboard Suite</a:t>
            </a:r>
            <a:endParaRPr lang="en-US" sz="2800" dirty="0"/>
          </a:p>
        </p:txBody>
      </p:sp>
      <p:sp>
        <p:nvSpPr>
          <p:cNvPr id="4" name="Shape 2"/>
          <p:cNvSpPr/>
          <p:nvPr/>
        </p:nvSpPr>
        <p:spPr>
          <a:xfrm>
            <a:off x="548640" y="1600200"/>
            <a:ext cx="11091672" cy="1417320"/>
          </a:xfrm>
          <a:prstGeom prst="roundRect">
            <a:avLst>
              <a:gd name="adj" fmla="val 6452"/>
            </a:avLst>
          </a:prstGeom>
          <a:solidFill>
            <a:srgbClr val="141834"/>
          </a:solidFill>
          <a:ln w="12700">
            <a:solidFill>
              <a:srgbClr val="262B4A"/>
            </a:solidFill>
            <a:prstDash val="solid"/>
          </a:ln>
        </p:spPr>
      </p:sp>
      <p:sp>
        <p:nvSpPr>
          <p:cNvPr id="5" name="Shape 3"/>
          <p:cNvSpPr/>
          <p:nvPr/>
        </p:nvSpPr>
        <p:spPr>
          <a:xfrm>
            <a:off x="548640" y="1600200"/>
            <a:ext cx="73152" cy="1417320"/>
          </a:xfrm>
          <a:prstGeom prst="rect">
            <a:avLst/>
          </a:prstGeom>
          <a:solidFill>
            <a:srgbClr val="34D399"/>
          </a:solidFill>
          <a:ln/>
        </p:spPr>
      </p:sp>
      <p:sp>
        <p:nvSpPr>
          <p:cNvPr id="6" name="Text 4"/>
          <p:cNvSpPr/>
          <p:nvPr/>
        </p:nvSpPr>
        <p:spPr>
          <a:xfrm>
            <a:off x="1051560" y="1600200"/>
            <a:ext cx="9966960" cy="1417320"/>
          </a:xfrm>
          <a:prstGeom prst="rect">
            <a:avLst/>
          </a:prstGeom>
          <a:noFill/>
          <a:ln/>
        </p:spPr>
        <p:txBody>
          <a:bodyPr wrap="square" rtlCol="0" anchor="ctr"/>
          <a:lstStyle/>
          <a:p>
            <a:pPr marL="0" indent="0">
              <a:lnSpc>
                <a:spcPct val="130000"/>
              </a:lnSpc>
              <a:buNone/>
            </a:pPr>
            <a:r>
              <a:rPr lang="en-US" sz="1550" dirty="0">
                <a:solidFill>
                  <a:srgbClr val="E7E9F5"/>
                </a:solidFill>
                <a:latin typeface="Calibri" pitchFamily="34" charset="0"/>
                <a:ea typeface="Calibri" pitchFamily="34" charset="-122"/>
                <a:cs typeface="Calibri" pitchFamily="34" charset="-120"/>
              </a:rPr>
              <a:t>We developed an interactive Tableau dashboard suite that combines QS and THE university ranking data, cleans and standardizes the data, creates key education KPIs, and provides interactive analysis through four connected dashboards.</a:t>
            </a:r>
            <a:endParaRPr lang="en-US" sz="1550" dirty="0"/>
          </a:p>
        </p:txBody>
      </p:sp>
      <p:sp>
        <p:nvSpPr>
          <p:cNvPr id="7" name="Shape 5"/>
          <p:cNvSpPr/>
          <p:nvPr/>
        </p:nvSpPr>
        <p:spPr>
          <a:xfrm>
            <a:off x="548640" y="3337560"/>
            <a:ext cx="2697480" cy="1965960"/>
          </a:xfrm>
          <a:prstGeom prst="roundRect">
            <a:avLst>
              <a:gd name="adj" fmla="val 4186"/>
            </a:avLst>
          </a:prstGeom>
          <a:solidFill>
            <a:srgbClr val="141834"/>
          </a:solidFill>
          <a:ln w="12700">
            <a:solidFill>
              <a:srgbClr val="262B4A"/>
            </a:solidFill>
            <a:prstDash val="solid"/>
          </a:ln>
        </p:spPr>
      </p:sp>
      <p:sp>
        <p:nvSpPr>
          <p:cNvPr id="8" name="Shape 6"/>
          <p:cNvSpPr/>
          <p:nvPr/>
        </p:nvSpPr>
        <p:spPr>
          <a:xfrm>
            <a:off x="1531620" y="3611880"/>
            <a:ext cx="731520" cy="731520"/>
          </a:xfrm>
          <a:prstGeom prst="ellipse">
            <a:avLst/>
          </a:prstGeom>
          <a:solidFill>
            <a:srgbClr val="0B0E1F"/>
          </a:solidFill>
          <a:ln w="19050">
            <a:solidFill>
              <a:srgbClr val="8B5CF6"/>
            </a:solidFill>
            <a:prstDash val="solid"/>
          </a:ln>
        </p:spPr>
      </p:sp>
      <p:pic>
        <p:nvPicPr>
          <p:cNvPr id="9" name="Image 0" descr="/home/claude/work/imgs/icon_database.png"/>
          <p:cNvPicPr>
            <a:picLocks noChangeAspect="1"/>
          </p:cNvPicPr>
          <p:nvPr/>
        </p:nvPicPr>
        <p:blipFill>
          <a:blip r:embed="rId3"/>
          <a:stretch>
            <a:fillRect/>
          </a:stretch>
        </p:blipFill>
        <p:spPr>
          <a:xfrm>
            <a:off x="1696212" y="3776472"/>
            <a:ext cx="402336" cy="402336"/>
          </a:xfrm>
          <a:prstGeom prst="rect">
            <a:avLst/>
          </a:prstGeom>
        </p:spPr>
      </p:pic>
      <p:sp>
        <p:nvSpPr>
          <p:cNvPr id="10" name="Text 7"/>
          <p:cNvSpPr/>
          <p:nvPr/>
        </p:nvSpPr>
        <p:spPr>
          <a:xfrm>
            <a:off x="685800" y="4572000"/>
            <a:ext cx="24231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Combine</a:t>
            </a:r>
            <a:endParaRPr lang="en-US" sz="1500" dirty="0"/>
          </a:p>
        </p:txBody>
      </p:sp>
      <p:sp>
        <p:nvSpPr>
          <p:cNvPr id="11" name="Shape 8"/>
          <p:cNvSpPr/>
          <p:nvPr/>
        </p:nvSpPr>
        <p:spPr>
          <a:xfrm>
            <a:off x="3392424" y="3337560"/>
            <a:ext cx="2697480" cy="1965960"/>
          </a:xfrm>
          <a:prstGeom prst="roundRect">
            <a:avLst>
              <a:gd name="adj" fmla="val 4186"/>
            </a:avLst>
          </a:prstGeom>
          <a:solidFill>
            <a:srgbClr val="141834"/>
          </a:solidFill>
          <a:ln w="12700">
            <a:solidFill>
              <a:srgbClr val="262B4A"/>
            </a:solidFill>
            <a:prstDash val="solid"/>
          </a:ln>
        </p:spPr>
      </p:sp>
      <p:sp>
        <p:nvSpPr>
          <p:cNvPr id="12" name="Shape 9"/>
          <p:cNvSpPr/>
          <p:nvPr/>
        </p:nvSpPr>
        <p:spPr>
          <a:xfrm>
            <a:off x="4375404" y="3611880"/>
            <a:ext cx="731520" cy="731520"/>
          </a:xfrm>
          <a:prstGeom prst="ellipse">
            <a:avLst/>
          </a:prstGeom>
          <a:solidFill>
            <a:srgbClr val="0B0E1F"/>
          </a:solidFill>
          <a:ln w="19050">
            <a:solidFill>
              <a:srgbClr val="3B82F6"/>
            </a:solidFill>
            <a:prstDash val="solid"/>
          </a:ln>
        </p:spPr>
      </p:sp>
      <p:pic>
        <p:nvPicPr>
          <p:cNvPr id="13" name="Image 1" descr="/home/claude/work/imgs/icon_cogs.png"/>
          <p:cNvPicPr>
            <a:picLocks noChangeAspect="1"/>
          </p:cNvPicPr>
          <p:nvPr/>
        </p:nvPicPr>
        <p:blipFill>
          <a:blip r:embed="rId4"/>
          <a:stretch>
            <a:fillRect/>
          </a:stretch>
        </p:blipFill>
        <p:spPr>
          <a:xfrm>
            <a:off x="4539996" y="3776472"/>
            <a:ext cx="402336" cy="402336"/>
          </a:xfrm>
          <a:prstGeom prst="rect">
            <a:avLst/>
          </a:prstGeom>
        </p:spPr>
      </p:pic>
      <p:sp>
        <p:nvSpPr>
          <p:cNvPr id="14" name="Text 10"/>
          <p:cNvSpPr/>
          <p:nvPr/>
        </p:nvSpPr>
        <p:spPr>
          <a:xfrm>
            <a:off x="3529584" y="4572000"/>
            <a:ext cx="24231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Clean &amp; Standardize</a:t>
            </a:r>
            <a:endParaRPr lang="en-US" sz="1500" dirty="0"/>
          </a:p>
        </p:txBody>
      </p:sp>
      <p:sp>
        <p:nvSpPr>
          <p:cNvPr id="15" name="Shape 11"/>
          <p:cNvSpPr/>
          <p:nvPr/>
        </p:nvSpPr>
        <p:spPr>
          <a:xfrm>
            <a:off x="6236208" y="3337560"/>
            <a:ext cx="2697480" cy="1965960"/>
          </a:xfrm>
          <a:prstGeom prst="roundRect">
            <a:avLst>
              <a:gd name="adj" fmla="val 4186"/>
            </a:avLst>
          </a:prstGeom>
          <a:solidFill>
            <a:srgbClr val="141834"/>
          </a:solidFill>
          <a:ln w="12700">
            <a:solidFill>
              <a:srgbClr val="262B4A"/>
            </a:solidFill>
            <a:prstDash val="solid"/>
          </a:ln>
        </p:spPr>
      </p:sp>
      <p:sp>
        <p:nvSpPr>
          <p:cNvPr id="16" name="Shape 12"/>
          <p:cNvSpPr/>
          <p:nvPr/>
        </p:nvSpPr>
        <p:spPr>
          <a:xfrm>
            <a:off x="7219188" y="3611880"/>
            <a:ext cx="731520" cy="731520"/>
          </a:xfrm>
          <a:prstGeom prst="ellipse">
            <a:avLst/>
          </a:prstGeom>
          <a:solidFill>
            <a:srgbClr val="0B0E1F"/>
          </a:solidFill>
          <a:ln w="19050">
            <a:solidFill>
              <a:srgbClr val="F5A623"/>
            </a:solidFill>
            <a:prstDash val="solid"/>
          </a:ln>
        </p:spPr>
      </p:sp>
      <p:pic>
        <p:nvPicPr>
          <p:cNvPr id="17" name="Image 2" descr="/home/claude/work/imgs/icon_bullseye.png"/>
          <p:cNvPicPr>
            <a:picLocks noChangeAspect="1"/>
          </p:cNvPicPr>
          <p:nvPr/>
        </p:nvPicPr>
        <p:blipFill>
          <a:blip r:embed="rId5"/>
          <a:stretch>
            <a:fillRect/>
          </a:stretch>
        </p:blipFill>
        <p:spPr>
          <a:xfrm>
            <a:off x="7383780" y="3776472"/>
            <a:ext cx="402336" cy="402336"/>
          </a:xfrm>
          <a:prstGeom prst="rect">
            <a:avLst/>
          </a:prstGeom>
        </p:spPr>
      </p:pic>
      <p:sp>
        <p:nvSpPr>
          <p:cNvPr id="18" name="Text 13"/>
          <p:cNvSpPr/>
          <p:nvPr/>
        </p:nvSpPr>
        <p:spPr>
          <a:xfrm>
            <a:off x="6373368" y="4572000"/>
            <a:ext cx="24231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Engineer KPIs</a:t>
            </a:r>
            <a:endParaRPr lang="en-US" sz="1500" dirty="0"/>
          </a:p>
        </p:txBody>
      </p:sp>
      <p:sp>
        <p:nvSpPr>
          <p:cNvPr id="19" name="Shape 14"/>
          <p:cNvSpPr/>
          <p:nvPr/>
        </p:nvSpPr>
        <p:spPr>
          <a:xfrm>
            <a:off x="9079992" y="3337560"/>
            <a:ext cx="2697480" cy="1965960"/>
          </a:xfrm>
          <a:prstGeom prst="roundRect">
            <a:avLst>
              <a:gd name="adj" fmla="val 4186"/>
            </a:avLst>
          </a:prstGeom>
          <a:solidFill>
            <a:srgbClr val="141834"/>
          </a:solidFill>
          <a:ln w="12700">
            <a:solidFill>
              <a:srgbClr val="262B4A"/>
            </a:solidFill>
            <a:prstDash val="solid"/>
          </a:ln>
        </p:spPr>
      </p:sp>
      <p:sp>
        <p:nvSpPr>
          <p:cNvPr id="20" name="Shape 15"/>
          <p:cNvSpPr/>
          <p:nvPr/>
        </p:nvSpPr>
        <p:spPr>
          <a:xfrm>
            <a:off x="10062972" y="3611880"/>
            <a:ext cx="731520" cy="731520"/>
          </a:xfrm>
          <a:prstGeom prst="ellipse">
            <a:avLst/>
          </a:prstGeom>
          <a:solidFill>
            <a:srgbClr val="0B0E1F"/>
          </a:solidFill>
          <a:ln w="19050">
            <a:solidFill>
              <a:srgbClr val="34D399"/>
            </a:solidFill>
            <a:prstDash val="solid"/>
          </a:ln>
        </p:spPr>
      </p:sp>
      <p:pic>
        <p:nvPicPr>
          <p:cNvPr id="21" name="Image 3" descr="/home/claude/work/imgs/icon_chartbar.png"/>
          <p:cNvPicPr>
            <a:picLocks noChangeAspect="1"/>
          </p:cNvPicPr>
          <p:nvPr/>
        </p:nvPicPr>
        <p:blipFill>
          <a:blip r:embed="rId6"/>
          <a:stretch>
            <a:fillRect/>
          </a:stretch>
        </p:blipFill>
        <p:spPr>
          <a:xfrm>
            <a:off x="10227564" y="3776472"/>
            <a:ext cx="402336" cy="402336"/>
          </a:xfrm>
          <a:prstGeom prst="rect">
            <a:avLst/>
          </a:prstGeom>
        </p:spPr>
      </p:pic>
      <p:sp>
        <p:nvSpPr>
          <p:cNvPr id="22" name="Text 16"/>
          <p:cNvSpPr/>
          <p:nvPr/>
        </p:nvSpPr>
        <p:spPr>
          <a:xfrm>
            <a:off x="9217152" y="4572000"/>
            <a:ext cx="242316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 Live Dashboards</a:t>
            </a:r>
            <a:endParaRPr lang="en-US" sz="1500" dirty="0"/>
          </a:p>
        </p:txBody>
      </p:sp>
      <p:sp>
        <p:nvSpPr>
          <p:cNvPr id="23" name="Text 17"/>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24" name="Text 18"/>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300" b="1" kern="0" spc="200" dirty="0">
                <a:solidFill>
                  <a:srgbClr val="8B5CF6"/>
                </a:solidFill>
                <a:latin typeface="Calibri" pitchFamily="34" charset="0"/>
                <a:ea typeface="Calibri" pitchFamily="34" charset="-122"/>
                <a:cs typeface="Calibri" pitchFamily="34" charset="-120"/>
              </a:rPr>
              <a:t>DATASETS</a:t>
            </a:r>
            <a:endParaRPr lang="en-US" sz="1300" dirty="0"/>
          </a:p>
        </p:txBody>
      </p:sp>
      <p:sp>
        <p:nvSpPr>
          <p:cNvPr id="3" name="Text 1"/>
          <p:cNvSpPr/>
          <p:nvPr/>
        </p:nvSpPr>
        <p:spPr>
          <a:xfrm>
            <a:off x="548640" y="658368"/>
            <a:ext cx="109728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Powers the Dashboards</a:t>
            </a:r>
            <a:endParaRPr lang="en-US" sz="2800" dirty="0"/>
          </a:p>
        </p:txBody>
      </p:sp>
      <p:sp>
        <p:nvSpPr>
          <p:cNvPr id="4" name="Shape 2"/>
          <p:cNvSpPr/>
          <p:nvPr/>
        </p:nvSpPr>
        <p:spPr>
          <a:xfrm>
            <a:off x="548640" y="1645920"/>
            <a:ext cx="11091672" cy="1234440"/>
          </a:xfrm>
          <a:prstGeom prst="roundRect">
            <a:avLst>
              <a:gd name="adj" fmla="val 5926"/>
            </a:avLst>
          </a:prstGeom>
          <a:solidFill>
            <a:srgbClr val="141834"/>
          </a:solidFill>
          <a:ln w="12700">
            <a:solidFill>
              <a:srgbClr val="262B4A"/>
            </a:solidFill>
            <a:prstDash val="solid"/>
          </a:ln>
        </p:spPr>
      </p:sp>
      <p:pic>
        <p:nvPicPr>
          <p:cNvPr id="5" name="Image 0" descr="/home/claude/work/imgs/icon_kaggle.png"/>
          <p:cNvPicPr>
            <a:picLocks noChangeAspect="1"/>
          </p:cNvPicPr>
          <p:nvPr/>
        </p:nvPicPr>
        <p:blipFill>
          <a:blip r:embed="rId3"/>
          <a:stretch>
            <a:fillRect/>
          </a:stretch>
        </p:blipFill>
        <p:spPr>
          <a:xfrm>
            <a:off x="822960" y="1993392"/>
            <a:ext cx="548640" cy="548640"/>
          </a:xfrm>
          <a:prstGeom prst="rect">
            <a:avLst/>
          </a:prstGeom>
        </p:spPr>
      </p:pic>
      <p:sp>
        <p:nvSpPr>
          <p:cNvPr id="6" name="Text 3"/>
          <p:cNvSpPr/>
          <p:nvPr/>
        </p:nvSpPr>
        <p:spPr>
          <a:xfrm>
            <a:off x="1600200" y="1792224"/>
            <a:ext cx="877824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QS World University Rankings 2026 — Top 1500</a:t>
            </a:r>
            <a:endParaRPr lang="en-US" sz="1600" dirty="0"/>
          </a:p>
        </p:txBody>
      </p:sp>
      <p:sp>
        <p:nvSpPr>
          <p:cNvPr id="7" name="Text 4"/>
          <p:cNvSpPr/>
          <p:nvPr/>
        </p:nvSpPr>
        <p:spPr>
          <a:xfrm>
            <a:off x="1600200" y="2212848"/>
            <a:ext cx="9326880" cy="411480"/>
          </a:xfrm>
          <a:prstGeom prst="rect">
            <a:avLst/>
          </a:prstGeom>
          <a:noFill/>
          <a:ln/>
        </p:spPr>
        <p:txBody>
          <a:bodyPr wrap="square" rtlCol="0" anchor="ctr"/>
          <a:lstStyle/>
          <a:p>
            <a:pPr marL="0" indent="0">
              <a:buNone/>
            </a:pPr>
            <a:r>
              <a:rPr lang="en-US" sz="1150" u="sng" dirty="0">
                <a:solidFill>
                  <a:srgbClr val="6FB6F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https://www.kaggle.com/datasets/dhrubangtalukdar/qs-world-university-rankings-2026-top-1500</a:t>
            </a:r>
            <a:endParaRPr lang="en-US" sz="1150" dirty="0"/>
          </a:p>
        </p:txBody>
      </p:sp>
      <p:sp>
        <p:nvSpPr>
          <p:cNvPr id="8" name="Shape 5"/>
          <p:cNvSpPr/>
          <p:nvPr/>
        </p:nvSpPr>
        <p:spPr>
          <a:xfrm>
            <a:off x="548640" y="3108960"/>
            <a:ext cx="11091672" cy="1234440"/>
          </a:xfrm>
          <a:prstGeom prst="roundRect">
            <a:avLst>
              <a:gd name="adj" fmla="val 5926"/>
            </a:avLst>
          </a:prstGeom>
          <a:solidFill>
            <a:srgbClr val="141834"/>
          </a:solidFill>
          <a:ln w="12700">
            <a:solidFill>
              <a:srgbClr val="262B4A"/>
            </a:solidFill>
            <a:prstDash val="solid"/>
          </a:ln>
        </p:spPr>
      </p:sp>
      <p:pic>
        <p:nvPicPr>
          <p:cNvPr id="9" name="Image 1" descr="/home/claude/work/imgs/icon_kaggle.png"/>
          <p:cNvPicPr>
            <a:picLocks noChangeAspect="1"/>
          </p:cNvPicPr>
          <p:nvPr/>
        </p:nvPicPr>
        <p:blipFill>
          <a:blip r:embed="rId3"/>
          <a:stretch>
            <a:fillRect/>
          </a:stretch>
        </p:blipFill>
        <p:spPr>
          <a:xfrm>
            <a:off x="822960" y="3456432"/>
            <a:ext cx="548640" cy="548640"/>
          </a:xfrm>
          <a:prstGeom prst="rect">
            <a:avLst/>
          </a:prstGeom>
        </p:spPr>
      </p:pic>
      <p:sp>
        <p:nvSpPr>
          <p:cNvPr id="10" name="Text 6"/>
          <p:cNvSpPr/>
          <p:nvPr/>
        </p:nvSpPr>
        <p:spPr>
          <a:xfrm>
            <a:off x="1600200" y="3255264"/>
            <a:ext cx="8778240" cy="41148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World University Rankings 2016–2026</a:t>
            </a:r>
            <a:endParaRPr lang="en-US" sz="1600" dirty="0"/>
          </a:p>
        </p:txBody>
      </p:sp>
      <p:sp>
        <p:nvSpPr>
          <p:cNvPr id="11" name="Text 7"/>
          <p:cNvSpPr/>
          <p:nvPr/>
        </p:nvSpPr>
        <p:spPr>
          <a:xfrm>
            <a:off x="1600200" y="3675888"/>
            <a:ext cx="9326880" cy="411480"/>
          </a:xfrm>
          <a:prstGeom prst="rect">
            <a:avLst/>
          </a:prstGeom>
          <a:noFill/>
          <a:ln/>
        </p:spPr>
        <p:txBody>
          <a:bodyPr wrap="square" rtlCol="0" anchor="ctr"/>
          <a:lstStyle/>
          <a:p>
            <a:pPr marL="0" indent="0">
              <a:buNone/>
            </a:pPr>
            <a:r>
              <a:rPr lang="en-US" sz="1150" u="sng" dirty="0">
                <a:solidFill>
                  <a:srgbClr val="6FB6F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https://www.kaggle.com/datasets/raymondtoo/the-world-university-rankings-2016-2024/data</a:t>
            </a:r>
            <a:endParaRPr lang="en-US" sz="1150" dirty="0"/>
          </a:p>
        </p:txBody>
      </p:sp>
      <p:sp>
        <p:nvSpPr>
          <p:cNvPr id="12" name="Text 8"/>
          <p:cNvSpPr/>
          <p:nvPr/>
        </p:nvSpPr>
        <p:spPr>
          <a:xfrm>
            <a:off x="548640" y="4709160"/>
            <a:ext cx="4572000" cy="274320"/>
          </a:xfrm>
          <a:prstGeom prst="rect">
            <a:avLst/>
          </a:prstGeom>
          <a:noFill/>
          <a:ln/>
        </p:spPr>
        <p:txBody>
          <a:bodyPr wrap="square" rtlCol="0" anchor="ctr"/>
          <a:lstStyle/>
          <a:p>
            <a:pPr marL="0" indent="0">
              <a:buNone/>
            </a:pPr>
            <a:r>
              <a:rPr lang="en-US" sz="1200" b="1" kern="0" spc="200" dirty="0">
                <a:solidFill>
                  <a:srgbClr val="AEB4CC"/>
                </a:solidFill>
                <a:latin typeface="Calibri" pitchFamily="34" charset="0"/>
                <a:ea typeface="Calibri" pitchFamily="34" charset="-122"/>
                <a:cs typeface="Calibri" pitchFamily="34" charset="-120"/>
              </a:rPr>
              <a:t>TOOLS</a:t>
            </a:r>
            <a:endParaRPr lang="en-US" sz="1200" dirty="0"/>
          </a:p>
        </p:txBody>
      </p:sp>
      <p:sp>
        <p:nvSpPr>
          <p:cNvPr id="13" name="Shape 9"/>
          <p:cNvSpPr/>
          <p:nvPr/>
        </p:nvSpPr>
        <p:spPr>
          <a:xfrm>
            <a:off x="548640" y="5074920"/>
            <a:ext cx="5394960" cy="1005840"/>
          </a:xfrm>
          <a:prstGeom prst="roundRect">
            <a:avLst>
              <a:gd name="adj" fmla="val 7273"/>
            </a:avLst>
          </a:prstGeom>
          <a:solidFill>
            <a:srgbClr val="141834"/>
          </a:solidFill>
          <a:ln w="12700">
            <a:solidFill>
              <a:srgbClr val="262B4A"/>
            </a:solidFill>
            <a:prstDash val="solid"/>
          </a:ln>
        </p:spPr>
      </p:sp>
      <p:pic>
        <p:nvPicPr>
          <p:cNvPr id="14" name="Image 2" descr="/home/claude/work/imgs/icon_python.png"/>
          <p:cNvPicPr>
            <a:picLocks noChangeAspect="1"/>
          </p:cNvPicPr>
          <p:nvPr/>
        </p:nvPicPr>
        <p:blipFill>
          <a:blip r:embed="rId6"/>
          <a:stretch>
            <a:fillRect/>
          </a:stretch>
        </p:blipFill>
        <p:spPr>
          <a:xfrm>
            <a:off x="822960" y="5330952"/>
            <a:ext cx="457200" cy="457200"/>
          </a:xfrm>
          <a:prstGeom prst="rect">
            <a:avLst/>
          </a:prstGeom>
        </p:spPr>
      </p:pic>
      <p:sp>
        <p:nvSpPr>
          <p:cNvPr id="15" name="Text 10"/>
          <p:cNvSpPr/>
          <p:nvPr/>
        </p:nvSpPr>
        <p:spPr>
          <a:xfrm>
            <a:off x="1463040" y="5166360"/>
            <a:ext cx="42976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Python, Pandas &amp; NumPy</a:t>
            </a:r>
            <a:endParaRPr lang="en-US" sz="1400" dirty="0"/>
          </a:p>
        </p:txBody>
      </p:sp>
      <p:sp>
        <p:nvSpPr>
          <p:cNvPr id="16" name="Text 11"/>
          <p:cNvSpPr/>
          <p:nvPr/>
        </p:nvSpPr>
        <p:spPr>
          <a:xfrm>
            <a:off x="1463040" y="5532120"/>
            <a:ext cx="4297680" cy="411480"/>
          </a:xfrm>
          <a:prstGeom prst="rect">
            <a:avLst/>
          </a:prstGeom>
          <a:noFill/>
          <a:ln/>
        </p:spPr>
        <p:txBody>
          <a:bodyPr wrap="square" rtlCol="0" anchor="ctr"/>
          <a:lstStyle/>
          <a:p>
            <a:pPr marL="0" indent="0">
              <a:buNone/>
            </a:pPr>
            <a:r>
              <a:rPr lang="en-US" sz="1050" dirty="0">
                <a:solidFill>
                  <a:srgbClr val="AEB4CC"/>
                </a:solidFill>
                <a:latin typeface="Calibri" pitchFamily="34" charset="0"/>
                <a:ea typeface="Calibri" pitchFamily="34" charset="-122"/>
                <a:cs typeface="Calibri" pitchFamily="34" charset="-120"/>
              </a:rPr>
              <a:t>Data cleaning and transformation</a:t>
            </a:r>
            <a:endParaRPr lang="en-US" sz="1050" dirty="0"/>
          </a:p>
        </p:txBody>
      </p:sp>
      <p:sp>
        <p:nvSpPr>
          <p:cNvPr id="17" name="Shape 12"/>
          <p:cNvSpPr/>
          <p:nvPr/>
        </p:nvSpPr>
        <p:spPr>
          <a:xfrm>
            <a:off x="6245352" y="5074920"/>
            <a:ext cx="5394960" cy="1005840"/>
          </a:xfrm>
          <a:prstGeom prst="roundRect">
            <a:avLst>
              <a:gd name="adj" fmla="val 7273"/>
            </a:avLst>
          </a:prstGeom>
          <a:solidFill>
            <a:srgbClr val="141834"/>
          </a:solidFill>
          <a:ln w="12700">
            <a:solidFill>
              <a:srgbClr val="262B4A"/>
            </a:solidFill>
            <a:prstDash val="solid"/>
          </a:ln>
        </p:spPr>
      </p:sp>
      <p:pic>
        <p:nvPicPr>
          <p:cNvPr id="18" name="Image 3" descr="/home/claude/work/imgs/icon_chartbar.png"/>
          <p:cNvPicPr>
            <a:picLocks noChangeAspect="1"/>
          </p:cNvPicPr>
          <p:nvPr/>
        </p:nvPicPr>
        <p:blipFill>
          <a:blip r:embed="rId7"/>
          <a:stretch>
            <a:fillRect/>
          </a:stretch>
        </p:blipFill>
        <p:spPr>
          <a:xfrm>
            <a:off x="6519672" y="5330952"/>
            <a:ext cx="457200" cy="457200"/>
          </a:xfrm>
          <a:prstGeom prst="rect">
            <a:avLst/>
          </a:prstGeom>
        </p:spPr>
      </p:pic>
      <p:sp>
        <p:nvSpPr>
          <p:cNvPr id="19" name="Text 13"/>
          <p:cNvSpPr/>
          <p:nvPr/>
        </p:nvSpPr>
        <p:spPr>
          <a:xfrm>
            <a:off x="7159752" y="5166360"/>
            <a:ext cx="42976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Tableau</a:t>
            </a:r>
            <a:endParaRPr lang="en-US" sz="1400" dirty="0"/>
          </a:p>
        </p:txBody>
      </p:sp>
      <p:sp>
        <p:nvSpPr>
          <p:cNvPr id="20" name="Text 14"/>
          <p:cNvSpPr/>
          <p:nvPr/>
        </p:nvSpPr>
        <p:spPr>
          <a:xfrm>
            <a:off x="7159752" y="5532120"/>
            <a:ext cx="4297680" cy="411480"/>
          </a:xfrm>
          <a:prstGeom prst="rect">
            <a:avLst/>
          </a:prstGeom>
          <a:noFill/>
          <a:ln/>
        </p:spPr>
        <p:txBody>
          <a:bodyPr wrap="square" rtlCol="0" anchor="ctr"/>
          <a:lstStyle/>
          <a:p>
            <a:pPr marL="0" indent="0">
              <a:buNone/>
            </a:pPr>
            <a:r>
              <a:rPr lang="en-US" sz="1050" dirty="0">
                <a:solidFill>
                  <a:srgbClr val="AEB4CC"/>
                </a:solidFill>
                <a:latin typeface="Calibri" pitchFamily="34" charset="0"/>
                <a:ea typeface="Calibri" pitchFamily="34" charset="-122"/>
                <a:cs typeface="Calibri" pitchFamily="34" charset="-120"/>
              </a:rPr>
              <a:t>Visualization and dashboard development</a:t>
            </a:r>
            <a:endParaRPr lang="en-US" sz="1050" dirty="0"/>
          </a:p>
        </p:txBody>
      </p:sp>
      <p:sp>
        <p:nvSpPr>
          <p:cNvPr id="21" name="Text 15"/>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22" name="Text 16"/>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300" b="1" kern="0" spc="200" dirty="0">
                <a:solidFill>
                  <a:srgbClr val="8B5CF6"/>
                </a:solidFill>
                <a:latin typeface="Calibri" pitchFamily="34" charset="0"/>
                <a:ea typeface="Calibri" pitchFamily="34" charset="-122"/>
                <a:cs typeface="Calibri" pitchFamily="34" charset="-120"/>
              </a:rPr>
              <a:t>METHODOLOGY</a:t>
            </a:r>
            <a:endParaRPr lang="en-US" sz="1300" dirty="0"/>
          </a:p>
        </p:txBody>
      </p:sp>
      <p:sp>
        <p:nvSpPr>
          <p:cNvPr id="3" name="Text 1"/>
          <p:cNvSpPr/>
          <p:nvPr/>
        </p:nvSpPr>
        <p:spPr>
          <a:xfrm>
            <a:off x="548640" y="658368"/>
            <a:ext cx="109728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Raw Rankings to Insight</a:t>
            </a:r>
            <a:endParaRPr lang="en-US" sz="2800" dirty="0"/>
          </a:p>
        </p:txBody>
      </p:sp>
      <p:sp>
        <p:nvSpPr>
          <p:cNvPr id="4" name="Shape 2"/>
          <p:cNvSpPr/>
          <p:nvPr/>
        </p:nvSpPr>
        <p:spPr>
          <a:xfrm>
            <a:off x="548640" y="2788920"/>
            <a:ext cx="1581912" cy="1417320"/>
          </a:xfrm>
          <a:prstGeom prst="roundRect">
            <a:avLst>
              <a:gd name="adj" fmla="val 5806"/>
            </a:avLst>
          </a:prstGeom>
          <a:solidFill>
            <a:srgbClr val="141834"/>
          </a:solidFill>
          <a:ln w="15875">
            <a:solidFill>
              <a:srgbClr val="8B5CF6"/>
            </a:solidFill>
            <a:prstDash val="solid"/>
          </a:ln>
        </p:spPr>
      </p:sp>
      <p:sp>
        <p:nvSpPr>
          <p:cNvPr id="5" name="Shape 3"/>
          <p:cNvSpPr/>
          <p:nvPr/>
        </p:nvSpPr>
        <p:spPr>
          <a:xfrm>
            <a:off x="1083564" y="2221992"/>
            <a:ext cx="512064" cy="512064"/>
          </a:xfrm>
          <a:prstGeom prst="ellipse">
            <a:avLst/>
          </a:prstGeom>
          <a:solidFill>
            <a:srgbClr val="8B5CF6"/>
          </a:solidFill>
          <a:ln/>
        </p:spPr>
      </p:sp>
      <p:sp>
        <p:nvSpPr>
          <p:cNvPr id="6" name="Text 4"/>
          <p:cNvSpPr/>
          <p:nvPr/>
        </p:nvSpPr>
        <p:spPr>
          <a:xfrm>
            <a:off x="1083564" y="2221992"/>
            <a:ext cx="512064" cy="512064"/>
          </a:xfrm>
          <a:prstGeom prst="rect">
            <a:avLst/>
          </a:prstGeom>
          <a:noFill/>
          <a:ln/>
        </p:spPr>
        <p:txBody>
          <a:bodyPr wrap="square" rtlCol="0" anchor="ctr"/>
          <a:lstStyle/>
          <a:p>
            <a:pPr marL="0" indent="0" algn="ctr">
              <a:buNone/>
            </a:pPr>
            <a:r>
              <a:rPr lang="en-US" sz="1800" b="1" dirty="0">
                <a:solidFill>
                  <a:srgbClr val="0B0E1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621792" y="2898648"/>
            <a:ext cx="1435608" cy="1197864"/>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Data Collection</a:t>
            </a:r>
            <a:endParaRPr lang="en-US" sz="1300" dirty="0"/>
          </a:p>
        </p:txBody>
      </p:sp>
      <p:sp>
        <p:nvSpPr>
          <p:cNvPr id="8" name="Text 6"/>
          <p:cNvSpPr/>
          <p:nvPr/>
        </p:nvSpPr>
        <p:spPr>
          <a:xfrm>
            <a:off x="2130552" y="2788920"/>
            <a:ext cx="320040" cy="1417320"/>
          </a:xfrm>
          <a:prstGeom prst="rect">
            <a:avLst/>
          </a:prstGeom>
          <a:noFill/>
          <a:ln/>
        </p:spPr>
        <p:txBody>
          <a:bodyPr wrap="square" rtlCol="0" anchor="ctr"/>
          <a:lstStyle/>
          <a:p>
            <a:pPr marL="0" indent="0" algn="ctr">
              <a:buNone/>
            </a:pPr>
            <a:r>
              <a:rPr lang="en-US" sz="2200" dirty="0">
                <a:solidFill>
                  <a:srgbClr val="4B5178"/>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450592" y="2788920"/>
            <a:ext cx="1581912" cy="1417320"/>
          </a:xfrm>
          <a:prstGeom prst="roundRect">
            <a:avLst>
              <a:gd name="adj" fmla="val 5806"/>
            </a:avLst>
          </a:prstGeom>
          <a:solidFill>
            <a:srgbClr val="141834"/>
          </a:solidFill>
          <a:ln w="15875">
            <a:solidFill>
              <a:srgbClr val="3B82F6"/>
            </a:solidFill>
            <a:prstDash val="solid"/>
          </a:ln>
        </p:spPr>
      </p:sp>
      <p:sp>
        <p:nvSpPr>
          <p:cNvPr id="10" name="Shape 8"/>
          <p:cNvSpPr/>
          <p:nvPr/>
        </p:nvSpPr>
        <p:spPr>
          <a:xfrm>
            <a:off x="2985516" y="2221992"/>
            <a:ext cx="512064" cy="512064"/>
          </a:xfrm>
          <a:prstGeom prst="ellipse">
            <a:avLst/>
          </a:prstGeom>
          <a:solidFill>
            <a:srgbClr val="3B82F6"/>
          </a:solidFill>
          <a:ln/>
        </p:spPr>
      </p:sp>
      <p:sp>
        <p:nvSpPr>
          <p:cNvPr id="11" name="Text 9"/>
          <p:cNvSpPr/>
          <p:nvPr/>
        </p:nvSpPr>
        <p:spPr>
          <a:xfrm>
            <a:off x="2985516" y="2221992"/>
            <a:ext cx="512064" cy="512064"/>
          </a:xfrm>
          <a:prstGeom prst="rect">
            <a:avLst/>
          </a:prstGeom>
          <a:noFill/>
          <a:ln/>
        </p:spPr>
        <p:txBody>
          <a:bodyPr wrap="square" rtlCol="0" anchor="ctr"/>
          <a:lstStyle/>
          <a:p>
            <a:pPr marL="0" indent="0" algn="ctr">
              <a:buNone/>
            </a:pPr>
            <a:r>
              <a:rPr lang="en-US" sz="1800" b="1" dirty="0">
                <a:solidFill>
                  <a:srgbClr val="0B0E1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2523744" y="2898648"/>
            <a:ext cx="1435608" cy="1197864"/>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Data Cleaning &amp;</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Transformation</a:t>
            </a:r>
            <a:endParaRPr lang="en-US" sz="1300" dirty="0"/>
          </a:p>
        </p:txBody>
      </p:sp>
      <p:sp>
        <p:nvSpPr>
          <p:cNvPr id="13" name="Text 11"/>
          <p:cNvSpPr/>
          <p:nvPr/>
        </p:nvSpPr>
        <p:spPr>
          <a:xfrm>
            <a:off x="4032504" y="2788920"/>
            <a:ext cx="320040" cy="1417320"/>
          </a:xfrm>
          <a:prstGeom prst="rect">
            <a:avLst/>
          </a:prstGeom>
          <a:noFill/>
          <a:ln/>
        </p:spPr>
        <p:txBody>
          <a:bodyPr wrap="square" rtlCol="0" anchor="ctr"/>
          <a:lstStyle/>
          <a:p>
            <a:pPr marL="0" indent="0" algn="ctr">
              <a:buNone/>
            </a:pPr>
            <a:r>
              <a:rPr lang="en-US" sz="2200" dirty="0">
                <a:solidFill>
                  <a:srgbClr val="4B5178"/>
                </a:solidFill>
                <a:latin typeface="Calibri" pitchFamily="34" charset="0"/>
                <a:ea typeface="Calibri" pitchFamily="34" charset="-122"/>
                <a:cs typeface="Calibri" pitchFamily="34" charset="-120"/>
              </a:rPr>
              <a:t>→</a:t>
            </a:r>
            <a:endParaRPr lang="en-US" sz="2200" dirty="0"/>
          </a:p>
        </p:txBody>
      </p:sp>
      <p:sp>
        <p:nvSpPr>
          <p:cNvPr id="14" name="Shape 12"/>
          <p:cNvSpPr/>
          <p:nvPr/>
        </p:nvSpPr>
        <p:spPr>
          <a:xfrm>
            <a:off x="4352544" y="2788920"/>
            <a:ext cx="1581912" cy="1417320"/>
          </a:xfrm>
          <a:prstGeom prst="roundRect">
            <a:avLst>
              <a:gd name="adj" fmla="val 5806"/>
            </a:avLst>
          </a:prstGeom>
          <a:solidFill>
            <a:srgbClr val="141834"/>
          </a:solidFill>
          <a:ln w="15875">
            <a:solidFill>
              <a:srgbClr val="F5A623"/>
            </a:solidFill>
            <a:prstDash val="solid"/>
          </a:ln>
        </p:spPr>
      </p:sp>
      <p:sp>
        <p:nvSpPr>
          <p:cNvPr id="15" name="Shape 13"/>
          <p:cNvSpPr/>
          <p:nvPr/>
        </p:nvSpPr>
        <p:spPr>
          <a:xfrm>
            <a:off x="4887468" y="2221992"/>
            <a:ext cx="512064" cy="512064"/>
          </a:xfrm>
          <a:prstGeom prst="ellipse">
            <a:avLst/>
          </a:prstGeom>
          <a:solidFill>
            <a:srgbClr val="F5A623"/>
          </a:solidFill>
          <a:ln/>
        </p:spPr>
      </p:sp>
      <p:sp>
        <p:nvSpPr>
          <p:cNvPr id="16" name="Text 14"/>
          <p:cNvSpPr/>
          <p:nvPr/>
        </p:nvSpPr>
        <p:spPr>
          <a:xfrm>
            <a:off x="4887468" y="2221992"/>
            <a:ext cx="512064" cy="512064"/>
          </a:xfrm>
          <a:prstGeom prst="rect">
            <a:avLst/>
          </a:prstGeom>
          <a:noFill/>
          <a:ln/>
        </p:spPr>
        <p:txBody>
          <a:bodyPr wrap="square" rtlCol="0" anchor="ctr"/>
          <a:lstStyle/>
          <a:p>
            <a:pPr marL="0" indent="0" algn="ctr">
              <a:buNone/>
            </a:pPr>
            <a:r>
              <a:rPr lang="en-US" sz="1800" b="1" dirty="0">
                <a:solidFill>
                  <a:srgbClr val="0B0E1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4425696" y="2898648"/>
            <a:ext cx="1435608" cy="1197864"/>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KPI</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18" name="Text 16"/>
          <p:cNvSpPr/>
          <p:nvPr/>
        </p:nvSpPr>
        <p:spPr>
          <a:xfrm>
            <a:off x="5934456" y="2788920"/>
            <a:ext cx="320040" cy="1417320"/>
          </a:xfrm>
          <a:prstGeom prst="rect">
            <a:avLst/>
          </a:prstGeom>
          <a:noFill/>
          <a:ln/>
        </p:spPr>
        <p:txBody>
          <a:bodyPr wrap="square" rtlCol="0" anchor="ctr"/>
          <a:lstStyle/>
          <a:p>
            <a:pPr marL="0" indent="0" algn="ctr">
              <a:buNone/>
            </a:pPr>
            <a:r>
              <a:rPr lang="en-US" sz="2200" dirty="0">
                <a:solidFill>
                  <a:srgbClr val="4B517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6254496" y="2788920"/>
            <a:ext cx="1581912" cy="1417320"/>
          </a:xfrm>
          <a:prstGeom prst="roundRect">
            <a:avLst>
              <a:gd name="adj" fmla="val 5806"/>
            </a:avLst>
          </a:prstGeom>
          <a:solidFill>
            <a:srgbClr val="141834"/>
          </a:solidFill>
          <a:ln w="15875">
            <a:solidFill>
              <a:srgbClr val="34D399"/>
            </a:solidFill>
            <a:prstDash val="solid"/>
          </a:ln>
        </p:spPr>
      </p:sp>
      <p:sp>
        <p:nvSpPr>
          <p:cNvPr id="20" name="Shape 18"/>
          <p:cNvSpPr/>
          <p:nvPr/>
        </p:nvSpPr>
        <p:spPr>
          <a:xfrm>
            <a:off x="6789420" y="2221992"/>
            <a:ext cx="512064" cy="512064"/>
          </a:xfrm>
          <a:prstGeom prst="ellipse">
            <a:avLst/>
          </a:prstGeom>
          <a:solidFill>
            <a:srgbClr val="34D399"/>
          </a:solidFill>
          <a:ln/>
        </p:spPr>
      </p:sp>
      <p:sp>
        <p:nvSpPr>
          <p:cNvPr id="21" name="Text 19"/>
          <p:cNvSpPr/>
          <p:nvPr/>
        </p:nvSpPr>
        <p:spPr>
          <a:xfrm>
            <a:off x="6789420" y="2221992"/>
            <a:ext cx="512064" cy="512064"/>
          </a:xfrm>
          <a:prstGeom prst="rect">
            <a:avLst/>
          </a:prstGeom>
          <a:noFill/>
          <a:ln/>
        </p:spPr>
        <p:txBody>
          <a:bodyPr wrap="square" rtlCol="0" anchor="ctr"/>
          <a:lstStyle/>
          <a:p>
            <a:pPr marL="0" indent="0" algn="ctr">
              <a:buNone/>
            </a:pPr>
            <a:r>
              <a:rPr lang="en-US" sz="1800" b="1" dirty="0">
                <a:solidFill>
                  <a:srgbClr val="0B0E1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6327648" y="2898648"/>
            <a:ext cx="1435608" cy="1197864"/>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Development</a:t>
            </a:r>
            <a:endParaRPr lang="en-US" sz="1300" dirty="0"/>
          </a:p>
        </p:txBody>
      </p:sp>
      <p:sp>
        <p:nvSpPr>
          <p:cNvPr id="23" name="Text 21"/>
          <p:cNvSpPr/>
          <p:nvPr/>
        </p:nvSpPr>
        <p:spPr>
          <a:xfrm>
            <a:off x="7836408" y="2788920"/>
            <a:ext cx="320040" cy="1417320"/>
          </a:xfrm>
          <a:prstGeom prst="rect">
            <a:avLst/>
          </a:prstGeom>
          <a:noFill/>
          <a:ln/>
        </p:spPr>
        <p:txBody>
          <a:bodyPr wrap="square" rtlCol="0" anchor="ctr"/>
          <a:lstStyle/>
          <a:p>
            <a:pPr marL="0" indent="0" algn="ctr">
              <a:buNone/>
            </a:pPr>
            <a:r>
              <a:rPr lang="en-US" sz="2200" dirty="0">
                <a:solidFill>
                  <a:srgbClr val="4B5178"/>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8156448" y="2788920"/>
            <a:ext cx="1581912" cy="1417320"/>
          </a:xfrm>
          <a:prstGeom prst="roundRect">
            <a:avLst>
              <a:gd name="adj" fmla="val 5806"/>
            </a:avLst>
          </a:prstGeom>
          <a:solidFill>
            <a:srgbClr val="141834"/>
          </a:solidFill>
          <a:ln w="15875">
            <a:solidFill>
              <a:srgbClr val="8B5CF6"/>
            </a:solidFill>
            <a:prstDash val="solid"/>
          </a:ln>
        </p:spPr>
      </p:sp>
      <p:sp>
        <p:nvSpPr>
          <p:cNvPr id="25" name="Shape 23"/>
          <p:cNvSpPr/>
          <p:nvPr/>
        </p:nvSpPr>
        <p:spPr>
          <a:xfrm>
            <a:off x="8691372" y="2221992"/>
            <a:ext cx="512064" cy="512064"/>
          </a:xfrm>
          <a:prstGeom prst="ellipse">
            <a:avLst/>
          </a:prstGeom>
          <a:solidFill>
            <a:srgbClr val="8B5CF6"/>
          </a:solidFill>
          <a:ln/>
        </p:spPr>
      </p:sp>
      <p:sp>
        <p:nvSpPr>
          <p:cNvPr id="26" name="Text 24"/>
          <p:cNvSpPr/>
          <p:nvPr/>
        </p:nvSpPr>
        <p:spPr>
          <a:xfrm>
            <a:off x="8691372" y="2221992"/>
            <a:ext cx="512064" cy="512064"/>
          </a:xfrm>
          <a:prstGeom prst="rect">
            <a:avLst/>
          </a:prstGeom>
          <a:noFill/>
          <a:ln/>
        </p:spPr>
        <p:txBody>
          <a:bodyPr wrap="square" rtlCol="0" anchor="ctr"/>
          <a:lstStyle/>
          <a:p>
            <a:pPr marL="0" indent="0" algn="ctr">
              <a:buNone/>
            </a:pPr>
            <a:r>
              <a:rPr lang="en-US" sz="1800" b="1" dirty="0">
                <a:solidFill>
                  <a:srgbClr val="0B0E1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8229600" y="2898648"/>
            <a:ext cx="1435608" cy="1197864"/>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Dashboard</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Integration</a:t>
            </a:r>
            <a:endParaRPr lang="en-US" sz="1300" dirty="0"/>
          </a:p>
        </p:txBody>
      </p:sp>
      <p:sp>
        <p:nvSpPr>
          <p:cNvPr id="28" name="Text 26"/>
          <p:cNvSpPr/>
          <p:nvPr/>
        </p:nvSpPr>
        <p:spPr>
          <a:xfrm>
            <a:off x="9738360" y="2788920"/>
            <a:ext cx="320040" cy="1417320"/>
          </a:xfrm>
          <a:prstGeom prst="rect">
            <a:avLst/>
          </a:prstGeom>
          <a:noFill/>
          <a:ln/>
        </p:spPr>
        <p:txBody>
          <a:bodyPr wrap="square" rtlCol="0" anchor="ctr"/>
          <a:lstStyle/>
          <a:p>
            <a:pPr marL="0" indent="0" algn="ctr">
              <a:buNone/>
            </a:pPr>
            <a:r>
              <a:rPr lang="en-US" sz="2200" dirty="0">
                <a:solidFill>
                  <a:srgbClr val="4B5178"/>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10058400" y="2788920"/>
            <a:ext cx="1581912" cy="1417320"/>
          </a:xfrm>
          <a:prstGeom prst="roundRect">
            <a:avLst>
              <a:gd name="adj" fmla="val 5806"/>
            </a:avLst>
          </a:prstGeom>
          <a:solidFill>
            <a:srgbClr val="141834"/>
          </a:solidFill>
          <a:ln w="15875">
            <a:solidFill>
              <a:srgbClr val="3B82F6"/>
            </a:solidFill>
            <a:prstDash val="solid"/>
          </a:ln>
        </p:spPr>
      </p:sp>
      <p:sp>
        <p:nvSpPr>
          <p:cNvPr id="30" name="Shape 28"/>
          <p:cNvSpPr/>
          <p:nvPr/>
        </p:nvSpPr>
        <p:spPr>
          <a:xfrm>
            <a:off x="10593324" y="2221992"/>
            <a:ext cx="512064" cy="512064"/>
          </a:xfrm>
          <a:prstGeom prst="ellipse">
            <a:avLst/>
          </a:prstGeom>
          <a:solidFill>
            <a:srgbClr val="3B82F6"/>
          </a:solidFill>
          <a:ln/>
        </p:spPr>
      </p:sp>
      <p:sp>
        <p:nvSpPr>
          <p:cNvPr id="31" name="Text 29"/>
          <p:cNvSpPr/>
          <p:nvPr/>
        </p:nvSpPr>
        <p:spPr>
          <a:xfrm>
            <a:off x="10593324" y="2221992"/>
            <a:ext cx="512064" cy="512064"/>
          </a:xfrm>
          <a:prstGeom prst="rect">
            <a:avLst/>
          </a:prstGeom>
          <a:noFill/>
          <a:ln/>
        </p:spPr>
        <p:txBody>
          <a:bodyPr wrap="square" rtlCol="0" anchor="ctr"/>
          <a:lstStyle/>
          <a:p>
            <a:pPr marL="0" indent="0" algn="ctr">
              <a:buNone/>
            </a:pPr>
            <a:r>
              <a:rPr lang="en-US" sz="1800" b="1" dirty="0">
                <a:solidFill>
                  <a:srgbClr val="0B0E1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10131552" y="2898648"/>
            <a:ext cx="1435608" cy="1197864"/>
          </a:xfrm>
          <a:prstGeom prst="rect">
            <a:avLst/>
          </a:prstGeom>
          <a:noFill/>
          <a:ln/>
        </p:spPr>
        <p:txBody>
          <a:bodyPr wrap="square" rtlCol="0" anchor="ctr"/>
          <a:lstStyle/>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Testing &amp;</a:t>
            </a:r>
            <a:endParaRPr lang="en-US" sz="1300" dirty="0"/>
          </a:p>
          <a:p>
            <a:pPr marL="0" indent="0" algn="ctr">
              <a:lnSpc>
                <a:spcPct val="110000"/>
              </a:lnSpc>
              <a:buNone/>
            </a:pPr>
            <a:r>
              <a:rPr lang="en-US" sz="1300" b="1" dirty="0">
                <a:solidFill>
                  <a:srgbClr val="FFFFFF"/>
                </a:solidFill>
                <a:latin typeface="Calibri" pitchFamily="34" charset="0"/>
                <a:ea typeface="Calibri" pitchFamily="34" charset="-122"/>
                <a:cs typeface="Calibri" pitchFamily="34" charset="-120"/>
              </a:rPr>
              <a:t>Validation</a:t>
            </a:r>
            <a:endParaRPr lang="en-US" sz="1300" dirty="0"/>
          </a:p>
        </p:txBody>
      </p:sp>
      <p:sp>
        <p:nvSpPr>
          <p:cNvPr id="33" name="Text 31"/>
          <p:cNvSpPr/>
          <p:nvPr/>
        </p:nvSpPr>
        <p:spPr>
          <a:xfrm>
            <a:off x="548640" y="4754880"/>
            <a:ext cx="11091672" cy="365760"/>
          </a:xfrm>
          <a:prstGeom prst="rect">
            <a:avLst/>
          </a:prstGeom>
          <a:noFill/>
          <a:ln/>
        </p:spPr>
        <p:txBody>
          <a:bodyPr wrap="square" rtlCol="0" anchor="ctr"/>
          <a:lstStyle/>
          <a:p>
            <a:pPr marL="0" indent="0" algn="ctr">
              <a:buNone/>
            </a:pPr>
            <a:r>
              <a:rPr lang="en-US" sz="1250" i="1" dirty="0">
                <a:solidFill>
                  <a:srgbClr val="AEB4CC"/>
                </a:solidFill>
                <a:latin typeface="Calibri" pitchFamily="34" charset="0"/>
                <a:ea typeface="Calibri" pitchFamily="34" charset="-122"/>
                <a:cs typeface="Calibri" pitchFamily="34" charset="-120"/>
              </a:rPr>
              <a:t>An 8-week, 4-milestone build producing one portfolio-ready Tableau workbook.</a:t>
            </a:r>
            <a:endParaRPr lang="en-US" sz="1250" dirty="0"/>
          </a:p>
        </p:txBody>
      </p:sp>
      <p:sp>
        <p:nvSpPr>
          <p:cNvPr id="34" name="Text 32"/>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35" name="Text 33"/>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300" b="1" kern="0" spc="200" dirty="0">
                <a:solidFill>
                  <a:srgbClr val="8B5CF6"/>
                </a:solidFill>
                <a:latin typeface="Calibri" pitchFamily="34" charset="0"/>
                <a:ea typeface="Calibri" pitchFamily="34" charset="-122"/>
                <a:cs typeface="Calibri" pitchFamily="34" charset="-120"/>
              </a:rPr>
              <a:t>KPI FORMULAS &amp; DATA AVAILABILITY</a:t>
            </a:r>
            <a:endParaRPr lang="en-US" sz="1300" dirty="0"/>
          </a:p>
        </p:txBody>
      </p:sp>
      <p:sp>
        <p:nvSpPr>
          <p:cNvPr id="3" name="Text 1"/>
          <p:cNvSpPr/>
          <p:nvPr/>
        </p:nvSpPr>
        <p:spPr>
          <a:xfrm>
            <a:off x="548640" y="658368"/>
            <a:ext cx="109728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Every Metric Is Calculated</a:t>
            </a:r>
            <a:endParaRPr lang="en-US" sz="2800" dirty="0"/>
          </a:p>
        </p:txBody>
      </p:sp>
      <p:sp>
        <p:nvSpPr>
          <p:cNvPr id="4" name="Shape 2"/>
          <p:cNvSpPr/>
          <p:nvPr/>
        </p:nvSpPr>
        <p:spPr>
          <a:xfrm>
            <a:off x="548640" y="1572768"/>
            <a:ext cx="5440680" cy="1481328"/>
          </a:xfrm>
          <a:prstGeom prst="roundRect">
            <a:avLst>
              <a:gd name="adj" fmla="val 4321"/>
            </a:avLst>
          </a:prstGeom>
          <a:solidFill>
            <a:srgbClr val="141834"/>
          </a:solidFill>
          <a:ln w="12700">
            <a:solidFill>
              <a:srgbClr val="262B4A"/>
            </a:solidFill>
            <a:prstDash val="solid"/>
          </a:ln>
        </p:spPr>
      </p:sp>
      <p:sp>
        <p:nvSpPr>
          <p:cNvPr id="5" name="Shape 3"/>
          <p:cNvSpPr/>
          <p:nvPr/>
        </p:nvSpPr>
        <p:spPr>
          <a:xfrm>
            <a:off x="548640" y="1572768"/>
            <a:ext cx="54864" cy="1481328"/>
          </a:xfrm>
          <a:prstGeom prst="rect">
            <a:avLst/>
          </a:prstGeom>
          <a:solidFill>
            <a:srgbClr val="8B5CF6"/>
          </a:solidFill>
          <a:ln/>
        </p:spPr>
      </p:sp>
      <p:sp>
        <p:nvSpPr>
          <p:cNvPr id="6" name="Text 4"/>
          <p:cNvSpPr/>
          <p:nvPr/>
        </p:nvSpPr>
        <p:spPr>
          <a:xfrm>
            <a:off x="777240" y="1664208"/>
            <a:ext cx="5029200" cy="292608"/>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GRS  —  Global Ranking Score</a:t>
            </a:r>
            <a:endParaRPr lang="en-US" sz="1200" dirty="0"/>
          </a:p>
        </p:txBody>
      </p:sp>
      <p:pic>
        <p:nvPicPr>
          <p:cNvPr id="7" name="Image 0" descr="/home/claude/work/imgs/kpi_grs.png"/>
          <p:cNvPicPr>
            <a:picLocks noChangeAspect="1"/>
          </p:cNvPicPr>
          <p:nvPr/>
        </p:nvPicPr>
        <p:blipFill>
          <a:blip r:embed="rId3"/>
          <a:stretch>
            <a:fillRect/>
          </a:stretch>
        </p:blipFill>
        <p:spPr>
          <a:xfrm>
            <a:off x="777240" y="1956816"/>
            <a:ext cx="4983480" cy="658368"/>
          </a:xfrm>
          <a:prstGeom prst="rect">
            <a:avLst/>
          </a:prstGeom>
        </p:spPr>
      </p:pic>
      <p:sp>
        <p:nvSpPr>
          <p:cNvPr id="8" name="Text 5"/>
          <p:cNvSpPr/>
          <p:nvPr/>
        </p:nvSpPr>
        <p:spPr>
          <a:xfrm>
            <a:off x="777240" y="2688336"/>
            <a:ext cx="5029200" cy="320040"/>
          </a:xfrm>
          <a:prstGeom prst="rect">
            <a:avLst/>
          </a:prstGeom>
          <a:noFill/>
          <a:ln/>
        </p:spPr>
        <p:txBody>
          <a:bodyPr wrap="square" rtlCol="0" anchor="ctr"/>
          <a:lstStyle/>
          <a:p>
            <a:pPr marL="0" indent="0">
              <a:buNone/>
            </a:pPr>
            <a:r>
              <a:rPr lang="en-US" sz="950" i="1" dirty="0">
                <a:solidFill>
                  <a:srgbClr val="AEB4CC"/>
                </a:solidFill>
                <a:latin typeface="Calibri" pitchFamily="34" charset="0"/>
                <a:ea typeface="Calibri" pitchFamily="34" charset="-122"/>
                <a:cs typeface="Calibri" pitchFamily="34" charset="-120"/>
              </a:rPr>
              <a:t>Derived from QS and THE Overall Scores</a:t>
            </a:r>
            <a:endParaRPr lang="en-US" sz="950" dirty="0"/>
          </a:p>
        </p:txBody>
      </p:sp>
      <p:sp>
        <p:nvSpPr>
          <p:cNvPr id="9" name="Shape 6"/>
          <p:cNvSpPr/>
          <p:nvPr/>
        </p:nvSpPr>
        <p:spPr>
          <a:xfrm>
            <a:off x="6199632" y="1572768"/>
            <a:ext cx="5440680" cy="1481328"/>
          </a:xfrm>
          <a:prstGeom prst="roundRect">
            <a:avLst>
              <a:gd name="adj" fmla="val 4321"/>
            </a:avLst>
          </a:prstGeom>
          <a:solidFill>
            <a:srgbClr val="141834"/>
          </a:solidFill>
          <a:ln w="12700">
            <a:solidFill>
              <a:srgbClr val="262B4A"/>
            </a:solidFill>
            <a:prstDash val="solid"/>
          </a:ln>
        </p:spPr>
      </p:sp>
      <p:sp>
        <p:nvSpPr>
          <p:cNvPr id="10" name="Shape 7"/>
          <p:cNvSpPr/>
          <p:nvPr/>
        </p:nvSpPr>
        <p:spPr>
          <a:xfrm>
            <a:off x="6199632" y="1572768"/>
            <a:ext cx="54864" cy="1481328"/>
          </a:xfrm>
          <a:prstGeom prst="rect">
            <a:avLst/>
          </a:prstGeom>
          <a:solidFill>
            <a:srgbClr val="3B82F6"/>
          </a:solidFill>
          <a:ln/>
        </p:spPr>
      </p:sp>
      <p:sp>
        <p:nvSpPr>
          <p:cNvPr id="11" name="Text 8"/>
          <p:cNvSpPr/>
          <p:nvPr/>
        </p:nvSpPr>
        <p:spPr>
          <a:xfrm>
            <a:off x="6428232" y="1664208"/>
            <a:ext cx="5029200" cy="292608"/>
          </a:xfrm>
          <a:prstGeom prst="rect">
            <a:avLst/>
          </a:prstGeom>
          <a:noFill/>
          <a:ln/>
        </p:spPr>
        <p:txBody>
          <a:bodyPr wrap="square"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RIS  —  Research Impact Score</a:t>
            </a:r>
            <a:endParaRPr lang="en-US" sz="1200" dirty="0"/>
          </a:p>
        </p:txBody>
      </p:sp>
      <p:pic>
        <p:nvPicPr>
          <p:cNvPr id="12" name="Image 1" descr="/home/claude/work/imgs/kpi_ris.png"/>
          <p:cNvPicPr>
            <a:picLocks noChangeAspect="1"/>
          </p:cNvPicPr>
          <p:nvPr/>
        </p:nvPicPr>
        <p:blipFill>
          <a:blip r:embed="rId4"/>
          <a:stretch>
            <a:fillRect/>
          </a:stretch>
        </p:blipFill>
        <p:spPr>
          <a:xfrm>
            <a:off x="6428232" y="1956816"/>
            <a:ext cx="4983480" cy="658368"/>
          </a:xfrm>
          <a:prstGeom prst="rect">
            <a:avLst/>
          </a:prstGeom>
        </p:spPr>
      </p:pic>
      <p:sp>
        <p:nvSpPr>
          <p:cNvPr id="13" name="Text 9"/>
          <p:cNvSpPr/>
          <p:nvPr/>
        </p:nvSpPr>
        <p:spPr>
          <a:xfrm>
            <a:off x="6428232" y="2688336"/>
            <a:ext cx="5029200" cy="320040"/>
          </a:xfrm>
          <a:prstGeom prst="rect">
            <a:avLst/>
          </a:prstGeom>
          <a:noFill/>
          <a:ln/>
        </p:spPr>
        <p:txBody>
          <a:bodyPr wrap="square" rtlCol="0" anchor="ctr"/>
          <a:lstStyle/>
          <a:p>
            <a:pPr marL="0" indent="0">
              <a:buNone/>
            </a:pPr>
            <a:r>
              <a:rPr lang="en-US" sz="950" i="1" dirty="0">
                <a:solidFill>
                  <a:srgbClr val="AEB4CC"/>
                </a:solidFill>
                <a:latin typeface="Calibri" pitchFamily="34" charset="0"/>
                <a:ea typeface="Calibri" pitchFamily="34" charset="-122"/>
                <a:cs typeface="Calibri" pitchFamily="34" charset="-120"/>
              </a:rPr>
              <a:t>Derived from available research indicators</a:t>
            </a:r>
            <a:endParaRPr lang="en-US" sz="950" dirty="0"/>
          </a:p>
        </p:txBody>
      </p:sp>
      <p:sp>
        <p:nvSpPr>
          <p:cNvPr id="14" name="Shape 10"/>
          <p:cNvSpPr/>
          <p:nvPr/>
        </p:nvSpPr>
        <p:spPr>
          <a:xfrm>
            <a:off x="548640" y="3182112"/>
            <a:ext cx="5440680" cy="1481328"/>
          </a:xfrm>
          <a:prstGeom prst="roundRect">
            <a:avLst>
              <a:gd name="adj" fmla="val 4321"/>
            </a:avLst>
          </a:prstGeom>
          <a:solidFill>
            <a:srgbClr val="141834"/>
          </a:solidFill>
          <a:ln w="12700">
            <a:solidFill>
              <a:srgbClr val="262B4A"/>
            </a:solidFill>
            <a:prstDash val="solid"/>
          </a:ln>
        </p:spPr>
      </p:sp>
      <p:sp>
        <p:nvSpPr>
          <p:cNvPr id="15" name="Shape 11"/>
          <p:cNvSpPr/>
          <p:nvPr/>
        </p:nvSpPr>
        <p:spPr>
          <a:xfrm>
            <a:off x="548640" y="3182112"/>
            <a:ext cx="54864" cy="1481328"/>
          </a:xfrm>
          <a:prstGeom prst="rect">
            <a:avLst/>
          </a:prstGeom>
          <a:solidFill>
            <a:srgbClr val="F5A623"/>
          </a:solidFill>
          <a:ln/>
        </p:spPr>
      </p:sp>
      <p:sp>
        <p:nvSpPr>
          <p:cNvPr id="16" name="Text 12"/>
          <p:cNvSpPr/>
          <p:nvPr/>
        </p:nvSpPr>
        <p:spPr>
          <a:xfrm>
            <a:off x="777240" y="3273552"/>
            <a:ext cx="5029200" cy="292608"/>
          </a:xfrm>
          <a:prstGeom prst="rect">
            <a:avLst/>
          </a:prstGeom>
          <a:noFill/>
          <a:ln/>
        </p:spPr>
        <p:txBody>
          <a:bodyPr wrap="square"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FSR  —  Faculty–Student Ratio Score</a:t>
            </a:r>
            <a:endParaRPr lang="en-US" sz="1200" dirty="0"/>
          </a:p>
        </p:txBody>
      </p:sp>
      <p:pic>
        <p:nvPicPr>
          <p:cNvPr id="17" name="Image 2" descr="/home/claude/work/imgs/kpi_fsr.png"/>
          <p:cNvPicPr>
            <a:picLocks noChangeAspect="1"/>
          </p:cNvPicPr>
          <p:nvPr/>
        </p:nvPicPr>
        <p:blipFill>
          <a:blip r:embed="rId5"/>
          <a:stretch>
            <a:fillRect/>
          </a:stretch>
        </p:blipFill>
        <p:spPr>
          <a:xfrm>
            <a:off x="777240" y="3566160"/>
            <a:ext cx="4983480" cy="658368"/>
          </a:xfrm>
          <a:prstGeom prst="rect">
            <a:avLst/>
          </a:prstGeom>
        </p:spPr>
      </p:pic>
      <p:sp>
        <p:nvSpPr>
          <p:cNvPr id="18" name="Text 13"/>
          <p:cNvSpPr/>
          <p:nvPr/>
        </p:nvSpPr>
        <p:spPr>
          <a:xfrm>
            <a:off x="777240" y="4297680"/>
            <a:ext cx="5029200" cy="320040"/>
          </a:xfrm>
          <a:prstGeom prst="rect">
            <a:avLst/>
          </a:prstGeom>
          <a:noFill/>
          <a:ln/>
        </p:spPr>
        <p:txBody>
          <a:bodyPr wrap="square" rtlCol="0" anchor="ctr"/>
          <a:lstStyle/>
          <a:p>
            <a:pPr marL="0" indent="0">
              <a:buNone/>
            </a:pPr>
            <a:r>
              <a:rPr lang="en-US" sz="950" i="1" dirty="0">
                <a:solidFill>
                  <a:srgbClr val="AEB4CC"/>
                </a:solidFill>
                <a:latin typeface="Calibri" pitchFamily="34" charset="0"/>
                <a:ea typeface="Calibri" pitchFamily="34" charset="-122"/>
                <a:cs typeface="Calibri" pitchFamily="34" charset="-120"/>
              </a:rPr>
              <a:t>Derived from Faculty–Student Ratio</a:t>
            </a:r>
            <a:endParaRPr lang="en-US" sz="950" dirty="0"/>
          </a:p>
        </p:txBody>
      </p:sp>
      <p:sp>
        <p:nvSpPr>
          <p:cNvPr id="19" name="Shape 14"/>
          <p:cNvSpPr/>
          <p:nvPr/>
        </p:nvSpPr>
        <p:spPr>
          <a:xfrm>
            <a:off x="6199632" y="3182112"/>
            <a:ext cx="5440680" cy="1481328"/>
          </a:xfrm>
          <a:prstGeom prst="roundRect">
            <a:avLst>
              <a:gd name="adj" fmla="val 4321"/>
            </a:avLst>
          </a:prstGeom>
          <a:solidFill>
            <a:srgbClr val="141834"/>
          </a:solidFill>
          <a:ln w="12700">
            <a:solidFill>
              <a:srgbClr val="262B4A"/>
            </a:solidFill>
            <a:prstDash val="solid"/>
          </a:ln>
        </p:spPr>
      </p:sp>
      <p:sp>
        <p:nvSpPr>
          <p:cNvPr id="20" name="Shape 15"/>
          <p:cNvSpPr/>
          <p:nvPr/>
        </p:nvSpPr>
        <p:spPr>
          <a:xfrm>
            <a:off x="6199632" y="3182112"/>
            <a:ext cx="54864" cy="1481328"/>
          </a:xfrm>
          <a:prstGeom prst="rect">
            <a:avLst/>
          </a:prstGeom>
          <a:solidFill>
            <a:srgbClr val="34D399"/>
          </a:solidFill>
          <a:ln/>
        </p:spPr>
      </p:sp>
      <p:sp>
        <p:nvSpPr>
          <p:cNvPr id="21" name="Text 16"/>
          <p:cNvSpPr/>
          <p:nvPr/>
        </p:nvSpPr>
        <p:spPr>
          <a:xfrm>
            <a:off x="6428232" y="3273552"/>
            <a:ext cx="5029200" cy="292608"/>
          </a:xfrm>
          <a:prstGeom prst="rect">
            <a:avLst/>
          </a:prstGeom>
          <a:noFill/>
          <a:ln/>
        </p:spPr>
        <p:txBody>
          <a:bodyPr wrap="square" rtlCol="0" anchor="ctr"/>
          <a:lstStyle/>
          <a:p>
            <a:pPr marL="0" indent="0">
              <a:buNone/>
            </a:pPr>
            <a:r>
              <a:rPr lang="en-US" sz="1200" b="1" dirty="0">
                <a:solidFill>
                  <a:srgbClr val="34D399"/>
                </a:solidFill>
                <a:latin typeface="Calibri" pitchFamily="34" charset="0"/>
                <a:ea typeface="Calibri" pitchFamily="34" charset="-122"/>
                <a:cs typeface="Calibri" pitchFamily="34" charset="-120"/>
              </a:rPr>
              <a:t>ISP  —  International Student Percentage</a:t>
            </a:r>
            <a:endParaRPr lang="en-US" sz="1200" dirty="0"/>
          </a:p>
        </p:txBody>
      </p:sp>
      <p:pic>
        <p:nvPicPr>
          <p:cNvPr id="22" name="Image 3" descr="/home/claude/work/imgs/kpi_isp.png"/>
          <p:cNvPicPr>
            <a:picLocks noChangeAspect="1"/>
          </p:cNvPicPr>
          <p:nvPr/>
        </p:nvPicPr>
        <p:blipFill>
          <a:blip r:embed="rId6"/>
          <a:stretch>
            <a:fillRect/>
          </a:stretch>
        </p:blipFill>
        <p:spPr>
          <a:xfrm>
            <a:off x="6428232" y="3566160"/>
            <a:ext cx="4983480" cy="658368"/>
          </a:xfrm>
          <a:prstGeom prst="rect">
            <a:avLst/>
          </a:prstGeom>
        </p:spPr>
      </p:pic>
      <p:sp>
        <p:nvSpPr>
          <p:cNvPr id="23" name="Text 17"/>
          <p:cNvSpPr/>
          <p:nvPr/>
        </p:nvSpPr>
        <p:spPr>
          <a:xfrm>
            <a:off x="6428232" y="4297680"/>
            <a:ext cx="5029200" cy="320040"/>
          </a:xfrm>
          <a:prstGeom prst="rect">
            <a:avLst/>
          </a:prstGeom>
          <a:noFill/>
          <a:ln/>
        </p:spPr>
        <p:txBody>
          <a:bodyPr wrap="square" rtlCol="0" anchor="ctr"/>
          <a:lstStyle/>
          <a:p>
            <a:pPr marL="0" indent="0">
              <a:buNone/>
            </a:pPr>
            <a:r>
              <a:rPr lang="en-US" sz="950" i="1" dirty="0">
                <a:solidFill>
                  <a:srgbClr val="AEB4CC"/>
                </a:solidFill>
                <a:latin typeface="Calibri" pitchFamily="34" charset="0"/>
                <a:ea typeface="Calibri" pitchFamily="34" charset="-122"/>
                <a:cs typeface="Calibri" pitchFamily="34" charset="-120"/>
              </a:rPr>
              <a:t>Mapped from International Students Score</a:t>
            </a:r>
            <a:endParaRPr lang="en-US" sz="950" dirty="0"/>
          </a:p>
        </p:txBody>
      </p:sp>
      <p:sp>
        <p:nvSpPr>
          <p:cNvPr id="24" name="Shape 18"/>
          <p:cNvSpPr/>
          <p:nvPr/>
        </p:nvSpPr>
        <p:spPr>
          <a:xfrm>
            <a:off x="548640" y="4791456"/>
            <a:ext cx="5440680" cy="1481328"/>
          </a:xfrm>
          <a:prstGeom prst="roundRect">
            <a:avLst>
              <a:gd name="adj" fmla="val 4321"/>
            </a:avLst>
          </a:prstGeom>
          <a:solidFill>
            <a:srgbClr val="141834"/>
          </a:solidFill>
          <a:ln w="12700">
            <a:solidFill>
              <a:srgbClr val="262B4A"/>
            </a:solidFill>
            <a:prstDash val="solid"/>
          </a:ln>
        </p:spPr>
      </p:sp>
      <p:sp>
        <p:nvSpPr>
          <p:cNvPr id="25" name="Shape 19"/>
          <p:cNvSpPr/>
          <p:nvPr/>
        </p:nvSpPr>
        <p:spPr>
          <a:xfrm>
            <a:off x="548640" y="4791456"/>
            <a:ext cx="54864" cy="1481328"/>
          </a:xfrm>
          <a:prstGeom prst="rect">
            <a:avLst/>
          </a:prstGeom>
          <a:solidFill>
            <a:srgbClr val="8B5CF6"/>
          </a:solidFill>
          <a:ln/>
        </p:spPr>
      </p:sp>
      <p:sp>
        <p:nvSpPr>
          <p:cNvPr id="26" name="Text 20"/>
          <p:cNvSpPr/>
          <p:nvPr/>
        </p:nvSpPr>
        <p:spPr>
          <a:xfrm>
            <a:off x="777240" y="4882896"/>
            <a:ext cx="5029200" cy="292608"/>
          </a:xfrm>
          <a:prstGeom prst="rect">
            <a:avLst/>
          </a:prstGeom>
          <a:noFill/>
          <a:ln/>
        </p:spPr>
        <p:txBody>
          <a:bodyPr wrap="square" rtlCol="0" anchor="ctr"/>
          <a:lstStyle/>
          <a:p>
            <a:pPr marL="0" indent="0">
              <a:buNone/>
            </a:pPr>
            <a:r>
              <a:rPr lang="en-US" sz="1200" b="1" dirty="0">
                <a:solidFill>
                  <a:srgbClr val="8B5CF6"/>
                </a:solidFill>
                <a:latin typeface="Calibri" pitchFamily="34" charset="0"/>
                <a:ea typeface="Calibri" pitchFamily="34" charset="-122"/>
                <a:cs typeface="Calibri" pitchFamily="34" charset="-120"/>
              </a:rPr>
              <a:t>ARS  —  Academic Reputation Score</a:t>
            </a:r>
            <a:endParaRPr lang="en-US" sz="1200" dirty="0"/>
          </a:p>
        </p:txBody>
      </p:sp>
      <p:pic>
        <p:nvPicPr>
          <p:cNvPr id="27" name="Image 4" descr="/home/claude/work/imgs/kpi_ars.png"/>
          <p:cNvPicPr>
            <a:picLocks noChangeAspect="1"/>
          </p:cNvPicPr>
          <p:nvPr/>
        </p:nvPicPr>
        <p:blipFill>
          <a:blip r:embed="rId7"/>
          <a:stretch>
            <a:fillRect/>
          </a:stretch>
        </p:blipFill>
        <p:spPr>
          <a:xfrm>
            <a:off x="777240" y="5175504"/>
            <a:ext cx="4983480" cy="658368"/>
          </a:xfrm>
          <a:prstGeom prst="rect">
            <a:avLst/>
          </a:prstGeom>
        </p:spPr>
      </p:pic>
      <p:sp>
        <p:nvSpPr>
          <p:cNvPr id="28" name="Text 21"/>
          <p:cNvSpPr/>
          <p:nvPr/>
        </p:nvSpPr>
        <p:spPr>
          <a:xfrm>
            <a:off x="777240" y="5907024"/>
            <a:ext cx="5029200" cy="320040"/>
          </a:xfrm>
          <a:prstGeom prst="rect">
            <a:avLst/>
          </a:prstGeom>
          <a:noFill/>
          <a:ln/>
        </p:spPr>
        <p:txBody>
          <a:bodyPr wrap="square" rtlCol="0" anchor="ctr"/>
          <a:lstStyle/>
          <a:p>
            <a:pPr marL="0" indent="0">
              <a:buNone/>
            </a:pPr>
            <a:r>
              <a:rPr lang="en-US" sz="950" i="1" dirty="0">
                <a:solidFill>
                  <a:srgbClr val="AEB4CC"/>
                </a:solidFill>
                <a:latin typeface="Calibri" pitchFamily="34" charset="0"/>
                <a:ea typeface="Calibri" pitchFamily="34" charset="-122"/>
                <a:cs typeface="Calibri" pitchFamily="34" charset="-120"/>
              </a:rPr>
              <a:t>QS Academic Reputation; THE Overall Score used as proxy</a:t>
            </a:r>
            <a:endParaRPr lang="en-US" sz="950" dirty="0"/>
          </a:p>
        </p:txBody>
      </p:sp>
      <p:sp>
        <p:nvSpPr>
          <p:cNvPr id="29" name="Shape 22"/>
          <p:cNvSpPr/>
          <p:nvPr/>
        </p:nvSpPr>
        <p:spPr>
          <a:xfrm>
            <a:off x="6199632" y="4791456"/>
            <a:ext cx="5440680" cy="1481328"/>
          </a:xfrm>
          <a:prstGeom prst="roundRect">
            <a:avLst>
              <a:gd name="adj" fmla="val 4321"/>
            </a:avLst>
          </a:prstGeom>
          <a:solidFill>
            <a:srgbClr val="141834"/>
          </a:solidFill>
          <a:ln w="12700">
            <a:solidFill>
              <a:srgbClr val="262B4A"/>
            </a:solidFill>
            <a:prstDash val="solid"/>
          </a:ln>
        </p:spPr>
      </p:sp>
      <p:sp>
        <p:nvSpPr>
          <p:cNvPr id="30" name="Shape 23"/>
          <p:cNvSpPr/>
          <p:nvPr/>
        </p:nvSpPr>
        <p:spPr>
          <a:xfrm>
            <a:off x="6199632" y="4791456"/>
            <a:ext cx="54864" cy="1481328"/>
          </a:xfrm>
          <a:prstGeom prst="rect">
            <a:avLst/>
          </a:prstGeom>
          <a:solidFill>
            <a:srgbClr val="3B82F6"/>
          </a:solidFill>
          <a:ln/>
        </p:spPr>
      </p:sp>
      <p:sp>
        <p:nvSpPr>
          <p:cNvPr id="31" name="Text 24"/>
          <p:cNvSpPr/>
          <p:nvPr/>
        </p:nvSpPr>
        <p:spPr>
          <a:xfrm>
            <a:off x="6428232" y="4882896"/>
            <a:ext cx="5029200" cy="292608"/>
          </a:xfrm>
          <a:prstGeom prst="rect">
            <a:avLst/>
          </a:prstGeom>
          <a:noFill/>
          <a:ln/>
        </p:spPr>
        <p:txBody>
          <a:bodyPr wrap="square" rtlCol="0" anchor="ctr"/>
          <a:lstStyle/>
          <a:p>
            <a:pPr marL="0" indent="0">
              <a:buNone/>
            </a:pPr>
            <a:r>
              <a:rPr lang="en-US" sz="1200" b="1" dirty="0">
                <a:solidFill>
                  <a:srgbClr val="3B82F6"/>
                </a:solidFill>
                <a:latin typeface="Calibri" pitchFamily="34" charset="0"/>
                <a:ea typeface="Calibri" pitchFamily="34" charset="-122"/>
                <a:cs typeface="Calibri" pitchFamily="34" charset="-120"/>
              </a:rPr>
              <a:t>RPI  —  Research Productivity Index</a:t>
            </a:r>
            <a:endParaRPr lang="en-US" sz="1200" dirty="0"/>
          </a:p>
        </p:txBody>
      </p:sp>
      <p:pic>
        <p:nvPicPr>
          <p:cNvPr id="32" name="Image 5" descr="/home/claude/work/imgs/kpi_rpi.png"/>
          <p:cNvPicPr>
            <a:picLocks noChangeAspect="1"/>
          </p:cNvPicPr>
          <p:nvPr/>
        </p:nvPicPr>
        <p:blipFill>
          <a:blip r:embed="rId8"/>
          <a:stretch>
            <a:fillRect/>
          </a:stretch>
        </p:blipFill>
        <p:spPr>
          <a:xfrm>
            <a:off x="6428232" y="5175504"/>
            <a:ext cx="4983480" cy="658368"/>
          </a:xfrm>
          <a:prstGeom prst="rect">
            <a:avLst/>
          </a:prstGeom>
        </p:spPr>
      </p:pic>
      <p:sp>
        <p:nvSpPr>
          <p:cNvPr id="33" name="Text 25"/>
          <p:cNvSpPr/>
          <p:nvPr/>
        </p:nvSpPr>
        <p:spPr>
          <a:xfrm>
            <a:off x="6428232" y="5907024"/>
            <a:ext cx="5029200" cy="320040"/>
          </a:xfrm>
          <a:prstGeom prst="rect">
            <a:avLst/>
          </a:prstGeom>
          <a:noFill/>
          <a:ln/>
        </p:spPr>
        <p:txBody>
          <a:bodyPr wrap="square" rtlCol="0" anchor="ctr"/>
          <a:lstStyle/>
          <a:p>
            <a:pPr marL="0" indent="0">
              <a:buNone/>
            </a:pPr>
            <a:r>
              <a:rPr lang="en-US" sz="950" i="1" dirty="0">
                <a:solidFill>
                  <a:srgbClr val="AEB4CC"/>
                </a:solidFill>
                <a:latin typeface="Calibri" pitchFamily="34" charset="0"/>
                <a:ea typeface="Calibri" pitchFamily="34" charset="-122"/>
                <a:cs typeface="Calibri" pitchFamily="34" charset="-120"/>
              </a:rPr>
              <a:t>Derived from Citations per Faculty and Intl. Research Network</a:t>
            </a:r>
            <a:endParaRPr lang="en-US" sz="950" dirty="0"/>
          </a:p>
        </p:txBody>
      </p:sp>
      <p:sp>
        <p:nvSpPr>
          <p:cNvPr id="34" name="Text 26"/>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35" name="Text 27"/>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F"/>
        </a:solidFill>
        <a:effectLst/>
      </p:bgPr>
    </p:bg>
    <p:spTree>
      <p:nvGrpSpPr>
        <p:cNvPr id="1" name=""/>
        <p:cNvGrpSpPr/>
        <p:nvPr/>
      </p:nvGrpSpPr>
      <p:grpSpPr>
        <a:xfrm>
          <a:off x="0" y="0"/>
          <a:ext cx="0" cy="0"/>
          <a:chOff x="0" y="0"/>
          <a:chExt cx="0" cy="0"/>
        </a:xfrm>
      </p:grpSpPr>
      <p:pic>
        <p:nvPicPr>
          <p:cNvPr id="2" name="Image 0" descr="/home/claude/work/imgs/icon_grad_cap.png"/>
          <p:cNvPicPr>
            <a:picLocks noChangeAspect="1"/>
          </p:cNvPicPr>
          <p:nvPr/>
        </p:nvPicPr>
        <p:blipFill>
          <a:blip r:embed="rId3"/>
          <a:stretch>
            <a:fillRect/>
          </a:stretch>
        </p:blipFill>
        <p:spPr>
          <a:xfrm>
            <a:off x="548640" y="384048"/>
            <a:ext cx="365760" cy="365760"/>
          </a:xfrm>
          <a:prstGeom prst="rect">
            <a:avLst/>
          </a:prstGeom>
        </p:spPr>
      </p:pic>
      <p:sp>
        <p:nvSpPr>
          <p:cNvPr id="3" name="Text 0"/>
          <p:cNvSpPr/>
          <p:nvPr/>
        </p:nvSpPr>
        <p:spPr>
          <a:xfrm>
            <a:off x="1024128" y="374904"/>
            <a:ext cx="3657600" cy="274320"/>
          </a:xfrm>
          <a:prstGeom prst="rect">
            <a:avLst/>
          </a:prstGeom>
          <a:noFill/>
          <a:ln/>
        </p:spPr>
        <p:txBody>
          <a:bodyPr wrap="square" rtlCol="0" anchor="ctr"/>
          <a:lstStyle/>
          <a:p>
            <a:pPr marL="0" indent="0">
              <a:buNone/>
            </a:pPr>
            <a:r>
              <a:rPr lang="en-US" sz="1150" b="1" kern="0" spc="200" dirty="0">
                <a:solidFill>
                  <a:srgbClr val="8B5CF6"/>
                </a:solidFill>
                <a:latin typeface="Calibri" pitchFamily="34" charset="0"/>
                <a:ea typeface="Calibri" pitchFamily="34" charset="-122"/>
                <a:cs typeface="Calibri" pitchFamily="34" charset="-120"/>
              </a:rPr>
              <a:t>DASHBOARD 1 OF 4</a:t>
            </a:r>
            <a:endParaRPr lang="en-US" sz="1150" dirty="0"/>
          </a:p>
        </p:txBody>
      </p:sp>
      <p:sp>
        <p:nvSpPr>
          <p:cNvPr id="4" name="Text 1"/>
          <p:cNvSpPr/>
          <p:nvPr/>
        </p:nvSpPr>
        <p:spPr>
          <a:xfrm>
            <a:off x="548640" y="6583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University Overview</a:t>
            </a:r>
            <a:endParaRPr lang="en-US" sz="2400" dirty="0"/>
          </a:p>
        </p:txBody>
      </p:sp>
      <p:sp>
        <p:nvSpPr>
          <p:cNvPr id="5" name="Shape 2"/>
          <p:cNvSpPr/>
          <p:nvPr/>
        </p:nvSpPr>
        <p:spPr>
          <a:xfrm>
            <a:off x="548640" y="1207008"/>
            <a:ext cx="11091672" cy="5532120"/>
          </a:xfrm>
          <a:prstGeom prst="roundRect">
            <a:avLst>
              <a:gd name="adj" fmla="val 826"/>
            </a:avLst>
          </a:prstGeom>
          <a:solidFill>
            <a:srgbClr val="FFFFFF"/>
          </a:solidFill>
          <a:ln w="12700">
            <a:solidFill>
              <a:srgbClr val="262B4A"/>
            </a:solidFill>
            <a:prstDash val="solid"/>
          </a:ln>
        </p:spPr>
      </p:sp>
      <p:pic>
        <p:nvPicPr>
          <p:cNvPr id="6" name="Image 1"/>
          <p:cNvPicPr>
            <a:picLocks noChangeAspect="1"/>
          </p:cNvPicPr>
          <p:nvPr/>
        </p:nvPicPr>
        <p:blipFill>
          <a:blip r:embed="rId4"/>
          <a:srcRect/>
          <a:stretch/>
        </p:blipFill>
        <p:spPr>
          <a:xfrm>
            <a:off x="548640" y="1298448"/>
            <a:ext cx="11091672" cy="5349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F"/>
        </a:solidFill>
        <a:effectLst/>
      </p:bgPr>
    </p:bg>
    <p:spTree>
      <p:nvGrpSpPr>
        <p:cNvPr id="1" name=""/>
        <p:cNvGrpSpPr/>
        <p:nvPr/>
      </p:nvGrpSpPr>
      <p:grpSpPr>
        <a:xfrm>
          <a:off x="0" y="0"/>
          <a:ext cx="0" cy="0"/>
          <a:chOff x="0" y="0"/>
          <a:chExt cx="0" cy="0"/>
        </a:xfrm>
      </p:grpSpPr>
      <p:pic>
        <p:nvPicPr>
          <p:cNvPr id="2" name="Image 0" descr="/home/claude/work/imgs/icon_atom.png"/>
          <p:cNvPicPr>
            <a:picLocks noChangeAspect="1"/>
          </p:cNvPicPr>
          <p:nvPr/>
        </p:nvPicPr>
        <p:blipFill>
          <a:blip r:embed="rId3"/>
          <a:stretch>
            <a:fillRect/>
          </a:stretch>
        </p:blipFill>
        <p:spPr>
          <a:xfrm>
            <a:off x="548640" y="384048"/>
            <a:ext cx="365760" cy="365760"/>
          </a:xfrm>
          <a:prstGeom prst="rect">
            <a:avLst/>
          </a:prstGeom>
        </p:spPr>
      </p:pic>
      <p:sp>
        <p:nvSpPr>
          <p:cNvPr id="3" name="Text 0"/>
          <p:cNvSpPr/>
          <p:nvPr/>
        </p:nvSpPr>
        <p:spPr>
          <a:xfrm>
            <a:off x="1024128" y="374904"/>
            <a:ext cx="3657600" cy="274320"/>
          </a:xfrm>
          <a:prstGeom prst="rect">
            <a:avLst/>
          </a:prstGeom>
          <a:noFill/>
          <a:ln/>
        </p:spPr>
        <p:txBody>
          <a:bodyPr wrap="square" rtlCol="0" anchor="ctr"/>
          <a:lstStyle/>
          <a:p>
            <a:pPr marL="0" indent="0">
              <a:buNone/>
            </a:pPr>
            <a:r>
              <a:rPr lang="en-US" sz="1150" b="1" kern="0" spc="200" dirty="0">
                <a:solidFill>
                  <a:srgbClr val="3B82F6"/>
                </a:solidFill>
                <a:latin typeface="Calibri" pitchFamily="34" charset="0"/>
                <a:ea typeface="Calibri" pitchFamily="34" charset="-122"/>
                <a:cs typeface="Calibri" pitchFamily="34" charset="-120"/>
              </a:rPr>
              <a:t>DASHBOARD 2 OF 4</a:t>
            </a:r>
            <a:endParaRPr lang="en-US" sz="1150" dirty="0"/>
          </a:p>
        </p:txBody>
      </p:sp>
      <p:sp>
        <p:nvSpPr>
          <p:cNvPr id="4" name="Text 1"/>
          <p:cNvSpPr/>
          <p:nvPr/>
        </p:nvSpPr>
        <p:spPr>
          <a:xfrm>
            <a:off x="548640" y="6583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Research Analytics</a:t>
            </a:r>
            <a:endParaRPr lang="en-US" sz="2400" dirty="0"/>
          </a:p>
        </p:txBody>
      </p:sp>
      <p:sp>
        <p:nvSpPr>
          <p:cNvPr id="5" name="Shape 2"/>
          <p:cNvSpPr/>
          <p:nvPr/>
        </p:nvSpPr>
        <p:spPr>
          <a:xfrm>
            <a:off x="548640" y="1207008"/>
            <a:ext cx="11091672" cy="5532120"/>
          </a:xfrm>
          <a:prstGeom prst="roundRect">
            <a:avLst>
              <a:gd name="adj" fmla="val 826"/>
            </a:avLst>
          </a:prstGeom>
          <a:solidFill>
            <a:srgbClr val="FFFFFF"/>
          </a:solidFill>
          <a:ln w="12700">
            <a:solidFill>
              <a:srgbClr val="262B4A"/>
            </a:solidFill>
            <a:prstDash val="solid"/>
          </a:ln>
        </p:spPr>
      </p:sp>
      <p:pic>
        <p:nvPicPr>
          <p:cNvPr id="6" name="Image 1"/>
          <p:cNvPicPr>
            <a:picLocks noChangeAspect="1"/>
          </p:cNvPicPr>
          <p:nvPr/>
        </p:nvPicPr>
        <p:blipFill>
          <a:blip r:embed="rId4"/>
          <a:srcRect/>
          <a:stretch/>
        </p:blipFill>
        <p:spPr>
          <a:xfrm>
            <a:off x="548640" y="1298448"/>
            <a:ext cx="11091672" cy="53492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F"/>
        </a:solidFill>
        <a:effectLst/>
      </p:bgPr>
    </p:bg>
    <p:spTree>
      <p:nvGrpSpPr>
        <p:cNvPr id="1" name=""/>
        <p:cNvGrpSpPr/>
        <p:nvPr/>
      </p:nvGrpSpPr>
      <p:grpSpPr>
        <a:xfrm>
          <a:off x="0" y="0"/>
          <a:ext cx="0" cy="0"/>
          <a:chOff x="0" y="0"/>
          <a:chExt cx="0" cy="0"/>
        </a:xfrm>
      </p:grpSpPr>
      <p:pic>
        <p:nvPicPr>
          <p:cNvPr id="2" name="Image 0" descr="/home/claude/work/imgs/icon_user_grad.png"/>
          <p:cNvPicPr>
            <a:picLocks noChangeAspect="1"/>
          </p:cNvPicPr>
          <p:nvPr/>
        </p:nvPicPr>
        <p:blipFill>
          <a:blip r:embed="rId3"/>
          <a:stretch>
            <a:fillRect/>
          </a:stretch>
        </p:blipFill>
        <p:spPr>
          <a:xfrm>
            <a:off x="548640" y="384048"/>
            <a:ext cx="365760" cy="365760"/>
          </a:xfrm>
          <a:prstGeom prst="rect">
            <a:avLst/>
          </a:prstGeom>
        </p:spPr>
      </p:pic>
      <p:sp>
        <p:nvSpPr>
          <p:cNvPr id="3" name="Text 0"/>
          <p:cNvSpPr/>
          <p:nvPr/>
        </p:nvSpPr>
        <p:spPr>
          <a:xfrm>
            <a:off x="1024128" y="374904"/>
            <a:ext cx="3657600" cy="274320"/>
          </a:xfrm>
          <a:prstGeom prst="rect">
            <a:avLst/>
          </a:prstGeom>
          <a:noFill/>
          <a:ln/>
        </p:spPr>
        <p:txBody>
          <a:bodyPr wrap="square" rtlCol="0" anchor="ctr"/>
          <a:lstStyle/>
          <a:p>
            <a:pPr marL="0" indent="0">
              <a:buNone/>
            </a:pPr>
            <a:r>
              <a:rPr lang="en-US" sz="1150" b="1" kern="0" spc="200" dirty="0">
                <a:solidFill>
                  <a:srgbClr val="F5A623"/>
                </a:solidFill>
                <a:latin typeface="Calibri" pitchFamily="34" charset="0"/>
                <a:ea typeface="Calibri" pitchFamily="34" charset="-122"/>
                <a:cs typeface="Calibri" pitchFamily="34" charset="-120"/>
              </a:rPr>
              <a:t>DASHBOARD 3 OF 4</a:t>
            </a:r>
            <a:endParaRPr lang="en-US" sz="1150" dirty="0"/>
          </a:p>
        </p:txBody>
      </p:sp>
      <p:sp>
        <p:nvSpPr>
          <p:cNvPr id="4" name="Text 1"/>
          <p:cNvSpPr/>
          <p:nvPr/>
        </p:nvSpPr>
        <p:spPr>
          <a:xfrm>
            <a:off x="548640" y="6583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Student Analytics</a:t>
            </a:r>
            <a:endParaRPr lang="en-US" sz="2400" dirty="0"/>
          </a:p>
        </p:txBody>
      </p:sp>
      <p:sp>
        <p:nvSpPr>
          <p:cNvPr id="5" name="Shape 2"/>
          <p:cNvSpPr/>
          <p:nvPr/>
        </p:nvSpPr>
        <p:spPr>
          <a:xfrm>
            <a:off x="548640" y="1207008"/>
            <a:ext cx="11091672" cy="5532120"/>
          </a:xfrm>
          <a:prstGeom prst="roundRect">
            <a:avLst>
              <a:gd name="adj" fmla="val 826"/>
            </a:avLst>
          </a:prstGeom>
          <a:solidFill>
            <a:srgbClr val="FFFFFF"/>
          </a:solidFill>
          <a:ln w="12700">
            <a:solidFill>
              <a:srgbClr val="262B4A"/>
            </a:solidFill>
            <a:prstDash val="solid"/>
          </a:ln>
        </p:spPr>
      </p:sp>
      <p:pic>
        <p:nvPicPr>
          <p:cNvPr id="6" name="Image 1"/>
          <p:cNvPicPr>
            <a:picLocks noChangeAspect="1"/>
          </p:cNvPicPr>
          <p:nvPr/>
        </p:nvPicPr>
        <p:blipFill>
          <a:blip r:embed="rId4"/>
          <a:srcRect/>
          <a:stretch/>
        </p:blipFill>
        <p:spPr>
          <a:xfrm>
            <a:off x="548640" y="1298448"/>
            <a:ext cx="11091671" cy="5349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F"/>
        </a:solidFill>
        <a:effectLst/>
      </p:bgPr>
    </p:bg>
    <p:spTree>
      <p:nvGrpSpPr>
        <p:cNvPr id="1" name=""/>
        <p:cNvGrpSpPr/>
        <p:nvPr/>
      </p:nvGrpSpPr>
      <p:grpSpPr>
        <a:xfrm>
          <a:off x="0" y="0"/>
          <a:ext cx="0" cy="0"/>
          <a:chOff x="0" y="0"/>
          <a:chExt cx="0" cy="0"/>
        </a:xfrm>
      </p:grpSpPr>
      <p:pic>
        <p:nvPicPr>
          <p:cNvPr id="2" name="Image 0" descr="/home/claude/work/imgs/icon_globe.png"/>
          <p:cNvPicPr>
            <a:picLocks noChangeAspect="1"/>
          </p:cNvPicPr>
          <p:nvPr/>
        </p:nvPicPr>
        <p:blipFill>
          <a:blip r:embed="rId3"/>
          <a:stretch>
            <a:fillRect/>
          </a:stretch>
        </p:blipFill>
        <p:spPr>
          <a:xfrm>
            <a:off x="548640" y="384048"/>
            <a:ext cx="365760" cy="365760"/>
          </a:xfrm>
          <a:prstGeom prst="rect">
            <a:avLst/>
          </a:prstGeom>
        </p:spPr>
      </p:pic>
      <p:sp>
        <p:nvSpPr>
          <p:cNvPr id="3" name="Text 0"/>
          <p:cNvSpPr/>
          <p:nvPr/>
        </p:nvSpPr>
        <p:spPr>
          <a:xfrm>
            <a:off x="1024128" y="374904"/>
            <a:ext cx="3657600" cy="274320"/>
          </a:xfrm>
          <a:prstGeom prst="rect">
            <a:avLst/>
          </a:prstGeom>
          <a:noFill/>
          <a:ln/>
        </p:spPr>
        <p:txBody>
          <a:bodyPr wrap="square" rtlCol="0" anchor="ctr"/>
          <a:lstStyle/>
          <a:p>
            <a:pPr marL="0" indent="0">
              <a:buNone/>
            </a:pPr>
            <a:r>
              <a:rPr lang="en-US" sz="1150" b="1" kern="0" spc="200" dirty="0">
                <a:solidFill>
                  <a:srgbClr val="34D399"/>
                </a:solidFill>
                <a:latin typeface="Calibri" pitchFamily="34" charset="0"/>
                <a:ea typeface="Calibri" pitchFamily="34" charset="-122"/>
                <a:cs typeface="Calibri" pitchFamily="34" charset="-120"/>
              </a:rPr>
              <a:t>DASHBOARD 4 OF 4</a:t>
            </a:r>
            <a:endParaRPr lang="en-US" sz="1150" dirty="0"/>
          </a:p>
        </p:txBody>
      </p:sp>
      <p:sp>
        <p:nvSpPr>
          <p:cNvPr id="4" name="Text 1"/>
          <p:cNvSpPr/>
          <p:nvPr/>
        </p:nvSpPr>
        <p:spPr>
          <a:xfrm>
            <a:off x="548640" y="658368"/>
            <a:ext cx="8229600" cy="502920"/>
          </a:xfrm>
          <a:prstGeom prst="rect">
            <a:avLst/>
          </a:prstGeom>
          <a:noFill/>
          <a:ln/>
        </p:spPr>
        <p:txBody>
          <a:bodyPr wrap="square"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Country Comparison</a:t>
            </a:r>
            <a:endParaRPr lang="en-US" sz="2400" dirty="0"/>
          </a:p>
        </p:txBody>
      </p:sp>
      <p:sp>
        <p:nvSpPr>
          <p:cNvPr id="5" name="Shape 2"/>
          <p:cNvSpPr/>
          <p:nvPr/>
        </p:nvSpPr>
        <p:spPr>
          <a:xfrm>
            <a:off x="548640" y="1207008"/>
            <a:ext cx="11091672" cy="5532120"/>
          </a:xfrm>
          <a:prstGeom prst="roundRect">
            <a:avLst>
              <a:gd name="adj" fmla="val 826"/>
            </a:avLst>
          </a:prstGeom>
          <a:solidFill>
            <a:srgbClr val="FFFFFF"/>
          </a:solidFill>
          <a:ln w="12700">
            <a:solidFill>
              <a:srgbClr val="262B4A"/>
            </a:solidFill>
            <a:prstDash val="solid"/>
          </a:ln>
        </p:spPr>
      </p:sp>
      <p:pic>
        <p:nvPicPr>
          <p:cNvPr id="6" name="Image 1"/>
          <p:cNvPicPr>
            <a:picLocks noChangeAspect="1"/>
          </p:cNvPicPr>
          <p:nvPr/>
        </p:nvPicPr>
        <p:blipFill>
          <a:blip r:embed="rId4"/>
          <a:srcRect/>
          <a:stretch/>
        </p:blipFill>
        <p:spPr>
          <a:xfrm>
            <a:off x="548640" y="1318982"/>
            <a:ext cx="11091671" cy="53081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F"/>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marL="0" indent="0">
              <a:buNone/>
            </a:pPr>
            <a:r>
              <a:rPr lang="en-US" sz="1300" b="1" kern="0" spc="200" dirty="0">
                <a:solidFill>
                  <a:srgbClr val="8B5CF6"/>
                </a:solidFill>
                <a:latin typeface="Calibri" pitchFamily="34" charset="0"/>
                <a:ea typeface="Calibri" pitchFamily="34" charset="-122"/>
                <a:cs typeface="Calibri" pitchFamily="34" charset="-120"/>
              </a:rPr>
              <a:t>DASHBOARD INTEGRATION &amp; INTERACTIVITY</a:t>
            </a:r>
            <a:endParaRPr lang="en-US" sz="1300" dirty="0"/>
          </a:p>
        </p:txBody>
      </p:sp>
      <p:sp>
        <p:nvSpPr>
          <p:cNvPr id="3" name="Text 1"/>
          <p:cNvSpPr/>
          <p:nvPr/>
        </p:nvSpPr>
        <p:spPr>
          <a:xfrm>
            <a:off x="548640" y="658368"/>
            <a:ext cx="1097280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One Workbook, Four Connected Views</a:t>
            </a:r>
            <a:endParaRPr lang="en-US" sz="2800" dirty="0"/>
          </a:p>
        </p:txBody>
      </p:sp>
      <p:sp>
        <p:nvSpPr>
          <p:cNvPr id="4" name="Shape 2"/>
          <p:cNvSpPr/>
          <p:nvPr/>
        </p:nvSpPr>
        <p:spPr>
          <a:xfrm>
            <a:off x="548640" y="1737360"/>
            <a:ext cx="5440680" cy="1143000"/>
          </a:xfrm>
          <a:prstGeom prst="roundRect">
            <a:avLst>
              <a:gd name="adj" fmla="val 6400"/>
            </a:avLst>
          </a:prstGeom>
          <a:solidFill>
            <a:srgbClr val="141834"/>
          </a:solidFill>
          <a:ln w="12700">
            <a:solidFill>
              <a:srgbClr val="262B4A"/>
            </a:solidFill>
            <a:prstDash val="solid"/>
          </a:ln>
        </p:spPr>
      </p:sp>
      <p:sp>
        <p:nvSpPr>
          <p:cNvPr id="5" name="Shape 3"/>
          <p:cNvSpPr/>
          <p:nvPr/>
        </p:nvSpPr>
        <p:spPr>
          <a:xfrm>
            <a:off x="777240" y="2016252"/>
            <a:ext cx="585216" cy="585216"/>
          </a:xfrm>
          <a:prstGeom prst="ellipse">
            <a:avLst/>
          </a:prstGeom>
          <a:solidFill>
            <a:srgbClr val="0B0E1F"/>
          </a:solidFill>
          <a:ln w="17780">
            <a:solidFill>
              <a:srgbClr val="8B5CF6"/>
            </a:solidFill>
            <a:prstDash val="solid"/>
          </a:ln>
        </p:spPr>
      </p:sp>
      <p:pic>
        <p:nvPicPr>
          <p:cNvPr id="6" name="Image 0" descr="/home/claude/work/imgs/icon_cogs.png"/>
          <p:cNvPicPr>
            <a:picLocks noChangeAspect="1"/>
          </p:cNvPicPr>
          <p:nvPr/>
        </p:nvPicPr>
        <p:blipFill>
          <a:blip r:embed="rId3"/>
          <a:stretch>
            <a:fillRect/>
          </a:stretch>
        </p:blipFill>
        <p:spPr>
          <a:xfrm>
            <a:off x="932688" y="2162556"/>
            <a:ext cx="292608" cy="292608"/>
          </a:xfrm>
          <a:prstGeom prst="rect">
            <a:avLst/>
          </a:prstGeom>
        </p:spPr>
      </p:pic>
      <p:sp>
        <p:nvSpPr>
          <p:cNvPr id="7" name="Text 4"/>
          <p:cNvSpPr/>
          <p:nvPr/>
        </p:nvSpPr>
        <p:spPr>
          <a:xfrm>
            <a:off x="1554480" y="1737360"/>
            <a:ext cx="4251960" cy="1143000"/>
          </a:xfrm>
          <a:prstGeom prst="rect">
            <a:avLst/>
          </a:prstGeom>
          <a:noFill/>
          <a:ln/>
        </p:spPr>
        <p:txBody>
          <a:bodyPr wrap="square" rtlCol="0" anchor="ctr"/>
          <a:lstStyle/>
          <a:p>
            <a:pPr marL="0" indent="0">
              <a:buNone/>
            </a:pPr>
            <a:r>
              <a:rPr lang="en-US" sz="1350" dirty="0">
                <a:solidFill>
                  <a:srgbClr val="E7E9F5"/>
                </a:solidFill>
                <a:latin typeface="Calibri" pitchFamily="34" charset="0"/>
                <a:ea typeface="Calibri" pitchFamily="34" charset="-122"/>
                <a:cs typeface="Calibri" pitchFamily="34" charset="-120"/>
              </a:rPr>
              <a:t>Year, Region, Country and Source filters where applicable</a:t>
            </a:r>
            <a:endParaRPr lang="en-US" sz="1350" dirty="0"/>
          </a:p>
        </p:txBody>
      </p:sp>
      <p:sp>
        <p:nvSpPr>
          <p:cNvPr id="8" name="Shape 5"/>
          <p:cNvSpPr/>
          <p:nvPr/>
        </p:nvSpPr>
        <p:spPr>
          <a:xfrm>
            <a:off x="6199632" y="1737360"/>
            <a:ext cx="5440680" cy="1143000"/>
          </a:xfrm>
          <a:prstGeom prst="roundRect">
            <a:avLst>
              <a:gd name="adj" fmla="val 6400"/>
            </a:avLst>
          </a:prstGeom>
          <a:solidFill>
            <a:srgbClr val="141834"/>
          </a:solidFill>
          <a:ln w="12700">
            <a:solidFill>
              <a:srgbClr val="262B4A"/>
            </a:solidFill>
            <a:prstDash val="solid"/>
          </a:ln>
        </p:spPr>
      </p:sp>
      <p:sp>
        <p:nvSpPr>
          <p:cNvPr id="9" name="Shape 6"/>
          <p:cNvSpPr/>
          <p:nvPr/>
        </p:nvSpPr>
        <p:spPr>
          <a:xfrm>
            <a:off x="6428232" y="2016252"/>
            <a:ext cx="585216" cy="585216"/>
          </a:xfrm>
          <a:prstGeom prst="ellipse">
            <a:avLst/>
          </a:prstGeom>
          <a:solidFill>
            <a:srgbClr val="0B0E1F"/>
          </a:solidFill>
          <a:ln w="17780">
            <a:solidFill>
              <a:srgbClr val="8B5CF6"/>
            </a:solidFill>
            <a:prstDash val="solid"/>
          </a:ln>
        </p:spPr>
      </p:sp>
      <p:pic>
        <p:nvPicPr>
          <p:cNvPr id="10" name="Image 1" descr="/home/claude/work/imgs/icon_chartbar.png"/>
          <p:cNvPicPr>
            <a:picLocks noChangeAspect="1"/>
          </p:cNvPicPr>
          <p:nvPr/>
        </p:nvPicPr>
        <p:blipFill>
          <a:blip r:embed="rId4"/>
          <a:stretch>
            <a:fillRect/>
          </a:stretch>
        </p:blipFill>
        <p:spPr>
          <a:xfrm>
            <a:off x="6583680" y="2162556"/>
            <a:ext cx="292608" cy="292608"/>
          </a:xfrm>
          <a:prstGeom prst="rect">
            <a:avLst/>
          </a:prstGeom>
        </p:spPr>
      </p:pic>
      <p:sp>
        <p:nvSpPr>
          <p:cNvPr id="11" name="Text 7"/>
          <p:cNvSpPr/>
          <p:nvPr/>
        </p:nvSpPr>
        <p:spPr>
          <a:xfrm>
            <a:off x="7205472" y="1737360"/>
            <a:ext cx="4251960" cy="1143000"/>
          </a:xfrm>
          <a:prstGeom prst="rect">
            <a:avLst/>
          </a:prstGeom>
          <a:noFill/>
          <a:ln/>
        </p:spPr>
        <p:txBody>
          <a:bodyPr wrap="square" rtlCol="0" anchor="ctr"/>
          <a:lstStyle/>
          <a:p>
            <a:pPr marL="0" indent="0">
              <a:buNone/>
            </a:pPr>
            <a:r>
              <a:rPr lang="en-US" sz="1350" dirty="0">
                <a:solidFill>
                  <a:srgbClr val="E7E9F5"/>
                </a:solidFill>
                <a:latin typeface="Calibri" pitchFamily="34" charset="0"/>
                <a:ea typeface="Calibri" pitchFamily="34" charset="-122"/>
                <a:cs typeface="Calibri" pitchFamily="34" charset="-120"/>
              </a:rPr>
              <a:t>Dashboard navigation</a:t>
            </a:r>
            <a:endParaRPr lang="en-US" sz="1350" dirty="0"/>
          </a:p>
        </p:txBody>
      </p:sp>
      <p:sp>
        <p:nvSpPr>
          <p:cNvPr id="12" name="Shape 8"/>
          <p:cNvSpPr/>
          <p:nvPr/>
        </p:nvSpPr>
        <p:spPr>
          <a:xfrm>
            <a:off x="548640" y="3063240"/>
            <a:ext cx="5440680" cy="1143000"/>
          </a:xfrm>
          <a:prstGeom prst="roundRect">
            <a:avLst>
              <a:gd name="adj" fmla="val 6400"/>
            </a:avLst>
          </a:prstGeom>
          <a:solidFill>
            <a:srgbClr val="141834"/>
          </a:solidFill>
          <a:ln w="12700">
            <a:solidFill>
              <a:srgbClr val="262B4A"/>
            </a:solidFill>
            <a:prstDash val="solid"/>
          </a:ln>
        </p:spPr>
      </p:sp>
      <p:sp>
        <p:nvSpPr>
          <p:cNvPr id="13" name="Shape 9"/>
          <p:cNvSpPr/>
          <p:nvPr/>
        </p:nvSpPr>
        <p:spPr>
          <a:xfrm>
            <a:off x="777240" y="3342132"/>
            <a:ext cx="585216" cy="585216"/>
          </a:xfrm>
          <a:prstGeom prst="ellipse">
            <a:avLst/>
          </a:prstGeom>
          <a:solidFill>
            <a:srgbClr val="0B0E1F"/>
          </a:solidFill>
          <a:ln w="17780">
            <a:solidFill>
              <a:srgbClr val="8B5CF6"/>
            </a:solidFill>
            <a:prstDash val="solid"/>
          </a:ln>
        </p:spPr>
      </p:sp>
      <p:pic>
        <p:nvPicPr>
          <p:cNvPr id="14" name="Image 2" descr="/home/claude/work/imgs/icon_bullseye.png"/>
          <p:cNvPicPr>
            <a:picLocks noChangeAspect="1"/>
          </p:cNvPicPr>
          <p:nvPr/>
        </p:nvPicPr>
        <p:blipFill>
          <a:blip r:embed="rId5"/>
          <a:stretch>
            <a:fillRect/>
          </a:stretch>
        </p:blipFill>
        <p:spPr>
          <a:xfrm>
            <a:off x="932688" y="3488436"/>
            <a:ext cx="292608" cy="292608"/>
          </a:xfrm>
          <a:prstGeom prst="rect">
            <a:avLst/>
          </a:prstGeom>
        </p:spPr>
      </p:pic>
      <p:sp>
        <p:nvSpPr>
          <p:cNvPr id="15" name="Text 10"/>
          <p:cNvSpPr/>
          <p:nvPr/>
        </p:nvSpPr>
        <p:spPr>
          <a:xfrm>
            <a:off x="1554480" y="3063240"/>
            <a:ext cx="4251960" cy="1143000"/>
          </a:xfrm>
          <a:prstGeom prst="rect">
            <a:avLst/>
          </a:prstGeom>
          <a:noFill/>
          <a:ln/>
        </p:spPr>
        <p:txBody>
          <a:bodyPr wrap="square" rtlCol="0" anchor="ctr"/>
          <a:lstStyle/>
          <a:p>
            <a:pPr marL="0" indent="0">
              <a:buNone/>
            </a:pPr>
            <a:r>
              <a:rPr lang="en-US" sz="1350" dirty="0">
                <a:solidFill>
                  <a:srgbClr val="E7E9F5"/>
                </a:solidFill>
                <a:latin typeface="Calibri" pitchFamily="34" charset="0"/>
                <a:ea typeface="Calibri" pitchFamily="34" charset="-122"/>
                <a:cs typeface="Calibri" pitchFamily="34" charset="-120"/>
              </a:rPr>
              <a:t>Interactive selections</a:t>
            </a:r>
            <a:endParaRPr lang="en-US" sz="1350" dirty="0"/>
          </a:p>
        </p:txBody>
      </p:sp>
      <p:sp>
        <p:nvSpPr>
          <p:cNvPr id="16" name="Shape 11"/>
          <p:cNvSpPr/>
          <p:nvPr/>
        </p:nvSpPr>
        <p:spPr>
          <a:xfrm>
            <a:off x="6199632" y="3063240"/>
            <a:ext cx="5440680" cy="1143000"/>
          </a:xfrm>
          <a:prstGeom prst="roundRect">
            <a:avLst>
              <a:gd name="adj" fmla="val 6400"/>
            </a:avLst>
          </a:prstGeom>
          <a:solidFill>
            <a:srgbClr val="141834"/>
          </a:solidFill>
          <a:ln w="12700">
            <a:solidFill>
              <a:srgbClr val="262B4A"/>
            </a:solidFill>
            <a:prstDash val="solid"/>
          </a:ln>
        </p:spPr>
      </p:sp>
      <p:sp>
        <p:nvSpPr>
          <p:cNvPr id="17" name="Shape 12"/>
          <p:cNvSpPr/>
          <p:nvPr/>
        </p:nvSpPr>
        <p:spPr>
          <a:xfrm>
            <a:off x="6428232" y="3342132"/>
            <a:ext cx="585216" cy="585216"/>
          </a:xfrm>
          <a:prstGeom prst="ellipse">
            <a:avLst/>
          </a:prstGeom>
          <a:solidFill>
            <a:srgbClr val="0B0E1F"/>
          </a:solidFill>
          <a:ln w="17780">
            <a:solidFill>
              <a:srgbClr val="8B5CF6"/>
            </a:solidFill>
            <a:prstDash val="solid"/>
          </a:ln>
        </p:spPr>
      </p:sp>
      <p:pic>
        <p:nvPicPr>
          <p:cNvPr id="18" name="Image 3" descr="/home/claude/work/imgs/icon_globe.png"/>
          <p:cNvPicPr>
            <a:picLocks noChangeAspect="1"/>
          </p:cNvPicPr>
          <p:nvPr/>
        </p:nvPicPr>
        <p:blipFill>
          <a:blip r:embed="rId6"/>
          <a:stretch>
            <a:fillRect/>
          </a:stretch>
        </p:blipFill>
        <p:spPr>
          <a:xfrm>
            <a:off x="6583680" y="3488436"/>
            <a:ext cx="292608" cy="292608"/>
          </a:xfrm>
          <a:prstGeom prst="rect">
            <a:avLst/>
          </a:prstGeom>
        </p:spPr>
      </p:pic>
      <p:sp>
        <p:nvSpPr>
          <p:cNvPr id="19" name="Text 13"/>
          <p:cNvSpPr/>
          <p:nvPr/>
        </p:nvSpPr>
        <p:spPr>
          <a:xfrm>
            <a:off x="7205472" y="3063240"/>
            <a:ext cx="4251960" cy="1143000"/>
          </a:xfrm>
          <a:prstGeom prst="rect">
            <a:avLst/>
          </a:prstGeom>
          <a:noFill/>
          <a:ln/>
        </p:spPr>
        <p:txBody>
          <a:bodyPr wrap="square" rtlCol="0" anchor="ctr"/>
          <a:lstStyle/>
          <a:p>
            <a:pPr marL="0" indent="0">
              <a:buNone/>
            </a:pPr>
            <a:r>
              <a:rPr lang="en-US" sz="1350" dirty="0">
                <a:solidFill>
                  <a:srgbClr val="E7E9F5"/>
                </a:solidFill>
                <a:latin typeface="Calibri" pitchFamily="34" charset="0"/>
                <a:ea typeface="Calibri" pitchFamily="34" charset="-122"/>
                <a:cs typeface="Calibri" pitchFamily="34" charset="-120"/>
              </a:rPr>
              <a:t>University / Country comparison</a:t>
            </a:r>
            <a:endParaRPr lang="en-US" sz="1350" dirty="0"/>
          </a:p>
        </p:txBody>
      </p:sp>
      <p:sp>
        <p:nvSpPr>
          <p:cNvPr id="20" name="Shape 14"/>
          <p:cNvSpPr/>
          <p:nvPr/>
        </p:nvSpPr>
        <p:spPr>
          <a:xfrm>
            <a:off x="548640" y="4389120"/>
            <a:ext cx="5440680" cy="1143000"/>
          </a:xfrm>
          <a:prstGeom prst="roundRect">
            <a:avLst>
              <a:gd name="adj" fmla="val 6400"/>
            </a:avLst>
          </a:prstGeom>
          <a:solidFill>
            <a:srgbClr val="141834"/>
          </a:solidFill>
          <a:ln w="12700">
            <a:solidFill>
              <a:srgbClr val="262B4A"/>
            </a:solidFill>
            <a:prstDash val="solid"/>
          </a:ln>
        </p:spPr>
      </p:sp>
      <p:sp>
        <p:nvSpPr>
          <p:cNvPr id="21" name="Shape 15"/>
          <p:cNvSpPr/>
          <p:nvPr/>
        </p:nvSpPr>
        <p:spPr>
          <a:xfrm>
            <a:off x="777240" y="4668012"/>
            <a:ext cx="585216" cy="585216"/>
          </a:xfrm>
          <a:prstGeom prst="ellipse">
            <a:avLst/>
          </a:prstGeom>
          <a:solidFill>
            <a:srgbClr val="0B0E1F"/>
          </a:solidFill>
          <a:ln w="17780">
            <a:solidFill>
              <a:srgbClr val="8B5CF6"/>
            </a:solidFill>
            <a:prstDash val="solid"/>
          </a:ln>
        </p:spPr>
      </p:sp>
      <p:pic>
        <p:nvPicPr>
          <p:cNvPr id="22" name="Image 4" descr="/home/claude/work/imgs/icon_link.png"/>
          <p:cNvPicPr>
            <a:picLocks noChangeAspect="1"/>
          </p:cNvPicPr>
          <p:nvPr/>
        </p:nvPicPr>
        <p:blipFill>
          <a:blip r:embed="rId7"/>
          <a:stretch>
            <a:fillRect/>
          </a:stretch>
        </p:blipFill>
        <p:spPr>
          <a:xfrm>
            <a:off x="932688" y="4814316"/>
            <a:ext cx="292608" cy="292608"/>
          </a:xfrm>
          <a:prstGeom prst="rect">
            <a:avLst/>
          </a:prstGeom>
        </p:spPr>
      </p:pic>
      <p:sp>
        <p:nvSpPr>
          <p:cNvPr id="23" name="Text 16"/>
          <p:cNvSpPr/>
          <p:nvPr/>
        </p:nvSpPr>
        <p:spPr>
          <a:xfrm>
            <a:off x="1554480" y="4389120"/>
            <a:ext cx="4251960" cy="1143000"/>
          </a:xfrm>
          <a:prstGeom prst="rect">
            <a:avLst/>
          </a:prstGeom>
          <a:noFill/>
          <a:ln/>
        </p:spPr>
        <p:txBody>
          <a:bodyPr wrap="square" rtlCol="0" anchor="ctr"/>
          <a:lstStyle/>
          <a:p>
            <a:pPr marL="0" indent="0">
              <a:buNone/>
            </a:pPr>
            <a:r>
              <a:rPr lang="en-US" sz="1350" dirty="0">
                <a:solidFill>
                  <a:srgbClr val="E7E9F5"/>
                </a:solidFill>
                <a:latin typeface="Calibri" pitchFamily="34" charset="0"/>
                <a:ea typeface="Calibri" pitchFamily="34" charset="-122"/>
                <a:cs typeface="Calibri" pitchFamily="34" charset="-120"/>
              </a:rPr>
              <a:t>Reset control</a:t>
            </a:r>
            <a:endParaRPr lang="en-US" sz="1350" dirty="0"/>
          </a:p>
        </p:txBody>
      </p:sp>
      <p:sp>
        <p:nvSpPr>
          <p:cNvPr id="24" name="Shape 17"/>
          <p:cNvSpPr/>
          <p:nvPr/>
        </p:nvSpPr>
        <p:spPr>
          <a:xfrm>
            <a:off x="6199632" y="4389120"/>
            <a:ext cx="5440680" cy="1143000"/>
          </a:xfrm>
          <a:prstGeom prst="roundRect">
            <a:avLst>
              <a:gd name="adj" fmla="val 6400"/>
            </a:avLst>
          </a:prstGeom>
          <a:solidFill>
            <a:srgbClr val="141834"/>
          </a:solidFill>
          <a:ln w="12700">
            <a:solidFill>
              <a:srgbClr val="262B4A"/>
            </a:solidFill>
            <a:prstDash val="solid"/>
          </a:ln>
        </p:spPr>
      </p:sp>
      <p:sp>
        <p:nvSpPr>
          <p:cNvPr id="25" name="Shape 18"/>
          <p:cNvSpPr/>
          <p:nvPr/>
        </p:nvSpPr>
        <p:spPr>
          <a:xfrm>
            <a:off x="6428232" y="4668012"/>
            <a:ext cx="585216" cy="585216"/>
          </a:xfrm>
          <a:prstGeom prst="ellipse">
            <a:avLst/>
          </a:prstGeom>
          <a:solidFill>
            <a:srgbClr val="0B0E1F"/>
          </a:solidFill>
          <a:ln w="17780">
            <a:solidFill>
              <a:srgbClr val="8B5CF6"/>
            </a:solidFill>
            <a:prstDash val="solid"/>
          </a:ln>
        </p:spPr>
      </p:sp>
      <p:pic>
        <p:nvPicPr>
          <p:cNvPr id="26" name="Image 5" descr="/home/claude/work/imgs/icon_atom.png"/>
          <p:cNvPicPr>
            <a:picLocks noChangeAspect="1"/>
          </p:cNvPicPr>
          <p:nvPr/>
        </p:nvPicPr>
        <p:blipFill>
          <a:blip r:embed="rId8"/>
          <a:stretch>
            <a:fillRect/>
          </a:stretch>
        </p:blipFill>
        <p:spPr>
          <a:xfrm>
            <a:off x="6583680" y="4814316"/>
            <a:ext cx="292608" cy="292608"/>
          </a:xfrm>
          <a:prstGeom prst="rect">
            <a:avLst/>
          </a:prstGeom>
        </p:spPr>
      </p:pic>
      <p:sp>
        <p:nvSpPr>
          <p:cNvPr id="27" name="Text 19"/>
          <p:cNvSpPr/>
          <p:nvPr/>
        </p:nvSpPr>
        <p:spPr>
          <a:xfrm>
            <a:off x="7205472" y="4389120"/>
            <a:ext cx="4251960" cy="1143000"/>
          </a:xfrm>
          <a:prstGeom prst="rect">
            <a:avLst/>
          </a:prstGeom>
          <a:noFill/>
          <a:ln/>
        </p:spPr>
        <p:txBody>
          <a:bodyPr wrap="square" rtlCol="0" anchor="ctr"/>
          <a:lstStyle/>
          <a:p>
            <a:pPr marL="0" indent="0">
              <a:buNone/>
            </a:pPr>
            <a:r>
              <a:rPr lang="en-US" sz="1350" dirty="0">
                <a:solidFill>
                  <a:srgbClr val="E7E9F5"/>
                </a:solidFill>
                <a:latin typeface="Calibri" pitchFamily="34" charset="0"/>
                <a:ea typeface="Calibri" pitchFamily="34" charset="-122"/>
                <a:cs typeface="Calibri" pitchFamily="34" charset="-120"/>
              </a:rPr>
              <a:t>Drill-down and highlighting</a:t>
            </a:r>
            <a:endParaRPr lang="en-US" sz="1350" dirty="0"/>
          </a:p>
        </p:txBody>
      </p:sp>
      <p:sp>
        <p:nvSpPr>
          <p:cNvPr id="28" name="Text 20"/>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29" name="Text 21"/>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F"/>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6D28D9">
              <a:alpha val="18000"/>
            </a:srgbClr>
          </a:solidFill>
          <a:ln/>
        </p:spPr>
      </p:sp>
      <p:sp>
        <p:nvSpPr>
          <p:cNvPr id="3" name="Shape 1"/>
          <p:cNvSpPr/>
          <p:nvPr/>
        </p:nvSpPr>
        <p:spPr>
          <a:xfrm>
            <a:off x="9326880" y="3840480"/>
            <a:ext cx="4572000" cy="4572000"/>
          </a:xfrm>
          <a:prstGeom prst="ellipse">
            <a:avLst/>
          </a:prstGeom>
          <a:solidFill>
            <a:srgbClr val="3B82F6">
              <a:alpha val="14000"/>
            </a:srgbClr>
          </a:solidFill>
          <a:ln/>
        </p:spPr>
      </p:sp>
      <p:pic>
        <p:nvPicPr>
          <p:cNvPr id="4" name="Image 0" descr="/home/claude/work/imgs/icon_flag.png"/>
          <p:cNvPicPr>
            <a:picLocks noChangeAspect="1"/>
          </p:cNvPicPr>
          <p:nvPr/>
        </p:nvPicPr>
        <p:blipFill>
          <a:blip r:embed="rId3"/>
          <a:stretch>
            <a:fillRect/>
          </a:stretch>
        </p:blipFill>
        <p:spPr>
          <a:xfrm>
            <a:off x="548640" y="502920"/>
            <a:ext cx="502920" cy="502920"/>
          </a:xfrm>
          <a:prstGeom prst="rect">
            <a:avLst/>
          </a:prstGeom>
        </p:spPr>
      </p:pic>
      <p:sp>
        <p:nvSpPr>
          <p:cNvPr id="5" name="Text 2"/>
          <p:cNvSpPr/>
          <p:nvPr/>
        </p:nvSpPr>
        <p:spPr>
          <a:xfrm>
            <a:off x="1143000" y="530352"/>
            <a:ext cx="3657600" cy="365760"/>
          </a:xfrm>
          <a:prstGeom prst="rect">
            <a:avLst/>
          </a:prstGeom>
          <a:noFill/>
          <a:ln/>
        </p:spPr>
        <p:txBody>
          <a:bodyPr wrap="square" rtlCol="0" anchor="ctr"/>
          <a:lstStyle/>
          <a:p>
            <a:pPr marL="0" indent="0">
              <a:buNone/>
            </a:pPr>
            <a:r>
              <a:rPr lang="en-US" sz="1400" b="1" kern="0" spc="200" dirty="0">
                <a:solidFill>
                  <a:srgbClr val="8B5CF6"/>
                </a:solidFill>
                <a:latin typeface="Calibri" pitchFamily="34" charset="0"/>
                <a:ea typeface="Calibri" pitchFamily="34" charset="-122"/>
                <a:cs typeface="Calibri" pitchFamily="34" charset="-120"/>
              </a:rPr>
              <a:t>CONCLUSION</a:t>
            </a:r>
            <a:endParaRPr lang="en-US" sz="1400" dirty="0"/>
          </a:p>
        </p:txBody>
      </p:sp>
      <p:sp>
        <p:nvSpPr>
          <p:cNvPr id="6" name="Shape 3"/>
          <p:cNvSpPr/>
          <p:nvPr/>
        </p:nvSpPr>
        <p:spPr>
          <a:xfrm>
            <a:off x="548640" y="1783080"/>
            <a:ext cx="11091672" cy="1920240"/>
          </a:xfrm>
          <a:prstGeom prst="roundRect">
            <a:avLst>
              <a:gd name="adj" fmla="val 4762"/>
            </a:avLst>
          </a:prstGeom>
          <a:solidFill>
            <a:srgbClr val="141834"/>
          </a:solidFill>
          <a:ln w="12700">
            <a:solidFill>
              <a:srgbClr val="262B4A"/>
            </a:solidFill>
            <a:prstDash val="solid"/>
          </a:ln>
        </p:spPr>
      </p:sp>
      <p:sp>
        <p:nvSpPr>
          <p:cNvPr id="7" name="Text 4"/>
          <p:cNvSpPr/>
          <p:nvPr/>
        </p:nvSpPr>
        <p:spPr>
          <a:xfrm>
            <a:off x="1051560" y="1783080"/>
            <a:ext cx="10149840" cy="1920240"/>
          </a:xfrm>
          <a:prstGeom prst="rect">
            <a:avLst/>
          </a:prstGeom>
          <a:noFill/>
          <a:ln/>
        </p:spPr>
        <p:txBody>
          <a:bodyPr wrap="square" rtlCol="0" anchor="ctr"/>
          <a:lstStyle/>
          <a:p>
            <a:pPr marL="0" indent="0" algn="ctr">
              <a:lnSpc>
                <a:spcPct val="135000"/>
              </a:lnSpc>
              <a:buNone/>
            </a:pPr>
            <a:r>
              <a:rPr lang="en-US" sz="1900" dirty="0">
                <a:solidFill>
                  <a:srgbClr val="E7E9F5"/>
                </a:solidFill>
                <a:latin typeface="Calibri" pitchFamily="34" charset="0"/>
                <a:ea typeface="Calibri" pitchFamily="34" charset="-122"/>
                <a:cs typeface="Calibri" pitchFamily="34" charset="-120"/>
              </a:rPr>
              <a:t>EduVision converts university ranking data from QS and THE into an interactive Tableau dashboard suite for analyzing university performance, research impact, student diversity, and country-level education trends.</a:t>
            </a:r>
            <a:endParaRPr lang="en-US" sz="1900" dirty="0"/>
          </a:p>
        </p:txBody>
      </p:sp>
      <p:sp>
        <p:nvSpPr>
          <p:cNvPr id="8" name="Shape 5"/>
          <p:cNvSpPr/>
          <p:nvPr/>
        </p:nvSpPr>
        <p:spPr>
          <a:xfrm>
            <a:off x="2011680" y="4206240"/>
            <a:ext cx="2468880" cy="1280160"/>
          </a:xfrm>
          <a:prstGeom prst="roundRect">
            <a:avLst>
              <a:gd name="adj" fmla="val 5714"/>
            </a:avLst>
          </a:prstGeom>
          <a:solidFill>
            <a:srgbClr val="141834"/>
          </a:solidFill>
          <a:ln w="12700">
            <a:solidFill>
              <a:srgbClr val="262B4A"/>
            </a:solidFill>
            <a:prstDash val="solid"/>
          </a:ln>
        </p:spPr>
      </p:sp>
      <p:sp>
        <p:nvSpPr>
          <p:cNvPr id="9" name="Text 6"/>
          <p:cNvSpPr/>
          <p:nvPr/>
        </p:nvSpPr>
        <p:spPr>
          <a:xfrm>
            <a:off x="2011680" y="4315968"/>
            <a:ext cx="2468880" cy="548640"/>
          </a:xfrm>
          <a:prstGeom prst="rect">
            <a:avLst/>
          </a:prstGeom>
          <a:noFill/>
          <a:ln/>
        </p:spPr>
        <p:txBody>
          <a:bodyPr wrap="square" rtlCol="0" anchor="ctr"/>
          <a:lstStyle/>
          <a:p>
            <a:pPr marL="0" indent="0" algn="ctr">
              <a:buNone/>
            </a:pPr>
            <a:r>
              <a:rPr lang="en-US" sz="2800" b="1" dirty="0">
                <a:solidFill>
                  <a:srgbClr val="8B5CF6"/>
                </a:solidFill>
                <a:latin typeface="Cambria" pitchFamily="34" charset="0"/>
                <a:ea typeface="Cambria" pitchFamily="34" charset="-122"/>
                <a:cs typeface="Cambria" pitchFamily="34" charset="-120"/>
              </a:rPr>
              <a:t>4</a:t>
            </a:r>
            <a:endParaRPr lang="en-US" sz="2800" dirty="0"/>
          </a:p>
        </p:txBody>
      </p:sp>
      <p:sp>
        <p:nvSpPr>
          <p:cNvPr id="10" name="Text 7"/>
          <p:cNvSpPr/>
          <p:nvPr/>
        </p:nvSpPr>
        <p:spPr>
          <a:xfrm>
            <a:off x="2148840" y="4892040"/>
            <a:ext cx="2194560" cy="502920"/>
          </a:xfrm>
          <a:prstGeom prst="rect">
            <a:avLst/>
          </a:prstGeom>
          <a:noFill/>
          <a:ln/>
        </p:spPr>
        <p:txBody>
          <a:bodyPr wrap="square" rtlCol="0" anchor="ctr"/>
          <a:lstStyle/>
          <a:p>
            <a:pPr marL="0" indent="0" algn="ctr">
              <a:buNone/>
            </a:pPr>
            <a:r>
              <a:rPr lang="en-US" sz="1100" dirty="0">
                <a:solidFill>
                  <a:srgbClr val="AEB4CC"/>
                </a:solidFill>
                <a:latin typeface="Calibri" pitchFamily="34" charset="0"/>
                <a:ea typeface="Calibri" pitchFamily="34" charset="-122"/>
                <a:cs typeface="Calibri" pitchFamily="34" charset="-120"/>
              </a:rPr>
              <a:t>Interactive dashboards</a:t>
            </a:r>
            <a:endParaRPr lang="en-US" sz="1100" dirty="0"/>
          </a:p>
        </p:txBody>
      </p:sp>
      <p:sp>
        <p:nvSpPr>
          <p:cNvPr id="11" name="Shape 8"/>
          <p:cNvSpPr/>
          <p:nvPr/>
        </p:nvSpPr>
        <p:spPr>
          <a:xfrm>
            <a:off x="4709160" y="4206240"/>
            <a:ext cx="2468880" cy="1280160"/>
          </a:xfrm>
          <a:prstGeom prst="roundRect">
            <a:avLst>
              <a:gd name="adj" fmla="val 5714"/>
            </a:avLst>
          </a:prstGeom>
          <a:solidFill>
            <a:srgbClr val="141834"/>
          </a:solidFill>
          <a:ln w="12700">
            <a:solidFill>
              <a:srgbClr val="262B4A"/>
            </a:solidFill>
            <a:prstDash val="solid"/>
          </a:ln>
        </p:spPr>
      </p:sp>
      <p:sp>
        <p:nvSpPr>
          <p:cNvPr id="12" name="Text 9"/>
          <p:cNvSpPr/>
          <p:nvPr/>
        </p:nvSpPr>
        <p:spPr>
          <a:xfrm>
            <a:off x="4709160" y="4315968"/>
            <a:ext cx="2468880" cy="548640"/>
          </a:xfrm>
          <a:prstGeom prst="rect">
            <a:avLst/>
          </a:prstGeom>
          <a:noFill/>
          <a:ln/>
        </p:spPr>
        <p:txBody>
          <a:bodyPr wrap="square" rtlCol="0" anchor="ctr"/>
          <a:lstStyle/>
          <a:p>
            <a:pPr marL="0" indent="0" algn="ctr">
              <a:buNone/>
            </a:pPr>
            <a:r>
              <a:rPr lang="en-US" sz="2800" b="1" dirty="0">
                <a:solidFill>
                  <a:srgbClr val="8B5CF6"/>
                </a:solidFill>
                <a:latin typeface="Cambria" pitchFamily="34" charset="0"/>
                <a:ea typeface="Cambria" pitchFamily="34" charset="-122"/>
                <a:cs typeface="Cambria" pitchFamily="34" charset="-120"/>
              </a:rPr>
              <a:t>6</a:t>
            </a:r>
            <a:endParaRPr lang="en-US" sz="2800" dirty="0"/>
          </a:p>
        </p:txBody>
      </p:sp>
      <p:sp>
        <p:nvSpPr>
          <p:cNvPr id="13" name="Text 10"/>
          <p:cNvSpPr/>
          <p:nvPr/>
        </p:nvSpPr>
        <p:spPr>
          <a:xfrm>
            <a:off x="4846320" y="4892040"/>
            <a:ext cx="2194560" cy="502920"/>
          </a:xfrm>
          <a:prstGeom prst="rect">
            <a:avLst/>
          </a:prstGeom>
          <a:noFill/>
          <a:ln/>
        </p:spPr>
        <p:txBody>
          <a:bodyPr wrap="square" rtlCol="0" anchor="ctr"/>
          <a:lstStyle/>
          <a:p>
            <a:pPr marL="0" indent="0" algn="ctr">
              <a:buNone/>
            </a:pPr>
            <a:r>
              <a:rPr lang="en-US" sz="1100" dirty="0">
                <a:solidFill>
                  <a:srgbClr val="AEB4CC"/>
                </a:solidFill>
                <a:latin typeface="Calibri" pitchFamily="34" charset="0"/>
                <a:ea typeface="Calibri" pitchFamily="34" charset="-122"/>
                <a:cs typeface="Calibri" pitchFamily="34" charset="-120"/>
              </a:rPr>
              <a:t>Education KPIs</a:t>
            </a:r>
            <a:endParaRPr lang="en-US" sz="1100" dirty="0"/>
          </a:p>
        </p:txBody>
      </p:sp>
      <p:sp>
        <p:nvSpPr>
          <p:cNvPr id="14" name="Shape 11"/>
          <p:cNvSpPr/>
          <p:nvPr/>
        </p:nvSpPr>
        <p:spPr>
          <a:xfrm>
            <a:off x="7406640" y="4206240"/>
            <a:ext cx="2468880" cy="1280160"/>
          </a:xfrm>
          <a:prstGeom prst="roundRect">
            <a:avLst>
              <a:gd name="adj" fmla="val 5714"/>
            </a:avLst>
          </a:prstGeom>
          <a:solidFill>
            <a:srgbClr val="141834"/>
          </a:solidFill>
          <a:ln w="12700">
            <a:solidFill>
              <a:srgbClr val="262B4A"/>
            </a:solidFill>
            <a:prstDash val="solid"/>
          </a:ln>
        </p:spPr>
      </p:sp>
      <p:sp>
        <p:nvSpPr>
          <p:cNvPr id="15" name="Text 12"/>
          <p:cNvSpPr/>
          <p:nvPr/>
        </p:nvSpPr>
        <p:spPr>
          <a:xfrm>
            <a:off x="7406640" y="4315968"/>
            <a:ext cx="2468880" cy="548640"/>
          </a:xfrm>
          <a:prstGeom prst="rect">
            <a:avLst/>
          </a:prstGeom>
          <a:noFill/>
          <a:ln/>
        </p:spPr>
        <p:txBody>
          <a:bodyPr wrap="square" rtlCol="0" anchor="ctr"/>
          <a:lstStyle/>
          <a:p>
            <a:pPr marL="0" indent="0" algn="ctr">
              <a:buNone/>
            </a:pPr>
            <a:r>
              <a:rPr lang="en-US" sz="2800" b="1" dirty="0">
                <a:solidFill>
                  <a:srgbClr val="8B5CF6"/>
                </a:solidFill>
                <a:latin typeface="Cambria" pitchFamily="34" charset="0"/>
                <a:ea typeface="Cambria" pitchFamily="34" charset="-122"/>
                <a:cs typeface="Cambria" pitchFamily="34" charset="-120"/>
              </a:rPr>
              <a:t>2</a:t>
            </a:r>
            <a:endParaRPr lang="en-US" sz="2800" dirty="0"/>
          </a:p>
        </p:txBody>
      </p:sp>
      <p:sp>
        <p:nvSpPr>
          <p:cNvPr id="16" name="Text 13"/>
          <p:cNvSpPr/>
          <p:nvPr/>
        </p:nvSpPr>
        <p:spPr>
          <a:xfrm>
            <a:off x="7543800" y="4892040"/>
            <a:ext cx="2194560" cy="502920"/>
          </a:xfrm>
          <a:prstGeom prst="rect">
            <a:avLst/>
          </a:prstGeom>
          <a:noFill/>
          <a:ln/>
        </p:spPr>
        <p:txBody>
          <a:bodyPr wrap="square" rtlCol="0" anchor="ctr"/>
          <a:lstStyle/>
          <a:p>
            <a:pPr marL="0" indent="0" algn="ctr">
              <a:buNone/>
            </a:pPr>
            <a:r>
              <a:rPr lang="en-US" sz="1100" dirty="0">
                <a:solidFill>
                  <a:srgbClr val="AEB4CC"/>
                </a:solidFill>
                <a:latin typeface="Calibri" pitchFamily="34" charset="0"/>
                <a:ea typeface="Calibri" pitchFamily="34" charset="-122"/>
                <a:cs typeface="Calibri" pitchFamily="34" charset="-120"/>
              </a:rPr>
              <a:t>Global ranking sources</a:t>
            </a:r>
            <a:endParaRPr lang="en-US" sz="1100" dirty="0"/>
          </a:p>
        </p:txBody>
      </p:sp>
      <p:sp>
        <p:nvSpPr>
          <p:cNvPr id="17" name="Text 14"/>
          <p:cNvSpPr/>
          <p:nvPr/>
        </p:nvSpPr>
        <p:spPr>
          <a:xfrm>
            <a:off x="457200" y="6510528"/>
            <a:ext cx="7315200" cy="274320"/>
          </a:xfrm>
          <a:prstGeom prst="rect">
            <a:avLst/>
          </a:prstGeom>
          <a:noFill/>
          <a:ln/>
        </p:spPr>
        <p:txBody>
          <a:bodyPr wrap="square" rtlCol="0" anchor="ctr"/>
          <a:lstStyle/>
          <a:p>
            <a:pPr marL="0" indent="0">
              <a:buNone/>
            </a:pPr>
            <a:r>
              <a:rPr lang="en-US" sz="900" dirty="0">
                <a:solidFill>
                  <a:srgbClr val="5B6182"/>
                </a:solidFill>
                <a:latin typeface="Calibri" pitchFamily="34" charset="0"/>
                <a:ea typeface="Calibri" pitchFamily="34" charset="-122"/>
                <a:cs typeface="Calibri" pitchFamily="34" charset="-120"/>
              </a:rPr>
              <a:t>EduVision — Higher Education Performance Dashboard</a:t>
            </a:r>
            <a:endParaRPr lang="en-US" sz="900" dirty="0"/>
          </a:p>
        </p:txBody>
      </p:sp>
      <p:sp>
        <p:nvSpPr>
          <p:cNvPr id="18" name="Text 15"/>
          <p:cNvSpPr/>
          <p:nvPr/>
        </p:nvSpPr>
        <p:spPr>
          <a:xfrm>
            <a:off x="11274552" y="6510528"/>
            <a:ext cx="548640" cy="274320"/>
          </a:xfrm>
          <a:prstGeom prst="rect">
            <a:avLst/>
          </a:prstGeom>
          <a:noFill/>
          <a:ln/>
        </p:spPr>
        <p:txBody>
          <a:bodyPr wrap="square" rtlCol="0" anchor="ctr"/>
          <a:lstStyle/>
          <a:p>
            <a:pPr marL="0" indent="0" algn="r">
              <a:buNone/>
            </a:pPr>
            <a:r>
              <a:rPr lang="en-US" sz="900" dirty="0">
                <a:solidFill>
                  <a:srgbClr val="5B618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E1F"/>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029200" cy="5029200"/>
          </a:xfrm>
          <a:prstGeom prst="ellipse">
            <a:avLst/>
          </a:prstGeom>
          <a:solidFill>
            <a:srgbClr val="6D28D9">
              <a:alpha val="20000"/>
            </a:srgbClr>
          </a:solidFill>
          <a:ln/>
        </p:spPr>
      </p:sp>
      <p:sp>
        <p:nvSpPr>
          <p:cNvPr id="3" name="Shape 1"/>
          <p:cNvSpPr/>
          <p:nvPr/>
        </p:nvSpPr>
        <p:spPr>
          <a:xfrm>
            <a:off x="-2011680" y="4023360"/>
            <a:ext cx="4572000" cy="4572000"/>
          </a:xfrm>
          <a:prstGeom prst="ellipse">
            <a:avLst/>
          </a:prstGeom>
          <a:solidFill>
            <a:srgbClr val="3B82F6">
              <a:alpha val="14000"/>
            </a:srgbClr>
          </a:solidFill>
          <a:ln/>
        </p:spPr>
      </p:sp>
      <p:pic>
        <p:nvPicPr>
          <p:cNvPr id="4" name="Image 0" descr="/home/claude/work/imgs/icon_grad_cap.png"/>
          <p:cNvPicPr>
            <a:picLocks noChangeAspect="1"/>
          </p:cNvPicPr>
          <p:nvPr/>
        </p:nvPicPr>
        <p:blipFill>
          <a:blip r:embed="rId3"/>
          <a:stretch>
            <a:fillRect/>
          </a:stretch>
        </p:blipFill>
        <p:spPr>
          <a:xfrm>
            <a:off x="5541264" y="2240280"/>
            <a:ext cx="1097280" cy="1097280"/>
          </a:xfrm>
          <a:prstGeom prst="rect">
            <a:avLst/>
          </a:prstGeom>
        </p:spPr>
      </p:pic>
      <p:sp>
        <p:nvSpPr>
          <p:cNvPr id="5" name="Text 2"/>
          <p:cNvSpPr/>
          <p:nvPr/>
        </p:nvSpPr>
        <p:spPr>
          <a:xfrm>
            <a:off x="548640" y="3520440"/>
            <a:ext cx="11091672" cy="914400"/>
          </a:xfrm>
          <a:prstGeom prst="rect">
            <a:avLst/>
          </a:prstGeom>
          <a:noFill/>
          <a:ln/>
        </p:spPr>
        <p:txBody>
          <a:bodyPr wrap="square"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3"/>
          <p:cNvSpPr/>
          <p:nvPr/>
        </p:nvSpPr>
        <p:spPr>
          <a:xfrm>
            <a:off x="548640" y="4480560"/>
            <a:ext cx="11091672" cy="457200"/>
          </a:xfrm>
          <a:prstGeom prst="rect">
            <a:avLst/>
          </a:prstGeom>
          <a:noFill/>
          <a:ln/>
        </p:spPr>
        <p:txBody>
          <a:bodyPr wrap="square" rtlCol="0" anchor="ctr"/>
          <a:lstStyle/>
          <a:p>
            <a:pPr marL="0" indent="0" algn="ctr">
              <a:buNone/>
            </a:pPr>
            <a:r>
              <a:rPr lang="en-US" sz="2000" dirty="0">
                <a:solidFill>
                  <a:srgbClr val="AEB4CC"/>
                </a:solidFill>
                <a:latin typeface="Calibri" pitchFamily="34" charset="0"/>
                <a:ea typeface="Calibri" pitchFamily="34" charset="-122"/>
                <a:cs typeface="Calibri" pitchFamily="34" charset="-120"/>
              </a:rPr>
              <a:t>Puppala Lavanya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461</Words>
  <Application>Microsoft Office PowerPoint</Application>
  <PresentationFormat>Widescreen</PresentationFormat>
  <Paragraphs>118</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Lavanya Puppala</cp:lastModifiedBy>
  <cp:revision>3</cp:revision>
  <dcterms:created xsi:type="dcterms:W3CDTF">2026-09-16T05:38:51Z</dcterms:created>
  <dcterms:modified xsi:type="dcterms:W3CDTF">2026-09-16T06:38:44Z</dcterms:modified>
</cp:coreProperties>
</file>