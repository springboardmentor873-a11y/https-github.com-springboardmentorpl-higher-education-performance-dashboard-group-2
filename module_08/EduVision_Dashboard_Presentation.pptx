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EduVision: a Tableau dashboard suite that unifies QS and THE ranking data into one analytical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fragmented, non-comparable, static ranking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Four-step pipeline from raw rankings to a connected dashboard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Kaggle ranking datasets; Python for preparation, Tableau for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phases across four milestones over eight weeks; each phase ends with a named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engineered KPIs, each with its exact formula, form the shared measurement layer across all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milestones over eight weeks, each with a concrete deliverable and pass/fail target; eight modules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University Overview dashboard: Global standing at a glance — top institutions, reputation spread, regional share and a searchable comparison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Research Analytics dashboard: Where research strength actually sits — by country, by citation performance and by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Student Analytics dashboard: Enrolment scale, teaching capacity and international mix read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Country Comparison dashboard: Pick any two countries and compare them across every KPI, with a global score map for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shared filter context and navigation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cross-dashboard findings rather than repeating individual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value delivered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6C4FE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6C4FE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74520"/>
            <a:ext cx="566928" cy="566928"/>
          </a:xfrm>
          <a:prstGeom prst="roundRect">
            <a:avLst>
              <a:gd name="adj" fmla="val 24194"/>
            </a:avLst>
          </a:prstGeom>
          <a:solidFill>
            <a:srgbClr val="6C4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EDUVISION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for Comparing Universities Worldwide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245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Tableau suite built on QS and THE world university rankings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dashboards   ·   6 education KPIs   ·   769 universities   ·   90 countries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Rankings, No Clear Answer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data is scattered across competing ranking sources with different scales, indicators and coverage. Comparing institutions honestly — or spotting a regional trend — means stitching spreadsheets together by hand.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29400" y="1572768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856232"/>
            <a:ext cx="365760" cy="365760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70064" y="17007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70064" y="200253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and THE score the same university on different scales.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29400" y="2688336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2971800"/>
            <a:ext cx="365760" cy="365760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70064" y="28163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comparability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70064" y="311810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alone hide why one institution outperforms another.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29400" y="3803904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0" y="4087368"/>
            <a:ext cx="365760" cy="365760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70064" y="3931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diversity signal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70064" y="42336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and international mix rarely sit beside rank.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4919472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5202936"/>
            <a:ext cx="365760" cy="365760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70064" y="50474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static analysis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70064" y="53492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can't filter by region or country on demand.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EAE4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3950208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Analysts, students and administrators all ask the same four questions — who leads globally, who leads in research, who attracts international students, and how does my country compare — but no single view answers them together.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— Higher Education Performance Dashboard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Two Rankings Into One Workbook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Tableau workbook that merges QS and THE rankings, standardises the indicators, engineers a common KPI layer, and surfaces it all through four linked dashboards.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11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16352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E11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816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4074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2026 and THE 2016–2026 joined on a matched institution key.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6704" y="2514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11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816352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E11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9312" y="2816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standardise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44074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countries and regions normalised; scores rescaled 0–100.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4768" y="2514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11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7376" y="2816352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E11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37376" y="2816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KPIs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44074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derived education metrics computed in Python and Tableau.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42832" y="2514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11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2816352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E11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0" y="2816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dashboards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44074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Research, Student and Country views, fully filterable.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— Higher Education Performance Dashboard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and Tools I Used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6720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92224"/>
            <a:ext cx="6126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World University Rankings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1500 institutions · academic and employer reputation, faculty–student ratio, citations per faculty, international mix.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6090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dhrubangtalukdar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720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364992"/>
            <a:ext cx="6126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University Rankings 2016–2026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9417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years of overall and pillar scores, used for trend context and as a proxy where QS indicators are missing.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3367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raymondtoo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773168"/>
            <a:ext cx="6720840" cy="1207008"/>
          </a:xfrm>
          <a:prstGeom prst="roundRect">
            <a:avLst>
              <a:gd name="adj" fmla="val 7576"/>
            </a:avLst>
          </a:prstGeom>
          <a:solidFill>
            <a:srgbClr val="EAE4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956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after cleaning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230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769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596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478024" y="5230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478024" y="5596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087368" y="5230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087368" y="5596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96712" y="5230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696712" y="5596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1627632"/>
            <a:ext cx="3977640" cy="4352544"/>
          </a:xfrm>
          <a:prstGeom prst="roundRect">
            <a:avLst>
              <a:gd name="adj" fmla="val 2299"/>
            </a:avLst>
          </a:prstGeom>
          <a:solidFill>
            <a:srgbClr val="1E11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55280" y="1901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2432304"/>
            <a:ext cx="310896" cy="310896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2395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7066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matching and merging of the two ranking sources.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0" y="3346704"/>
            <a:ext cx="310896" cy="310896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0" y="3310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36210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rescaling and KPI computation.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4261104"/>
            <a:ext cx="310896" cy="310896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4224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5354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design, calculated fields and dashboard actions.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5175504"/>
            <a:ext cx="310896" cy="310896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12480" y="5138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54498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the workbook for interactive review.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— Higher Education Performance Dashboard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BUILT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Process, Step by Step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eight-week build across four milestones, ending in one portfolio-ready Tableau workbook.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86584"/>
            <a:ext cx="420624" cy="420624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048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9008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QS 2026 and THE 2016–2026 exports and audit coverage.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9359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4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university_raw_data.csv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2148840"/>
            <a:ext cx="352044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2386584"/>
            <a:ext cx="420624" cy="420624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24048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299008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names, handle nulls, rescale every indicator to 0–100.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359359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4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university_cleaned.csv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83296" y="2148840"/>
            <a:ext cx="352044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7616" y="2386584"/>
            <a:ext cx="420624" cy="420624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57616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06256" y="24048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engineering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299008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GRS, RIS, FSR, ISP, ARS and RPI as reusable fields.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359359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4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university_final_dataset.xlsx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78808"/>
            <a:ext cx="352044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416552"/>
            <a:ext cx="420624" cy="420624"/>
          </a:xfrm>
          <a:prstGeom prst="ellipse">
            <a:avLst/>
          </a:prstGeom>
          <a:solidFill>
            <a:srgbClr val="1E11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434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02005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four views with a shared layout and colour language.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6235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4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eduvision_dashboard_v1.twbx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15968" y="4178808"/>
            <a:ext cx="352044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4416552"/>
            <a:ext cx="420624" cy="420624"/>
          </a:xfrm>
          <a:prstGeom prst="ellipse">
            <a:avLst/>
          </a:prstGeom>
          <a:solidFill>
            <a:srgbClr val="1E11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90288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138928" y="4434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590288" y="502005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navigation, filter actions and a reset control across sheets.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90288" y="56235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4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EduVision_DV.twbx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83296" y="4178808"/>
            <a:ext cx="352044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57616" y="4416552"/>
            <a:ext cx="420624" cy="420624"/>
          </a:xfrm>
          <a:prstGeom prst="ellipse">
            <a:avLst/>
          </a:prstGeom>
          <a:solidFill>
            <a:srgbClr val="1E114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57616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906256" y="4434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57616" y="502005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KPI values against source scores and fix edge cases.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357616" y="56235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4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Testing Report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— Higher Education Performance Dashboard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Numbers Behind Every Chart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38528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6C4F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385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3288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 Score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4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GRS = (QS overall + THE overall) /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QS and THE overall scores.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66420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1938528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6C4F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19385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3288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Impact Score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83464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4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 = (Norm(Cit/Fac) + Norm(IRN)) /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20040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per faculty blended with research network.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83296" y="166420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1938528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6C4F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57616" y="19385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53288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Faculty–Student Ratio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283464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4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FSR = Std(Faculty / Student)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320040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faculty-to-student ratio.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99592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AE4F8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270248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6C4F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2702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8646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%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1663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4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 = ISS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53212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directly from International Students Score.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15968" y="399592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AE4F8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90288" y="4270248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6C4F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90288" y="42702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48646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4590288" y="51663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4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= QS Academic Rep. (THE overall as proxy)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90288" y="553212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reputation score; THE overall used where missing.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83296" y="399592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AE4F8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57616" y="4270248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6C4FE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357616" y="42702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RPI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357616" y="48646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Productivity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357616" y="51663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4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RPI = 0.70 × (Cit/Fac) + 0.30 × IRN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357616" y="553212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blend of citation rate and research network.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— Higher Education Performance Dashboard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&amp; Evaluation Criteria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eight-week build was scored against a fixed target at the end of each milestone.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4832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2880360"/>
                <a:gridCol w="3246120"/>
                <a:gridCol w="31089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1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1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1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1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1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cleaning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university_cleaned.csv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&gt;95% complete, &lt;2% missing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engineering &amp; planning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university_final_dataset.xlsx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6+ KPIs generated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development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EduVision_DV.twbx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dashboards integrated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docs &amp; delivery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documentation + workbook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accuracy &gt;95%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74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 delivered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EAE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544068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5440680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EAE4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91840" y="544068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5440680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EAE4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0" y="544068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engineering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778240" y="5440680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EAE4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778240" y="544068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wireframing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595274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EAE4F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595274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91840" y="595274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EAE4F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291840" y="595274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595274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EAE4F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035040" y="595274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778240" y="595274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EAE4F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78240" y="595274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delivery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— Higher Education Performance Dashboard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 OF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standing at a glance — top institutions, reputation spread, regional share and a searchable comparison panel.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26680" y="630936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leads the table at 98.06 GRS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26680" y="1051560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0100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holds 39.7% of ranked universities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26680" y="1472184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0" y="1408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and rank correlate, with clear outliers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316736" y="1956816"/>
            <a:ext cx="9555480" cy="4224528"/>
          </a:xfrm>
          <a:prstGeom prst="roundRect">
            <a:avLst>
              <a:gd name="adj" fmla="val 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0" descr="/mnt/user-data/uploads/Screenshot_2026-09-11_1853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029968"/>
            <a:ext cx="9409176" cy="407822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 OF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Analytics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research strength actually sits — by country, by citation performance and by region.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26680" y="630936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tops research impact at 99.6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26680" y="1051560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0100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leads average research impact by country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26680" y="1472184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0" y="1408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per faculty track impact almost linearly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316736" y="1956816"/>
            <a:ext cx="9555480" cy="4224528"/>
          </a:xfrm>
          <a:prstGeom prst="roundRect">
            <a:avLst>
              <a:gd name="adj" fmla="val 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0" descr="/mnt/user-data/uploads/Screenshot_2026-09-11_1853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029968"/>
            <a:ext cx="9409176" cy="407822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 OF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Analytics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scale, teaching capacity and international mix read side by side.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26680" y="630936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international share is 36.94%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26680" y="1051560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0100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Oceania scores highest on international outlook at 86.14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26680" y="1472184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0" y="1408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ratio averages 17.15 students per staff member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316736" y="1956816"/>
            <a:ext cx="9555480" cy="4224528"/>
          </a:xfrm>
          <a:prstGeom prst="roundRect">
            <a:avLst>
              <a:gd name="adj" fmla="val 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0" descr="/mnt/user-data/uploads/Screenshot_2026-09-11_1853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029968"/>
            <a:ext cx="9409176" cy="407822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4 OF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Comparison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two countries and compare them across every KPI, with a global score map for context.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26680" y="630936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countries covered end to end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26680" y="1051560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0100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is the top-scoring country overall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26680" y="1472184"/>
            <a:ext cx="155448" cy="155448"/>
          </a:xfrm>
          <a:prstGeom prst="ellipse">
            <a:avLst/>
          </a:prstGeom>
          <a:solidFill>
            <a:srgbClr val="6C4F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0" y="1408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view spans ranking, research and diversity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316736" y="1956816"/>
            <a:ext cx="9555480" cy="4224528"/>
          </a:xfrm>
          <a:prstGeom prst="roundRect">
            <a:avLst>
              <a:gd name="adj" fmla="val 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0" descr="/mnt/user-data/uploads/Screenshot_2026-09-11_1854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029968"/>
            <a:ext cx="9409176" cy="407822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Four Slides — One Workbook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shares the same filter context, so a selection made in one view carries through the rest.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23744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AE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432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761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menu moves between the four dashboards without losing state.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53912" y="219456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523744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AE4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32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&amp; country filters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761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parameters applied consistently across every sheet.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895344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AE4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895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8039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selections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bar or mark highlights the same institution elsewhere.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3912" y="356616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3895344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AE4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28232" y="3895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8039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Two-country parameters drive bars, scatter and a summary table.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5266944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AE4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266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1755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&amp; highlighting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481328" y="5504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to country to institution, in place.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53912" y="493776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E1145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28232" y="5266944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AE4F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28232" y="5266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51755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control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5504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whole workbook to its default unfiltered state.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— Higher Education Performance Dashboard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STOOD 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Things Worth Noting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E1145"/>
          </a:solidFill>
          <a:ln/>
          <a:effectLst>
            <a:outerShdw sx="100000" sy="100000" kx="0" ky="0" algn="bl" rotWithShape="0" blurRad="127000" dist="25400" dir="5400000">
              <a:srgbClr val="1E1145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019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60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global score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712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Oxford leads the combined ranking score.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1145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02736" y="19019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39.66%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2560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share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28712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holds the largest slice of ranked institutions.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E1145"/>
          </a:solidFill>
          <a:ln/>
          <a:effectLst>
            <a:outerShdw sx="100000" sy="100000" kx="0" ky="0" algn="bl" rotWithShape="0" blurRad="127000" dist="25400" dir="5400000">
              <a:srgbClr val="1E1145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19019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36.94%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560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mix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712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international student share across the dataset.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42832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1145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98864" y="19019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17.15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560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ratio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8712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students per faculty member worldwide.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EAE4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005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across the four views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3891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impact tracks citations per faculty almost linearly — reputation follows output, not the reverse.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systems punch above their weight: Hong Kong and Macao lead average research impact, not the largest countries.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openness is strongest in Oceania and Europe, while Asia's advantage sits in aggregate research volume.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— Higher Education Performance Dashboard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6C4FE0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9344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Scattered Data to One Dashboard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turns QS and THE ranking data into an interactive Tableau suite for analysing university performance, research impact, student diversity and country-level education trends — in one place, on demand.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15400" y="17373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2E1F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89720" y="19019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18972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15400" y="297180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2E1F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89720" y="3136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91897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KPIs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15400" y="420624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2E1F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4370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4846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 sources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40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C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the workbook is live and fully filterable.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EduVision — Higher Education Performance Dashboard</dc:title>
  <dc:subject>PptxGenJS Presentation</dc:subject>
  <dc:creator>EduVision</dc:creator>
  <cp:lastModifiedBy>EduVision</cp:lastModifiedBy>
  <cp:revision>1</cp:revision>
  <dcterms:created xsi:type="dcterms:W3CDTF">2026-09-20T12:39:12Z</dcterms:created>
  <dcterms:modified xsi:type="dcterms:W3CDTF">2026-09-20T12:39:12Z</dcterms:modified>
</cp:coreProperties>
</file>