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1" d="100"/>
          <a:sy n="71" d="100"/>
        </p:scale>
        <p:origin x="12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02659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2011680"/>
            <a:ext cx="6400800" cy="6400800"/>
          </a:xfrm>
          <a:prstGeom prst="ellipse">
            <a:avLst/>
          </a:prstGeom>
          <a:solidFill>
            <a:srgbClr val="263B80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-548640"/>
            <a:ext cx="3291840" cy="3291840"/>
          </a:xfrm>
          <a:prstGeom prst="ellipse">
            <a:avLst/>
          </a:prstGeom>
          <a:solidFill>
            <a:srgbClr val="2E4090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188720"/>
            <a:ext cx="822960" cy="822960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1887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</a:rPr>
              <a:t>🎓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2860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EduVision</a:t>
            </a:r>
            <a:endParaRPr lang="en-US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32461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Education Performance Dashboard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66928" y="4114800"/>
            <a:ext cx="2377440" cy="18288"/>
          </a:xfrm>
          <a:prstGeom prst="rect">
            <a:avLst/>
          </a:prstGeom>
          <a:solidFill>
            <a:srgbClr val="F2994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66928" y="4343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Gouthami Borkute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4709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– Data Science  ·  Malla Reddy Engineering College for Women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66928" y="5120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 Python   ·   Pandas   ·   Tableau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6126480" cy="4846320"/>
          </a:xfrm>
          <a:prstGeom prst="roundRect">
            <a:avLst>
              <a:gd name="adj" fmla="val 2264"/>
            </a:avLst>
          </a:prstGeom>
          <a:solidFill>
            <a:srgbClr val="EEF2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600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68680" y="214884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536192" y="2121408"/>
            <a:ext cx="4818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university performance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536192" y="2386584"/>
            <a:ext cx="4818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educational ranking data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68680" y="310896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68680" y="3108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🌍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536192" y="3081528"/>
            <a:ext cx="4818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universities and countries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536192" y="3346704"/>
            <a:ext cx="4818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 by side, across key indicators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68680" y="406908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68680" y="4069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🔬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536192" y="4041648"/>
            <a:ext cx="4818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research &amp; student indicators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536192" y="4306824"/>
            <a:ext cx="4818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surface meaningful patterns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68680" y="502920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68680" y="5029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✨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1536192" y="5001768"/>
            <a:ext cx="4818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raw data into KPIs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536192" y="5266944"/>
            <a:ext cx="4818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interactive dashboards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858000" y="1371600"/>
            <a:ext cx="4754880" cy="4846320"/>
          </a:xfrm>
          <a:prstGeom prst="roundRect">
            <a:avLst>
              <a:gd name="adj" fmla="val 2308"/>
            </a:avLst>
          </a:prstGeom>
          <a:solidFill>
            <a:srgbClr val="1E276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178040" y="16002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Sources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7178040" y="2286000"/>
            <a:ext cx="502920" cy="502920"/>
          </a:xfrm>
          <a:prstGeom prst="ellipse">
            <a:avLst/>
          </a:prstGeom>
          <a:solidFill>
            <a:srgbClr val="263B80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178040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🏆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7845552" y="2258568"/>
            <a:ext cx="3447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QS World University Rankings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7178040" y="3474720"/>
            <a:ext cx="502920" cy="502920"/>
          </a:xfrm>
          <a:prstGeom prst="ellipse">
            <a:avLst/>
          </a:prstGeom>
          <a:solidFill>
            <a:srgbClr val="263B80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7178040" y="3474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📘</a:t>
            </a:r>
            <a:endParaRPr lang="en-US" sz="1800" dirty="0"/>
          </a:p>
        </p:txBody>
      </p:sp>
      <p:sp>
        <p:nvSpPr>
          <p:cNvPr id="29" name="Text 27"/>
          <p:cNvSpPr txBox="1"/>
          <p:nvPr/>
        </p:nvSpPr>
        <p:spPr>
          <a:xfrm>
            <a:off x="7845552" y="3447288"/>
            <a:ext cx="3447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 Higher Education (THE)</a:t>
            </a:r>
            <a:endParaRPr lang="en-US" sz="1300" dirty="0"/>
          </a:p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University Rankings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7178040" y="4846320"/>
            <a:ext cx="4114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analyzes rankings, research performance, student diversity, academic excellence, and global education trends.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Workflow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830759" y="3520440"/>
            <a:ext cx="735439" cy="0"/>
          </a:xfrm>
          <a:prstGeom prst="line">
            <a:avLst/>
          </a:prstGeom>
          <a:noFill/>
          <a:ln w="31750">
            <a:solidFill>
              <a:srgbClr val="CADCFC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1007799" y="310896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7799" y="31089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4114800"/>
            <a:ext cx="1412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89158" y="3520440"/>
            <a:ext cx="735439" cy="0"/>
          </a:xfrm>
          <a:prstGeom prst="line">
            <a:avLst/>
          </a:prstGeom>
          <a:noFill/>
          <a:ln w="31750">
            <a:solidFill>
              <a:srgbClr val="CADCFC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566198" y="310896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566198" y="31089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2271631" y="4114800"/>
            <a:ext cx="1412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&amp;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947557" y="3520440"/>
            <a:ext cx="735439" cy="0"/>
          </a:xfrm>
          <a:prstGeom prst="line">
            <a:avLst/>
          </a:prstGeom>
          <a:noFill/>
          <a:ln w="31750">
            <a:solidFill>
              <a:srgbClr val="CADCFC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124597" y="310896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124597" y="31089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3830030" y="4114800"/>
            <a:ext cx="1412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505956" y="3520440"/>
            <a:ext cx="735439" cy="0"/>
          </a:xfrm>
          <a:prstGeom prst="line">
            <a:avLst/>
          </a:prstGeom>
          <a:noFill/>
          <a:ln w="31750">
            <a:solidFill>
              <a:srgbClr val="CADCFC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682996" y="310896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682996" y="31089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5388429" y="4114800"/>
            <a:ext cx="1412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064355" y="3520440"/>
            <a:ext cx="735439" cy="0"/>
          </a:xfrm>
          <a:prstGeom prst="line">
            <a:avLst/>
          </a:prstGeom>
          <a:noFill/>
          <a:ln w="31750">
            <a:solidFill>
              <a:srgbClr val="CADCFC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241395" y="310896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241395" y="31089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23" name="Text 21"/>
          <p:cNvSpPr txBox="1"/>
          <p:nvPr/>
        </p:nvSpPr>
        <p:spPr>
          <a:xfrm>
            <a:off x="6946827" y="4114800"/>
            <a:ext cx="1412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622754" y="3520440"/>
            <a:ext cx="735439" cy="0"/>
          </a:xfrm>
          <a:prstGeom prst="line">
            <a:avLst/>
          </a:prstGeom>
          <a:noFill/>
          <a:ln w="31750">
            <a:solidFill>
              <a:srgbClr val="CADCFC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8799794" y="310896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799794" y="31089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200" dirty="0"/>
          </a:p>
        </p:txBody>
      </p:sp>
      <p:sp>
        <p:nvSpPr>
          <p:cNvPr id="27" name="Text 25"/>
          <p:cNvSpPr txBox="1"/>
          <p:nvPr/>
        </p:nvSpPr>
        <p:spPr>
          <a:xfrm>
            <a:off x="8505226" y="4114800"/>
            <a:ext cx="1412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10358193" y="3108960"/>
            <a:ext cx="822960" cy="822960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10358193" y="31089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200" dirty="0"/>
          </a:p>
        </p:txBody>
      </p:sp>
      <p:sp>
        <p:nvSpPr>
          <p:cNvPr id="30" name="Text 28"/>
          <p:cNvSpPr txBox="1"/>
          <p:nvPr/>
        </p:nvSpPr>
        <p:spPr>
          <a:xfrm>
            <a:off x="10063625" y="4114800"/>
            <a:ext cx="1412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1188720" y="5394960"/>
            <a:ext cx="9811512" cy="777240"/>
          </a:xfrm>
          <a:prstGeom prst="roundRect">
            <a:avLst>
              <a:gd name="adj" fmla="val 11765"/>
            </a:avLst>
          </a:prstGeom>
          <a:solidFill>
            <a:srgbClr val="EEF2FA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1463040" y="5394960"/>
            <a:ext cx="92628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flow follows the workflow defined in the project document, from raw ranking data to a fully validated four-dashboard Tableau deliverable.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 &amp; Preparation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430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Performed using Python &amp; Pandas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394960" cy="777240"/>
          </a:xfrm>
          <a:prstGeom prst="roundRect">
            <a:avLst>
              <a:gd name="adj" fmla="val 11765"/>
            </a:avLst>
          </a:prstGeom>
          <a:solidFill>
            <a:srgbClr val="EEF2FA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185623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1856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🧹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399032" y="1828800"/>
            <a:ext cx="4315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duplicate records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1691640"/>
            <a:ext cx="5394960" cy="777240"/>
          </a:xfrm>
          <a:prstGeom prst="roundRect">
            <a:avLst>
              <a:gd name="adj" fmla="val 11765"/>
            </a:avLst>
          </a:prstGeom>
          <a:solidFill>
            <a:srgbClr val="EEF2FA"/>
          </a:solidFill>
          <a:ln/>
        </p:spPr>
      </p:sp>
      <p:sp>
        <p:nvSpPr>
          <p:cNvPr id="10" name="Shape 8"/>
          <p:cNvSpPr/>
          <p:nvPr/>
        </p:nvSpPr>
        <p:spPr>
          <a:xfrm>
            <a:off x="6446520" y="185623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46520" y="1856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🔍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068312" y="1828800"/>
            <a:ext cx="4315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Handled missing values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2651760"/>
            <a:ext cx="5394960" cy="777240"/>
          </a:xfrm>
          <a:prstGeom prst="roundRect">
            <a:avLst>
              <a:gd name="adj" fmla="val 11765"/>
            </a:avLst>
          </a:prstGeom>
          <a:solidFill>
            <a:srgbClr val="EEF2FA"/>
          </a:solidFill>
          <a:ln/>
        </p:spPr>
      </p:sp>
      <p:sp>
        <p:nvSpPr>
          <p:cNvPr id="14" name="Shape 12"/>
          <p:cNvSpPr/>
          <p:nvPr/>
        </p:nvSpPr>
        <p:spPr>
          <a:xfrm>
            <a:off x="777240" y="281635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77240" y="28163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🏛️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399032" y="2788920"/>
            <a:ext cx="4315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university names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17920" y="2651760"/>
            <a:ext cx="5394960" cy="777240"/>
          </a:xfrm>
          <a:prstGeom prst="roundRect">
            <a:avLst>
              <a:gd name="adj" fmla="val 11765"/>
            </a:avLst>
          </a:prstGeom>
          <a:solidFill>
            <a:srgbClr val="EEF2FA"/>
          </a:solidFill>
          <a:ln/>
        </p:spPr>
      </p:sp>
      <p:sp>
        <p:nvSpPr>
          <p:cNvPr id="18" name="Shape 16"/>
          <p:cNvSpPr/>
          <p:nvPr/>
        </p:nvSpPr>
        <p:spPr>
          <a:xfrm>
            <a:off x="6446520" y="281635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46520" y="28163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🌐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7068312" y="2788920"/>
            <a:ext cx="4315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country names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3611880"/>
            <a:ext cx="5394960" cy="777240"/>
          </a:xfrm>
          <a:prstGeom prst="roundRect">
            <a:avLst>
              <a:gd name="adj" fmla="val 11765"/>
            </a:avLst>
          </a:prstGeom>
          <a:solidFill>
            <a:srgbClr val="EEF2FA"/>
          </a:solidFill>
          <a:ln/>
        </p:spPr>
      </p:sp>
      <p:sp>
        <p:nvSpPr>
          <p:cNvPr id="22" name="Shape 20"/>
          <p:cNvSpPr/>
          <p:nvPr/>
        </p:nvSpPr>
        <p:spPr>
          <a:xfrm>
            <a:off x="777240" y="377647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77240" y="3776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🔢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1399032" y="3749040"/>
            <a:ext cx="4315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Converted fields to numeric format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217920" y="3611880"/>
            <a:ext cx="5394960" cy="777240"/>
          </a:xfrm>
          <a:prstGeom prst="roundRect">
            <a:avLst>
              <a:gd name="adj" fmla="val 11765"/>
            </a:avLst>
          </a:prstGeom>
          <a:solidFill>
            <a:srgbClr val="EEF2FA"/>
          </a:solidFill>
          <a:ln/>
        </p:spPr>
      </p:sp>
      <p:sp>
        <p:nvSpPr>
          <p:cNvPr id="26" name="Shape 24"/>
          <p:cNvSpPr/>
          <p:nvPr/>
        </p:nvSpPr>
        <p:spPr>
          <a:xfrm>
            <a:off x="6446520" y="377647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446520" y="3776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7068312" y="3749040"/>
            <a:ext cx="4315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a Tableau-ready dataset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48640" y="4709160"/>
            <a:ext cx="11091672" cy="1005840"/>
          </a:xfrm>
          <a:prstGeom prst="roundRect">
            <a:avLst>
              <a:gd name="adj" fmla="val 10909"/>
            </a:avLst>
          </a:prstGeom>
          <a:solidFill>
            <a:srgbClr val="1E2761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68680" y="4892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868680" y="512064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cleaned and structured university dataset — with duplicates removed, names standardized, and ranking metrics normalized, exactly as specified in the project requirements.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KPI Engineering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43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key KPIs required by the project specification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657600" cy="2148840"/>
          </a:xfrm>
          <a:prstGeom prst="roundRect">
            <a:avLst>
              <a:gd name="adj" fmla="val 4255"/>
            </a:avLst>
          </a:prstGeom>
          <a:solidFill>
            <a:srgbClr val="EEF2FA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01168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🌍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7432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Ranking Score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20040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ranking into a comparable score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480560" y="1737360"/>
            <a:ext cx="3657600" cy="2148840"/>
          </a:xfrm>
          <a:prstGeom prst="roundRect">
            <a:avLst>
              <a:gd name="adj" fmla="val 4255"/>
            </a:avLst>
          </a:prstGeom>
          <a:solidFill>
            <a:srgbClr val="EEF2FA"/>
          </a:solidFill>
          <a:ln/>
        </p:spPr>
      </p:sp>
      <p:sp>
        <p:nvSpPr>
          <p:cNvPr id="11" name="Shape 9"/>
          <p:cNvSpPr/>
          <p:nvPr/>
        </p:nvSpPr>
        <p:spPr>
          <a:xfrm>
            <a:off x="4754880" y="201168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754880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🔬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4754880" y="27432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Impact Score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754880" y="320040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impact using citation performance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412480" y="1737360"/>
            <a:ext cx="3657600" cy="2148840"/>
          </a:xfrm>
          <a:prstGeom prst="roundRect">
            <a:avLst>
              <a:gd name="adj" fmla="val 4255"/>
            </a:avLst>
          </a:prstGeom>
          <a:solidFill>
            <a:srgbClr val="EEF2FA"/>
          </a:solidFill>
          <a:ln/>
        </p:spPr>
      </p:sp>
      <p:sp>
        <p:nvSpPr>
          <p:cNvPr id="16" name="Shape 14"/>
          <p:cNvSpPr/>
          <p:nvPr/>
        </p:nvSpPr>
        <p:spPr>
          <a:xfrm>
            <a:off x="8686800" y="201168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86800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👨‍🏫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8686800" y="27432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Faculty-to-Student Ratio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8686800" y="320040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Represents the faculty/student indicator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4160520"/>
            <a:ext cx="3657600" cy="2148840"/>
          </a:xfrm>
          <a:prstGeom prst="roundRect">
            <a:avLst>
              <a:gd name="adj" fmla="val 4255"/>
            </a:avLst>
          </a:prstGeom>
          <a:solidFill>
            <a:srgbClr val="EEF2FA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" y="443484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22960" y="4434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✈️</a:t>
            </a:r>
            <a:endParaRPr lang="en-US" sz="22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" y="51663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Student %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822960" y="562356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Represents international student performance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480560" y="4160520"/>
            <a:ext cx="3657600" cy="2148840"/>
          </a:xfrm>
          <a:prstGeom prst="roundRect">
            <a:avLst>
              <a:gd name="adj" fmla="val 4255"/>
            </a:avLst>
          </a:prstGeom>
          <a:solidFill>
            <a:srgbClr val="EEF2FA"/>
          </a:solidFill>
          <a:ln/>
        </p:spPr>
      </p:sp>
      <p:sp>
        <p:nvSpPr>
          <p:cNvPr id="26" name="Shape 24"/>
          <p:cNvSpPr/>
          <p:nvPr/>
        </p:nvSpPr>
        <p:spPr>
          <a:xfrm>
            <a:off x="4754880" y="443484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4754880" y="4434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🏅</a:t>
            </a:r>
            <a:endParaRPr lang="en-US" sz="2200" dirty="0"/>
          </a:p>
        </p:txBody>
      </p:sp>
      <p:sp>
        <p:nvSpPr>
          <p:cNvPr id="28" name="Text 26"/>
          <p:cNvSpPr txBox="1"/>
          <p:nvPr/>
        </p:nvSpPr>
        <p:spPr>
          <a:xfrm>
            <a:off x="4754880" y="51663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Reputation Score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4754880" y="562356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academic reputation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412480" y="4160520"/>
            <a:ext cx="3657600" cy="2148840"/>
          </a:xfrm>
          <a:prstGeom prst="roundRect">
            <a:avLst>
              <a:gd name="adj" fmla="val 4255"/>
            </a:avLst>
          </a:prstGeom>
          <a:solidFill>
            <a:srgbClr val="EEF2FA"/>
          </a:solidFill>
          <a:ln/>
        </p:spPr>
      </p:sp>
      <p:sp>
        <p:nvSpPr>
          <p:cNvPr id="31" name="Shape 29"/>
          <p:cNvSpPr/>
          <p:nvPr/>
        </p:nvSpPr>
        <p:spPr>
          <a:xfrm>
            <a:off x="8686800" y="443484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686800" y="4434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📈</a:t>
            </a:r>
            <a:endParaRPr lang="en-US" sz="2200" dirty="0"/>
          </a:p>
        </p:txBody>
      </p:sp>
      <p:sp>
        <p:nvSpPr>
          <p:cNvPr id="33" name="Text 31"/>
          <p:cNvSpPr txBox="1"/>
          <p:nvPr/>
        </p:nvSpPr>
        <p:spPr>
          <a:xfrm>
            <a:off x="8686800" y="51663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Productivity Index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8686800" y="562356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research-related indicators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-45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1 OF 4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48640" y="292608"/>
            <a:ext cx="548640" cy="548640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2926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🎓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University Overview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9601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an overall view of university performance.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46304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VISUALIZATIONS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1828800"/>
            <a:ext cx="402336" cy="402336"/>
          </a:xfrm>
          <a:prstGeom prst="ellipse">
            <a:avLst/>
          </a:prstGeom>
          <a:solidFill>
            <a:srgbClr val="EEF2F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18288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00000"/>
                </a:solidFill>
              </a:rPr>
              <a:t>🏆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115568" y="1801368"/>
            <a:ext cx="10524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University Rankings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450592"/>
            <a:ext cx="402336" cy="402336"/>
          </a:xfrm>
          <a:prstGeom prst="ellipse">
            <a:avLst/>
          </a:prstGeom>
          <a:solidFill>
            <a:srgbClr val="EEF2F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24505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00000"/>
                </a:solidFill>
              </a:rPr>
              <a:t>🌍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115568" y="2423160"/>
            <a:ext cx="10524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University Distribution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072384"/>
            <a:ext cx="402336" cy="402336"/>
          </a:xfrm>
          <a:prstGeom prst="ellipse">
            <a:avLst/>
          </a:prstGeom>
          <a:solidFill>
            <a:srgbClr val="EEF2F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30723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00000"/>
                </a:solidFill>
              </a:rPr>
              <a:t>🎓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115568" y="3044952"/>
            <a:ext cx="10524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Reputation Analysis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3694176"/>
            <a:ext cx="402336" cy="402336"/>
          </a:xfrm>
          <a:prstGeom prst="ellipse">
            <a:avLst/>
          </a:prstGeom>
          <a:solidFill>
            <a:srgbClr val="EEF2F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48640" y="36941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00000"/>
                </a:solidFill>
              </a:rPr>
              <a:t>📊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115568" y="3666744"/>
            <a:ext cx="10524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Performance Trends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4315968"/>
            <a:ext cx="402336" cy="402336"/>
          </a:xfrm>
          <a:prstGeom prst="ellipse">
            <a:avLst/>
          </a:prstGeom>
          <a:solidFill>
            <a:srgbClr val="EEF2F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48640" y="43159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00000"/>
                </a:solidFill>
              </a:rPr>
              <a:t>🔍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115568" y="4288536"/>
            <a:ext cx="10524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Comparison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178040" y="1417320"/>
            <a:ext cx="4462272" cy="4023360"/>
          </a:xfrm>
          <a:prstGeom prst="roundRect">
            <a:avLst>
              <a:gd name="adj" fmla="val 2727"/>
            </a:avLst>
          </a:prstGeom>
          <a:solidFill>
            <a:srgbClr val="1E2761"/>
          </a:solidFill>
          <a:ln/>
        </p:spPr>
      </p:sp>
      <p:sp>
        <p:nvSpPr>
          <p:cNvPr id="24" name="Shape 22"/>
          <p:cNvSpPr/>
          <p:nvPr/>
        </p:nvSpPr>
        <p:spPr>
          <a:xfrm>
            <a:off x="8906256" y="2103120"/>
            <a:ext cx="1005840" cy="1005840"/>
          </a:xfrm>
          <a:prstGeom prst="ellipse">
            <a:avLst/>
          </a:prstGeom>
          <a:solidFill>
            <a:srgbClr val="263B80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906256" y="210312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</a:rPr>
              <a:t>🎓</a:t>
            </a:r>
            <a:endParaRPr lang="en-US" sz="4000" dirty="0"/>
          </a:p>
        </p:txBody>
      </p:sp>
      <p:sp>
        <p:nvSpPr>
          <p:cNvPr id="26" name="Text 24"/>
          <p:cNvSpPr txBox="1"/>
          <p:nvPr/>
        </p:nvSpPr>
        <p:spPr>
          <a:xfrm>
            <a:off x="7498080" y="3383280"/>
            <a:ext cx="382219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of four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interactive dashboards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the EduVision suite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548640" y="553212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EF2FA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68680" y="5669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2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CAN DEMONSTRATE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868680" y="5943600"/>
            <a:ext cx="10360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Filter  →  University Filter  →  Compare Performance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0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2 OF 4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48640" y="292608"/>
            <a:ext cx="548640" cy="548640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2926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🔬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Analytics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9601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Analyzes research performance across universities.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463040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VISUALIZATIONS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1828800"/>
            <a:ext cx="402336" cy="402336"/>
          </a:xfrm>
          <a:prstGeom prst="ellipse">
            <a:avLst/>
          </a:prstGeom>
          <a:solidFill>
            <a:srgbClr val="EEF2F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18288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00000"/>
                </a:solidFill>
              </a:rPr>
              <a:t>📚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115568" y="1801368"/>
            <a:ext cx="5742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Publications Analysis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450592"/>
            <a:ext cx="402336" cy="402336"/>
          </a:xfrm>
          <a:prstGeom prst="ellipse">
            <a:avLst/>
          </a:prstGeom>
          <a:solidFill>
            <a:srgbClr val="EEF2F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24505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00000"/>
                </a:solidFill>
              </a:rPr>
              <a:t>📈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115568" y="2423160"/>
            <a:ext cx="5742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 Performance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072384"/>
            <a:ext cx="402336" cy="402336"/>
          </a:xfrm>
          <a:prstGeom prst="ellipse">
            <a:avLst/>
          </a:prstGeom>
          <a:solidFill>
            <a:srgbClr val="EEF2F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30723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00000"/>
                </a:solidFill>
              </a:rPr>
              <a:t>🔬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115568" y="3044952"/>
            <a:ext cx="5742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Productivity Trends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3694176"/>
            <a:ext cx="402336" cy="402336"/>
          </a:xfrm>
          <a:prstGeom prst="ellipse">
            <a:avLst/>
          </a:prstGeom>
          <a:solidFill>
            <a:srgbClr val="EEF2F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48640" y="36941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00000"/>
                </a:solidFill>
              </a:rPr>
              <a:t>🏆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115568" y="3666744"/>
            <a:ext cx="5742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Research Institutions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4315968"/>
            <a:ext cx="402336" cy="402336"/>
          </a:xfrm>
          <a:prstGeom prst="ellipse">
            <a:avLst/>
          </a:prstGeom>
          <a:solidFill>
            <a:srgbClr val="EEF2F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48640" y="43159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00000"/>
                </a:solidFill>
              </a:rPr>
              <a:t>📊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115568" y="4288536"/>
            <a:ext cx="5742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Impact Comparison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178040" y="1417320"/>
            <a:ext cx="4462272" cy="4023360"/>
          </a:xfrm>
          <a:prstGeom prst="roundRect">
            <a:avLst>
              <a:gd name="adj" fmla="val 2727"/>
            </a:avLst>
          </a:prstGeom>
          <a:solidFill>
            <a:srgbClr val="1E276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452360" y="1600200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KPIS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7452360" y="1965960"/>
            <a:ext cx="4005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Research Impact Score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7452360" y="2423160"/>
            <a:ext cx="4005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Research Productivity Index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7452360" y="2880360"/>
            <a:ext cx="4005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Citations per Faculty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7452360" y="3337560"/>
            <a:ext cx="4005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Research Quality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7452360" y="3794760"/>
            <a:ext cx="4005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Research Environment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-783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3 OF 4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48640" y="292608"/>
            <a:ext cx="548640" cy="548640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2926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👩‍🎓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 Analytics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9601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Focuses on student-related indicators and international student performance.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463040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VISUALIZATIONS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1828800"/>
            <a:ext cx="402336" cy="402336"/>
          </a:xfrm>
          <a:prstGeom prst="ellipse">
            <a:avLst/>
          </a:prstGeom>
          <a:solidFill>
            <a:srgbClr val="EEF2F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18288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00000"/>
                </a:solidFill>
              </a:rPr>
              <a:t>🌍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115568" y="1801368"/>
            <a:ext cx="5742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Student Analysis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450592"/>
            <a:ext cx="402336" cy="402336"/>
          </a:xfrm>
          <a:prstGeom prst="ellipse">
            <a:avLst/>
          </a:prstGeom>
          <a:solidFill>
            <a:srgbClr val="EEF2F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24505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00000"/>
                </a:solidFill>
              </a:rPr>
              <a:t>👨‍🏫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115568" y="2423160"/>
            <a:ext cx="5742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Faculty-to-Student Ratio Analysis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072384"/>
            <a:ext cx="402336" cy="402336"/>
          </a:xfrm>
          <a:prstGeom prst="ellipse">
            <a:avLst/>
          </a:prstGeom>
          <a:solidFill>
            <a:srgbClr val="EEF2F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30723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00000"/>
                </a:solidFill>
              </a:rPr>
              <a:t>🎓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115568" y="3044952"/>
            <a:ext cx="5742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Diversity Trends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3694176"/>
            <a:ext cx="402336" cy="402336"/>
          </a:xfrm>
          <a:prstGeom prst="ellipse">
            <a:avLst/>
          </a:prstGeom>
          <a:solidFill>
            <a:srgbClr val="EEF2F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48640" y="36941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00000"/>
                </a:solidFill>
              </a:rPr>
              <a:t>📊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115568" y="3666744"/>
            <a:ext cx="5742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Comparisons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4315968"/>
            <a:ext cx="402336" cy="402336"/>
          </a:xfrm>
          <a:prstGeom prst="ellipse">
            <a:avLst/>
          </a:prstGeom>
          <a:solidFill>
            <a:srgbClr val="EEF2F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48640" y="43159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00000"/>
                </a:solidFill>
              </a:rPr>
              <a:t>🌎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115568" y="4288536"/>
            <a:ext cx="5742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Distribution Analysis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178040" y="1417320"/>
            <a:ext cx="4462272" cy="4023360"/>
          </a:xfrm>
          <a:prstGeom prst="roundRect">
            <a:avLst>
              <a:gd name="adj" fmla="val 2727"/>
            </a:avLst>
          </a:prstGeom>
          <a:solidFill>
            <a:srgbClr val="1E276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452360" y="1600200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FEATURES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7452360" y="1965960"/>
            <a:ext cx="4005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Country filter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7452360" y="2423160"/>
            <a:ext cx="4005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University filter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7452360" y="2880360"/>
            <a:ext cx="4005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Chart selection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0901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4 OF 4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48640" y="292608"/>
            <a:ext cx="548640" cy="548640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2926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🌍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Country Comparison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9601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higher-education performance across countries.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46304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VISUALIZATIONS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1828800"/>
            <a:ext cx="402336" cy="402336"/>
          </a:xfrm>
          <a:prstGeom prst="ellipse">
            <a:avLst/>
          </a:prstGeom>
          <a:solidFill>
            <a:srgbClr val="EEF2F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18288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00000"/>
                </a:solidFill>
              </a:rPr>
              <a:t>🗺️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115568" y="1801368"/>
            <a:ext cx="10524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Distribution by Country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450592"/>
            <a:ext cx="402336" cy="402336"/>
          </a:xfrm>
          <a:prstGeom prst="ellipse">
            <a:avLst/>
          </a:prstGeom>
          <a:solidFill>
            <a:srgbClr val="EEF2F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24505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00000"/>
                </a:solidFill>
              </a:rPr>
              <a:t>🏆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115568" y="2423160"/>
            <a:ext cx="10524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Ranking Score by Country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072384"/>
            <a:ext cx="402336" cy="402336"/>
          </a:xfrm>
          <a:prstGeom prst="ellipse">
            <a:avLst/>
          </a:prstGeom>
          <a:solidFill>
            <a:srgbClr val="EEF2F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30723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00000"/>
                </a:solidFill>
              </a:rPr>
              <a:t>🔬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115568" y="3044952"/>
            <a:ext cx="10524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Impact by Country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3694176"/>
            <a:ext cx="402336" cy="402336"/>
          </a:xfrm>
          <a:prstGeom prst="ellipse">
            <a:avLst/>
          </a:prstGeom>
          <a:solidFill>
            <a:srgbClr val="EEF2F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48640" y="36941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00000"/>
                </a:solidFill>
              </a:rPr>
              <a:t>🎓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115568" y="3666744"/>
            <a:ext cx="10524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Reputation vs Research Impact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4315968"/>
            <a:ext cx="402336" cy="402336"/>
          </a:xfrm>
          <a:prstGeom prst="ellipse">
            <a:avLst/>
          </a:prstGeom>
          <a:solidFill>
            <a:srgbClr val="EEF2F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48640" y="43159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00000"/>
                </a:solidFill>
              </a:rPr>
              <a:t>✈️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115568" y="4288536"/>
            <a:ext cx="10524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Student Performance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4937760"/>
            <a:ext cx="402336" cy="402336"/>
          </a:xfrm>
          <a:prstGeom prst="ellipse">
            <a:avLst/>
          </a:prstGeom>
          <a:solidFill>
            <a:srgbClr val="EEF2F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48640" y="4937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00000"/>
                </a:solidFill>
              </a:rPr>
              <a:t>📊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1115568" y="4910328"/>
            <a:ext cx="10524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KPI Comparison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178040" y="1417320"/>
            <a:ext cx="4462272" cy="4023360"/>
          </a:xfrm>
          <a:prstGeom prst="roundRect">
            <a:avLst>
              <a:gd name="adj" fmla="val 2727"/>
            </a:avLst>
          </a:prstGeom>
          <a:solidFill>
            <a:srgbClr val="1E2761"/>
          </a:solidFill>
          <a:ln/>
        </p:spPr>
      </p:sp>
      <p:sp>
        <p:nvSpPr>
          <p:cNvPr id="27" name="Shape 25"/>
          <p:cNvSpPr/>
          <p:nvPr/>
        </p:nvSpPr>
        <p:spPr>
          <a:xfrm>
            <a:off x="8906256" y="2103120"/>
            <a:ext cx="1005840" cy="1005840"/>
          </a:xfrm>
          <a:prstGeom prst="ellipse">
            <a:avLst/>
          </a:prstGeom>
          <a:solidFill>
            <a:srgbClr val="263B80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906256" y="210312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</a:rPr>
              <a:t>🌍</a:t>
            </a:r>
            <a:endParaRPr lang="en-US" sz="4000" dirty="0"/>
          </a:p>
        </p:txBody>
      </p:sp>
      <p:sp>
        <p:nvSpPr>
          <p:cNvPr id="29" name="Text 27"/>
          <p:cNvSpPr txBox="1"/>
          <p:nvPr/>
        </p:nvSpPr>
        <p:spPr>
          <a:xfrm>
            <a:off x="7498080" y="3383280"/>
            <a:ext cx="382219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Compare every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country and university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 equal footing</a:t>
            </a:r>
            <a:endParaRPr lang="en-US" sz="1700" dirty="0"/>
          </a:p>
        </p:txBody>
      </p:sp>
      <p:sp>
        <p:nvSpPr>
          <p:cNvPr id="30" name="Shape 28"/>
          <p:cNvSpPr/>
          <p:nvPr/>
        </p:nvSpPr>
        <p:spPr>
          <a:xfrm>
            <a:off x="548640" y="553212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EF2FA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68680" y="5669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2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GOAL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868680" y="5943600"/>
            <a:ext cx="10360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differences in university, research, academic, and student performance between countries.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BRINGING IT TOGETHER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Integration &amp; Interactivity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FEATURES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520440" cy="868680"/>
          </a:xfrm>
          <a:prstGeom prst="roundRect">
            <a:avLst>
              <a:gd name="adj" fmla="val 10526"/>
            </a:avLst>
          </a:prstGeom>
          <a:solidFill>
            <a:srgbClr val="EEF2FA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94767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1947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000000"/>
                </a:solidFill>
              </a:rPr>
              <a:t>🔎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353312" y="1920240"/>
            <a:ext cx="2532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97680" y="1737360"/>
            <a:ext cx="3520440" cy="868680"/>
          </a:xfrm>
          <a:prstGeom prst="roundRect">
            <a:avLst>
              <a:gd name="adj" fmla="val 10526"/>
            </a:avLst>
          </a:prstGeom>
          <a:solidFill>
            <a:srgbClr val="EEF2FA"/>
          </a:solidFill>
          <a:ln/>
        </p:spPr>
      </p:sp>
      <p:sp>
        <p:nvSpPr>
          <p:cNvPr id="10" name="Shape 8"/>
          <p:cNvSpPr/>
          <p:nvPr/>
        </p:nvSpPr>
        <p:spPr>
          <a:xfrm>
            <a:off x="4480560" y="194767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480560" y="1947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000000"/>
                </a:solidFill>
              </a:rPr>
              <a:t>🧭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5102352" y="1920240"/>
            <a:ext cx="2532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Navigation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2788920"/>
            <a:ext cx="3520440" cy="868680"/>
          </a:xfrm>
          <a:prstGeom prst="roundRect">
            <a:avLst>
              <a:gd name="adj" fmla="val 10526"/>
            </a:avLst>
          </a:prstGeom>
          <a:solidFill>
            <a:srgbClr val="EEF2FA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0" y="299923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31520" y="2999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000000"/>
                </a:solidFill>
              </a:rPr>
              <a:t>🔗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1353312" y="2971800"/>
            <a:ext cx="2532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Actions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297680" y="2788920"/>
            <a:ext cx="3520440" cy="868680"/>
          </a:xfrm>
          <a:prstGeom prst="roundRect">
            <a:avLst>
              <a:gd name="adj" fmla="val 10526"/>
            </a:avLst>
          </a:prstGeom>
          <a:solidFill>
            <a:srgbClr val="EEF2FA"/>
          </a:solidFill>
          <a:ln/>
        </p:spPr>
      </p:sp>
      <p:sp>
        <p:nvSpPr>
          <p:cNvPr id="18" name="Shape 16"/>
          <p:cNvSpPr/>
          <p:nvPr/>
        </p:nvSpPr>
        <p:spPr>
          <a:xfrm>
            <a:off x="4480560" y="299923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480560" y="2999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000000"/>
                </a:solidFill>
              </a:rPr>
              <a:t>📊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5102352" y="2971800"/>
            <a:ext cx="2532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Comparisons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3840480"/>
            <a:ext cx="3520440" cy="868680"/>
          </a:xfrm>
          <a:prstGeom prst="roundRect">
            <a:avLst>
              <a:gd name="adj" fmla="val 10526"/>
            </a:avLst>
          </a:prstGeom>
          <a:solidFill>
            <a:srgbClr val="EEF2FA"/>
          </a:solidFill>
          <a:ln/>
        </p:spPr>
      </p:sp>
      <p:sp>
        <p:nvSpPr>
          <p:cNvPr id="22" name="Shape 20"/>
          <p:cNvSpPr/>
          <p:nvPr/>
        </p:nvSpPr>
        <p:spPr>
          <a:xfrm>
            <a:off x="731520" y="405079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31520" y="4050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000000"/>
                </a:solidFill>
              </a:rPr>
              <a:t>🌍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1353312" y="4023360"/>
            <a:ext cx="2532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Country-based Analysis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297680" y="3840480"/>
            <a:ext cx="3520440" cy="868680"/>
          </a:xfrm>
          <a:prstGeom prst="roundRect">
            <a:avLst>
              <a:gd name="adj" fmla="val 10526"/>
            </a:avLst>
          </a:prstGeom>
          <a:solidFill>
            <a:srgbClr val="EEF2FA"/>
          </a:solidFill>
          <a:ln/>
        </p:spPr>
      </p:sp>
      <p:sp>
        <p:nvSpPr>
          <p:cNvPr id="26" name="Shape 24"/>
          <p:cNvSpPr/>
          <p:nvPr/>
        </p:nvSpPr>
        <p:spPr>
          <a:xfrm>
            <a:off x="4480560" y="405079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4480560" y="4050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000000"/>
                </a:solidFill>
              </a:rPr>
              <a:t>🎓</a:t>
            </a:r>
            <a:endParaRPr lang="en-US" sz="1700" dirty="0"/>
          </a:p>
        </p:txBody>
      </p:sp>
      <p:sp>
        <p:nvSpPr>
          <p:cNvPr id="28" name="Text 26"/>
          <p:cNvSpPr txBox="1"/>
          <p:nvPr/>
        </p:nvSpPr>
        <p:spPr>
          <a:xfrm>
            <a:off x="5102352" y="4023360"/>
            <a:ext cx="2532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University-level Drill-down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8229600" y="1371600"/>
            <a:ext cx="3410712" cy="4937760"/>
          </a:xfrm>
          <a:prstGeom prst="roundRect">
            <a:avLst>
              <a:gd name="adj" fmla="val 3217"/>
            </a:avLst>
          </a:prstGeom>
          <a:solidFill>
            <a:srgbClr val="1E2761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503920" y="1554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FLOW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503920" y="2011680"/>
            <a:ext cx="2862072" cy="777240"/>
          </a:xfrm>
          <a:prstGeom prst="roundRect">
            <a:avLst>
              <a:gd name="adj" fmla="val 9412"/>
            </a:avLst>
          </a:prstGeom>
          <a:solidFill>
            <a:srgbClr val="263B80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503920" y="2011680"/>
            <a:ext cx="28620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8503920" y="2788920"/>
            <a:ext cx="2862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2994A"/>
                </a:solidFill>
              </a:rPr>
              <a:t>↓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503920" y="3063240"/>
            <a:ext cx="2862072" cy="777240"/>
          </a:xfrm>
          <a:prstGeom prst="roundRect">
            <a:avLst>
              <a:gd name="adj" fmla="val 9412"/>
            </a:avLst>
          </a:prstGeom>
          <a:solidFill>
            <a:srgbClr val="263B80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8503920" y="3063240"/>
            <a:ext cx="28620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8503920" y="3840480"/>
            <a:ext cx="2862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2994A"/>
                </a:solidFill>
              </a:rPr>
              <a:t>↓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8503920" y="4114800"/>
            <a:ext cx="2862072" cy="777240"/>
          </a:xfrm>
          <a:prstGeom prst="roundRect">
            <a:avLst>
              <a:gd name="adj" fmla="val 9412"/>
            </a:avLst>
          </a:prstGeom>
          <a:solidFill>
            <a:srgbClr val="263B80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8503920" y="4114800"/>
            <a:ext cx="28620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8503920" y="4892040"/>
            <a:ext cx="2862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2994A"/>
                </a:solidFill>
              </a:rPr>
              <a:t>↓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8503920" y="5166360"/>
            <a:ext cx="2862072" cy="777240"/>
          </a:xfrm>
          <a:prstGeom prst="roundRect">
            <a:avLst>
              <a:gd name="adj" fmla="val 9412"/>
            </a:avLst>
          </a:prstGeom>
          <a:solidFill>
            <a:srgbClr val="263B80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8503920" y="5166360"/>
            <a:ext cx="28620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Technologies Used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697480" cy="4297680"/>
          </a:xfrm>
          <a:prstGeom prst="roundRect">
            <a:avLst>
              <a:gd name="adj" fmla="val 4068"/>
            </a:avLst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1531620" y="1874520"/>
            <a:ext cx="731520" cy="731520"/>
          </a:xfrm>
          <a:prstGeom prst="ellipse">
            <a:avLst/>
          </a:prstGeom>
          <a:solidFill>
            <a:srgbClr val="263B8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531620" y="18745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🐍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74320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Processing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3832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8404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42976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474720" y="1554480"/>
            <a:ext cx="2697480" cy="4297680"/>
          </a:xfrm>
          <a:prstGeom prst="roundRect">
            <a:avLst>
              <a:gd name="adj" fmla="val 4068"/>
            </a:avLst>
          </a:prstGeom>
          <a:solidFill>
            <a:srgbClr val="EEF2FA"/>
          </a:solidFill>
          <a:ln/>
        </p:spPr>
      </p:sp>
      <p:sp>
        <p:nvSpPr>
          <p:cNvPr id="12" name="Shape 10"/>
          <p:cNvSpPr/>
          <p:nvPr/>
        </p:nvSpPr>
        <p:spPr>
          <a:xfrm>
            <a:off x="4457700" y="187452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457700" y="18745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3657600" y="274320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657600" y="33832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Desktop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3657600" y="38404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Public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0" y="1554480"/>
            <a:ext cx="2697480" cy="4297680"/>
          </a:xfrm>
          <a:prstGeom prst="roundRect">
            <a:avLst>
              <a:gd name="adj" fmla="val 4068"/>
            </a:avLst>
          </a:prstGeom>
          <a:solidFill>
            <a:srgbClr val="1E2761"/>
          </a:solidFill>
          <a:ln/>
        </p:spPr>
      </p:sp>
      <p:sp>
        <p:nvSpPr>
          <p:cNvPr id="18" name="Shape 16"/>
          <p:cNvSpPr/>
          <p:nvPr/>
        </p:nvSpPr>
        <p:spPr>
          <a:xfrm>
            <a:off x="7383780" y="1874520"/>
            <a:ext cx="731520" cy="731520"/>
          </a:xfrm>
          <a:prstGeom prst="ellipse">
            <a:avLst/>
          </a:prstGeom>
          <a:solidFill>
            <a:srgbClr val="263B8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383780" y="18745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🔗</a:t>
            </a:r>
            <a:endParaRPr lang="en-US" sz="2800" dirty="0"/>
          </a:p>
        </p:txBody>
      </p:sp>
      <p:sp>
        <p:nvSpPr>
          <p:cNvPr id="20" name="Text 18"/>
          <p:cNvSpPr txBox="1"/>
          <p:nvPr/>
        </p:nvSpPr>
        <p:spPr>
          <a:xfrm>
            <a:off x="6583680" y="274320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Integration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583680" y="33832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583680" y="38404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583680" y="42976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326880" y="1554480"/>
            <a:ext cx="2697480" cy="4297680"/>
          </a:xfrm>
          <a:prstGeom prst="roundRect">
            <a:avLst>
              <a:gd name="adj" fmla="val 4068"/>
            </a:avLst>
          </a:prstGeom>
          <a:solidFill>
            <a:srgbClr val="EEF2FA"/>
          </a:solidFill>
          <a:ln/>
        </p:spPr>
      </p:sp>
      <p:sp>
        <p:nvSpPr>
          <p:cNvPr id="25" name="Shape 23"/>
          <p:cNvSpPr/>
          <p:nvPr/>
        </p:nvSpPr>
        <p:spPr>
          <a:xfrm>
            <a:off x="10309860" y="187452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10309860" y="18745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📝</a:t>
            </a:r>
            <a:endParaRPr lang="en-US" sz="2800" dirty="0"/>
          </a:p>
        </p:txBody>
      </p:sp>
      <p:sp>
        <p:nvSpPr>
          <p:cNvPr id="27" name="Text 25"/>
          <p:cNvSpPr txBox="1"/>
          <p:nvPr/>
        </p:nvSpPr>
        <p:spPr>
          <a:xfrm>
            <a:off x="9509760" y="274320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9509760" y="33832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 err="1" smtClean="0">
                <a:solidFill>
                  <a:schemeClr val="accent1">
                    <a:lumMod val="75000"/>
                  </a:schemeClr>
                </a:solidFill>
              </a:rPr>
              <a:t>Ppt</a:t>
            </a:r>
            <a:endParaRPr lang="en-US" sz="1200" dirty="0" smtClean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9" name="Text 27"/>
          <p:cNvSpPr txBox="1"/>
          <p:nvPr/>
        </p:nvSpPr>
        <p:spPr>
          <a:xfrm>
            <a:off x="9509760" y="38404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CONTRIBUTION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 Contribution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91672" cy="1051560"/>
          </a:xfrm>
          <a:prstGeom prst="roundRect">
            <a:avLst>
              <a:gd name="adj" fmla="val 10435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371600"/>
            <a:ext cx="104515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“My main contribution was in data preprocessing, KPI engineering, and Tableau dashboard development.”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365760" cy="365760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2743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✓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2697480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and transformed the data using Python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2743200"/>
            <a:ext cx="365760" cy="365760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217920" y="2743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✓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720840" y="2697480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Handled missing and duplicate values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520440"/>
            <a:ext cx="365760" cy="365760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3520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✓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3474720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the final dataset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17920" y="3520440"/>
            <a:ext cx="365760" cy="365760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217920" y="3520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✓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720840" y="3474720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the required KPIs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4297680"/>
            <a:ext cx="365760" cy="365760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48640" y="4297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✓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051560" y="4251960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four Tableau dashboards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217920" y="4297680"/>
            <a:ext cx="365760" cy="365760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217920" y="4297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✓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720840" y="4251960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filters and navigation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5074920"/>
            <a:ext cx="365760" cy="365760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48640" y="5074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✓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051560" y="5029200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dashboard interactions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217920" y="5074920"/>
            <a:ext cx="365760" cy="365760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217920" y="5074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✓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6720840" y="5029200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the project for final presentation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SOLVING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&amp; Solutions</a:t>
            </a:r>
            <a:endParaRPr lang="en-US" sz="3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1672" cy="4617720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CHALLENGE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SOLUTION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Different dataset structures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Standardized common fields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Missing values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Handled during preprocessing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2F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Duplicate universities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Removed duplicates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Different indicators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Created common KPIs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2F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 dataset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Used Python / Pandas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Complex analysis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Used interactive Tableau dashboards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2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Improvements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94960" cy="868680"/>
          </a:xfrm>
          <a:prstGeom prst="roundRect">
            <a:avLst>
              <a:gd name="adj" fmla="val 10526"/>
            </a:avLst>
          </a:prstGeom>
          <a:solidFill>
            <a:srgbClr val="EEF2FA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755648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755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📅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99032" y="1728216"/>
            <a:ext cx="4315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multiple years of ranking data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17920" y="1554480"/>
            <a:ext cx="5394960" cy="868680"/>
          </a:xfrm>
          <a:prstGeom prst="roundRect">
            <a:avLst>
              <a:gd name="adj" fmla="val 10526"/>
            </a:avLst>
          </a:prstGeom>
          <a:solidFill>
            <a:srgbClr val="EEF2FA"/>
          </a:solidFill>
          <a:ln/>
        </p:spPr>
      </p:sp>
      <p:sp>
        <p:nvSpPr>
          <p:cNvPr id="9" name="Shape 7"/>
          <p:cNvSpPr/>
          <p:nvPr/>
        </p:nvSpPr>
        <p:spPr>
          <a:xfrm>
            <a:off x="6446520" y="1755648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46520" y="1755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🌍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068312" y="1728216"/>
            <a:ext cx="4315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more universities and countries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2606040"/>
            <a:ext cx="5394960" cy="868680"/>
          </a:xfrm>
          <a:prstGeom prst="roundRect">
            <a:avLst>
              <a:gd name="adj" fmla="val 10526"/>
            </a:avLst>
          </a:prstGeom>
          <a:solidFill>
            <a:srgbClr val="EEF2FA"/>
          </a:solidFill>
          <a:ln/>
        </p:spPr>
      </p:sp>
      <p:sp>
        <p:nvSpPr>
          <p:cNvPr id="13" name="Shape 11"/>
          <p:cNvSpPr/>
          <p:nvPr/>
        </p:nvSpPr>
        <p:spPr>
          <a:xfrm>
            <a:off x="777240" y="2807208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77240" y="2807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👥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399032" y="2779776"/>
            <a:ext cx="4315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actual student/faculty counts where available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17920" y="2606040"/>
            <a:ext cx="5394960" cy="868680"/>
          </a:xfrm>
          <a:prstGeom prst="roundRect">
            <a:avLst>
              <a:gd name="adj" fmla="val 10526"/>
            </a:avLst>
          </a:prstGeom>
          <a:solidFill>
            <a:srgbClr val="EEF2FA"/>
          </a:solidFill>
          <a:ln/>
        </p:spPr>
      </p:sp>
      <p:sp>
        <p:nvSpPr>
          <p:cNvPr id="17" name="Shape 15"/>
          <p:cNvSpPr/>
          <p:nvPr/>
        </p:nvSpPr>
        <p:spPr>
          <a:xfrm>
            <a:off x="6446520" y="2807208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46520" y="2807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📈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7068312" y="2779776"/>
            <a:ext cx="4315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year-wise trend analysis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3657600"/>
            <a:ext cx="5394960" cy="868680"/>
          </a:xfrm>
          <a:prstGeom prst="roundRect">
            <a:avLst>
              <a:gd name="adj" fmla="val 10526"/>
            </a:avLst>
          </a:prstGeom>
          <a:solidFill>
            <a:srgbClr val="EEF2FA"/>
          </a:solidFill>
          <a:ln/>
        </p:spPr>
      </p:sp>
      <p:sp>
        <p:nvSpPr>
          <p:cNvPr id="21" name="Shape 19"/>
          <p:cNvSpPr/>
          <p:nvPr/>
        </p:nvSpPr>
        <p:spPr>
          <a:xfrm>
            <a:off x="777240" y="3858768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77240" y="3858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🤖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1399032" y="3831336"/>
            <a:ext cx="4315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predictive analytics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217920" y="3657600"/>
            <a:ext cx="5394960" cy="868680"/>
          </a:xfrm>
          <a:prstGeom prst="roundRect">
            <a:avLst>
              <a:gd name="adj" fmla="val 10526"/>
            </a:avLst>
          </a:prstGeom>
          <a:solidFill>
            <a:srgbClr val="EEF2FA"/>
          </a:solidFill>
          <a:ln/>
        </p:spPr>
      </p:sp>
      <p:sp>
        <p:nvSpPr>
          <p:cNvPr id="25" name="Shape 23"/>
          <p:cNvSpPr/>
          <p:nvPr/>
        </p:nvSpPr>
        <p:spPr>
          <a:xfrm>
            <a:off x="6446520" y="3858768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446520" y="3858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🖱️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7068312" y="3831336"/>
            <a:ext cx="4315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more advanced Tableau interactions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48640" y="4709160"/>
            <a:ext cx="5394960" cy="868680"/>
          </a:xfrm>
          <a:prstGeom prst="roundRect">
            <a:avLst>
              <a:gd name="adj" fmla="val 10526"/>
            </a:avLst>
          </a:prstGeom>
          <a:solidFill>
            <a:srgbClr val="EEF2FA"/>
          </a:solidFill>
          <a:ln/>
        </p:spPr>
      </p:sp>
      <p:sp>
        <p:nvSpPr>
          <p:cNvPr id="29" name="Shape 27"/>
          <p:cNvSpPr/>
          <p:nvPr/>
        </p:nvSpPr>
        <p:spPr>
          <a:xfrm>
            <a:off x="777240" y="4910328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77240" y="4910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☁️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1399032" y="4882896"/>
            <a:ext cx="4315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the dashboard online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70571" y="3931920"/>
            <a:ext cx="5029200" cy="5029200"/>
          </a:xfrm>
          <a:prstGeom prst="ellipse">
            <a:avLst/>
          </a:prstGeom>
          <a:solidFill>
            <a:srgbClr val="263B8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1371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EduVision transforms raw university ranking data into meaningful insights.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233879" y="1920240"/>
            <a:ext cx="1175918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1228039" y="1691640"/>
            <a:ext cx="1005840" cy="457200"/>
          </a:xfrm>
          <a:prstGeom prst="roundRect">
            <a:avLst>
              <a:gd name="adj" fmla="val 16000"/>
            </a:avLst>
          </a:prstGeom>
          <a:solidFill>
            <a:srgbClr val="263B8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228039" y="16916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415638" y="1920240"/>
            <a:ext cx="1175918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409798" y="1691640"/>
            <a:ext cx="1005840" cy="457200"/>
          </a:xfrm>
          <a:prstGeom prst="roundRect">
            <a:avLst>
              <a:gd name="adj" fmla="val 16000"/>
            </a:avLst>
          </a:prstGeom>
          <a:solidFill>
            <a:srgbClr val="263B8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409798" y="16916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597396" y="1920240"/>
            <a:ext cx="1175918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591556" y="1691640"/>
            <a:ext cx="1005840" cy="457200"/>
          </a:xfrm>
          <a:prstGeom prst="roundRect">
            <a:avLst>
              <a:gd name="adj" fmla="val 16000"/>
            </a:avLst>
          </a:prstGeom>
          <a:solidFill>
            <a:srgbClr val="263B8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591556" y="16916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779154" y="1920240"/>
            <a:ext cx="1175918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773314" y="1691640"/>
            <a:ext cx="1005840" cy="457200"/>
          </a:xfrm>
          <a:prstGeom prst="roundRect">
            <a:avLst>
              <a:gd name="adj" fmla="val 16000"/>
            </a:avLst>
          </a:prstGeom>
          <a:solidFill>
            <a:srgbClr val="263B8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773314" y="16916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955073" y="1691640"/>
            <a:ext cx="1005840" cy="457200"/>
          </a:xfrm>
          <a:prstGeom prst="roundRect">
            <a:avLst>
              <a:gd name="adj" fmla="val 16000"/>
            </a:avLst>
          </a:prstGeom>
          <a:solidFill>
            <a:srgbClr val="F2994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955073" y="16916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2606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helps users: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3017520"/>
            <a:ext cx="274320" cy="274320"/>
          </a:xfrm>
          <a:prstGeom prst="ellipse">
            <a:avLst/>
          </a:prstGeom>
          <a:solidFill>
            <a:srgbClr val="263B8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48640" y="3017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</a:rPr>
              <a:t>•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914400" y="2971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universities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3474720"/>
            <a:ext cx="274320" cy="274320"/>
          </a:xfrm>
          <a:prstGeom prst="ellipse">
            <a:avLst/>
          </a:prstGeom>
          <a:solidFill>
            <a:srgbClr val="263B80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48640" y="3474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</a:rPr>
              <a:t>•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914400" y="3429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research performance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48640" y="3931920"/>
            <a:ext cx="274320" cy="274320"/>
          </a:xfrm>
          <a:prstGeom prst="ellipse">
            <a:avLst/>
          </a:prstGeom>
          <a:solidFill>
            <a:srgbClr val="263B80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548640" y="3931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</a:rPr>
              <a:t>•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914400" y="3886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student indicators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48640" y="4389120"/>
            <a:ext cx="274320" cy="274320"/>
          </a:xfrm>
          <a:prstGeom prst="ellipse">
            <a:avLst/>
          </a:prstGeom>
          <a:solidFill>
            <a:srgbClr val="263B80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548640" y="4389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</a:rPr>
              <a:t>•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914400" y="4343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countries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48640" y="4846320"/>
            <a:ext cx="274320" cy="274320"/>
          </a:xfrm>
          <a:prstGeom prst="ellipse">
            <a:avLst/>
          </a:prstGeom>
          <a:solidFill>
            <a:srgbClr val="263B80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548640" y="4846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</a:rPr>
              <a:t>•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914400" y="4800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higher-education trends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691" y="146097"/>
            <a:ext cx="11874138" cy="6487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70820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630" y="190048"/>
            <a:ext cx="11926388" cy="6477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10226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C:\Users\USER\AppData\Local\Microsoft\Windows\Clipboard\HistoryData\{FBB5B288-D6C4-49B3-8A33-72B1B7EE6D75}\{6CC0C35F-1ED9-40C0-86DD-549397A1E381}\ResourceMap\{157F234C-4AB3-4DDB-9802-CDB9FD97C441}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780" y="137795"/>
            <a:ext cx="11954238" cy="6562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948122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USER\AppData\Local\Microsoft\Windows\Clipboard\HistoryData\{FBB5B288-D6C4-49B3-8A33-72B1B7EE6D75}\{EBEE372E-0BE8-4E94-AF34-D963335A966D}\ResourceMap\{73FC83E6-5C02-44C8-AF3C-2B94A2284822}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754" y="176984"/>
            <a:ext cx="11887200" cy="655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991055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676503" y="2902914"/>
            <a:ext cx="8503919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Thank You!</a:t>
            </a:r>
            <a:endParaRPr lang="en-IN" sz="4000" dirty="0">
              <a:solidFill>
                <a:schemeClr val="accent1">
                  <a:lumMod val="75000"/>
                </a:schemeClr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1340566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800</Words>
  <Application>Microsoft Office PowerPoint</Application>
  <PresentationFormat>Widescreen</PresentationFormat>
  <Paragraphs>320</Paragraphs>
  <Slides>20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Microsoft account</cp:lastModifiedBy>
  <cp:revision>4</cp:revision>
  <dcterms:created xsi:type="dcterms:W3CDTF">2026-09-12T04:11:13Z</dcterms:created>
  <dcterms:modified xsi:type="dcterms:W3CDTF">2026-09-15T13:48:12Z</dcterms:modified>
</cp:coreProperties>
</file>