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83280" cy="914400"/>
          </a:xfrm>
          <a:prstGeom prst="rect">
            <a:avLst/>
          </a:prstGeom>
          <a:solidFill>
            <a:srgbClr val="2B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914400"/>
            <a:ext cx="2651760" cy="502920"/>
          </a:xfrm>
          <a:prstGeom prst="rect">
            <a:avLst/>
          </a:prstGeom>
          <a:solidFill>
            <a:srgbClr val="21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1280" y="5303520"/>
            <a:ext cx="2011680" cy="155448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0" y="5989320"/>
            <a:ext cx="1280160" cy="502920"/>
          </a:xfrm>
          <a:prstGeom prst="rect">
            <a:avLst/>
          </a:prstGeom>
          <a:solidFill>
            <a:srgbClr val="E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005840"/>
            <a:ext cx="1143000" cy="1143000"/>
          </a:xfrm>
          <a:prstGeom prst="ellipse">
            <a:avLst/>
          </a:prstGeom>
          <a:solidFill>
            <a:srgbClr val="21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25296"/>
            <a:ext cx="82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3052"/>
                </a:solidFill>
                <a:latin typeface="Aptos Display"/>
              </a:defRPr>
            </a:pPr>
            <a:r>
              <a:rPr dirty="0"/>
              <a:t>DV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9875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Higher Education</a:t>
            </a:r>
            <a:br/>
            <a:r>
              <a:t>Performance Dashboard</a:t>
            </a:r>
          </a:p>
          <a:p>
            <a:pPr>
              <a:defRPr sz="2000" b="1">
                <a:solidFill>
                  <a:srgbClr val="21C4CD"/>
                </a:solidFill>
                <a:latin typeface="Aptos"/>
              </a:defRPr>
            </a:pPr>
            <a:r>
              <a:t>EduVision DV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89204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D8E8"/>
                </a:solidFill>
                <a:latin typeface="Aptos"/>
              </a:defRPr>
            </a:pPr>
            <a:r>
              <a:rPr dirty="0"/>
              <a:t>Project Presentation</a:t>
            </a:r>
          </a:p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 </a:t>
            </a:r>
            <a:r>
              <a:rPr dirty="0" err="1"/>
              <a:t>Aishwarya</a:t>
            </a:r>
            <a:r>
              <a:rPr dirty="0"/>
              <a:t> </a:t>
            </a:r>
            <a:r>
              <a:rPr dirty="0" err="1"/>
              <a:t>Todkari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41248" y="583387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BC2D7"/>
                </a:solidFill>
                <a:latin typeface="Aptos"/>
              </a:defRPr>
            </a:pPr>
            <a:r>
              <a:t>Interactive Tableau Dashboard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B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EduVision 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67AD"/>
                </a:solidFill>
                <a:latin typeface="Aptos Display"/>
              </a:defRPr>
            </a:pPr>
            <a:r>
              <a:t>What is EduVision DV?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56032" rIns="320040" bIns="182880" rtlCol="0" anchor="ctr"/>
          <a:lstStyle/>
          <a:p>
            <a:pPr algn="ctr">
              <a:spcAft>
                <a:spcPts val="1700"/>
              </a:spcAft>
              <a:defRPr sz="1800">
                <a:latin typeface="Aptos"/>
              </a:defRPr>
            </a:pPr>
            <a:r>
              <a:rPr b="1" dirty="0">
                <a:solidFill>
                  <a:srgbClr val="2B67AD"/>
                </a:solidFill>
              </a:rPr>
              <a:t>Project: </a:t>
            </a:r>
            <a:r>
              <a:rPr dirty="0" err="1">
                <a:solidFill>
                  <a:srgbClr val="232C37"/>
                </a:solidFill>
              </a:rPr>
              <a:t>EduVision</a:t>
            </a:r>
            <a:r>
              <a:rPr dirty="0">
                <a:solidFill>
                  <a:srgbClr val="232C37"/>
                </a:solidFill>
              </a:rPr>
              <a:t> DV — Higher Education Performance Dashboard.</a:t>
            </a:r>
          </a:p>
          <a:p>
            <a:pPr>
              <a:spcAft>
                <a:spcPts val="1700"/>
              </a:spcAft>
              <a:defRPr sz="1800">
                <a:latin typeface="Aptos"/>
              </a:defRPr>
            </a:pPr>
            <a:r>
              <a:rPr b="1" dirty="0">
                <a:solidFill>
                  <a:srgbClr val="2B67AD"/>
                </a:solidFill>
              </a:rPr>
              <a:t>Purpose: </a:t>
            </a:r>
            <a:r>
              <a:rPr dirty="0">
                <a:solidFill>
                  <a:srgbClr val="232C37"/>
                </a:solidFill>
              </a:rPr>
              <a:t>Analyze global university performance across rankings, research, student diversity and country-level indicators.</a:t>
            </a:r>
          </a:p>
          <a:p>
            <a:pPr>
              <a:spcAft>
                <a:spcPts val="1700"/>
              </a:spcAft>
              <a:defRPr sz="1800">
                <a:latin typeface="Aptos"/>
              </a:defRPr>
            </a:pPr>
            <a:r>
              <a:rPr b="1" dirty="0">
                <a:solidFill>
                  <a:srgbClr val="2B67AD"/>
                </a:solidFill>
              </a:rPr>
              <a:t>Approach: </a:t>
            </a:r>
            <a:r>
              <a:rPr dirty="0">
                <a:solidFill>
                  <a:srgbClr val="232C37"/>
                </a:solidFill>
              </a:rPr>
              <a:t>Combine publicly available higher-education datasets, engineer meaningful KPIs and present them through interactive Tableau dashboards.</a:t>
            </a:r>
          </a:p>
          <a:p>
            <a:pPr>
              <a:spcAft>
                <a:spcPts val="1700"/>
              </a:spcAft>
              <a:defRPr sz="1800">
                <a:latin typeface="Aptos"/>
              </a:defRPr>
            </a:pPr>
            <a:r>
              <a:rPr b="1" dirty="0">
                <a:solidFill>
                  <a:srgbClr val="2B67AD"/>
                </a:solidFill>
              </a:rPr>
              <a:t>Final Deliverable: </a:t>
            </a:r>
            <a:r>
              <a:rPr dirty="0">
                <a:solidFill>
                  <a:srgbClr val="232C37"/>
                </a:solidFill>
              </a:rPr>
              <a:t>A unified Tableau workbook (.</a:t>
            </a:r>
            <a:r>
              <a:rPr dirty="0" err="1">
                <a:solidFill>
                  <a:srgbClr val="232C37"/>
                </a:solidFill>
              </a:rPr>
              <a:t>twbx</a:t>
            </a:r>
            <a:r>
              <a:rPr dirty="0">
                <a:solidFill>
                  <a:srgbClr val="232C37"/>
                </a:solidFill>
              </a:rPr>
              <a:t>) containing four interconnected dashboards.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CF4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EduVision 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CF4E57"/>
                </a:solidFill>
                <a:latin typeface="Aptos Display"/>
              </a:defRPr>
            </a:pPr>
            <a:r>
              <a:t>Why this project?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56032" rIns="320040" bIns="182880" rtlCol="0" anchor="ctr"/>
          <a:lstStyle/>
          <a:p>
            <a:pPr algn="ctr">
              <a:spcAft>
                <a:spcPts val="1700"/>
              </a:spcAft>
              <a:defRPr sz="1800">
                <a:latin typeface="Aptos"/>
              </a:defRPr>
            </a:pPr>
            <a:r>
              <a:rPr b="1" dirty="0" smtClean="0">
                <a:solidFill>
                  <a:srgbClr val="CF4E57"/>
                </a:solidFill>
              </a:rPr>
              <a:t>Data </a:t>
            </a:r>
            <a:r>
              <a:rPr b="1" dirty="0">
                <a:solidFill>
                  <a:srgbClr val="CF4E57"/>
                </a:solidFill>
              </a:rPr>
              <a:t>is fragmented: </a:t>
            </a:r>
            <a:r>
              <a:rPr dirty="0">
                <a:solidFill>
                  <a:srgbClr val="232C37"/>
                </a:solidFill>
              </a:rPr>
              <a:t>University rankings, research indicators and student statistics are available across different datasets and formats.</a:t>
            </a:r>
          </a:p>
          <a:p>
            <a:pPr>
              <a:spcAft>
                <a:spcPts val="1700"/>
              </a:spcAft>
              <a:defRPr sz="1800">
                <a:latin typeface="Aptos"/>
              </a:defRPr>
            </a:pPr>
            <a:r>
              <a:rPr b="1" dirty="0">
                <a:solidFill>
                  <a:srgbClr val="CF4E57"/>
                </a:solidFill>
              </a:rPr>
              <a:t>Comparison is difficult: </a:t>
            </a:r>
            <a:r>
              <a:rPr dirty="0">
                <a:solidFill>
                  <a:srgbClr val="232C37"/>
                </a:solidFill>
              </a:rPr>
              <a:t>Users need a single view to compare institutions, countries and performance dimensions.</a:t>
            </a:r>
          </a:p>
          <a:p>
            <a:pPr>
              <a:spcAft>
                <a:spcPts val="1700"/>
              </a:spcAft>
              <a:defRPr sz="1800">
                <a:latin typeface="Aptos"/>
              </a:defRPr>
            </a:pPr>
            <a:r>
              <a:rPr b="1" dirty="0">
                <a:solidFill>
                  <a:srgbClr val="CF4E57"/>
                </a:solidFill>
              </a:rPr>
              <a:t>Raw metrics lack context: </a:t>
            </a:r>
            <a:r>
              <a:rPr dirty="0">
                <a:solidFill>
                  <a:srgbClr val="232C37"/>
                </a:solidFill>
              </a:rPr>
              <a:t>Ranking and research indicators can be difficult to interpret without calculated KPIs and visual comparisons.</a:t>
            </a:r>
          </a:p>
          <a:p>
            <a:pPr>
              <a:spcAft>
                <a:spcPts val="1700"/>
              </a:spcAft>
              <a:defRPr sz="1800">
                <a:latin typeface="Aptos"/>
              </a:defRPr>
            </a:pPr>
            <a:r>
              <a:rPr b="1" dirty="0">
                <a:solidFill>
                  <a:srgbClr val="CF4E57"/>
                </a:solidFill>
              </a:rPr>
              <a:t>Decision-making needs interactivity: </a:t>
            </a:r>
            <a:r>
              <a:rPr dirty="0">
                <a:solidFill>
                  <a:srgbClr val="232C37"/>
                </a:solidFill>
              </a:rPr>
              <a:t>Static reports do not provide flexible filtering, drill-downs and cross-dashboard exploration.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7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EduVision DV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9197"/>
                </a:solidFill>
                <a:latin typeface="Aptos Display"/>
              </a:defRPr>
            </a:pPr>
            <a:r>
              <a:t>Primary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951677" cy="2357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Integrate global university datasets into a </a:t>
            </a:r>
            <a:r>
              <a:rPr dirty="0" smtClean="0"/>
              <a:t>common</a:t>
            </a:r>
            <a:endParaRPr lang="en-GB" dirty="0" smtClean="0"/>
          </a:p>
          <a:p>
            <a:pPr>
              <a:spcAft>
                <a:spcPts val="1300"/>
              </a:spcAft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 smtClean="0"/>
              <a:t> </a:t>
            </a:r>
            <a:r>
              <a:rPr lang="en-GB" dirty="0" smtClean="0"/>
              <a:t>     </a:t>
            </a:r>
            <a:r>
              <a:rPr dirty="0" smtClean="0"/>
              <a:t>analytical </a:t>
            </a:r>
            <a:r>
              <a:rPr dirty="0"/>
              <a:t>structure.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Clean, standardize and validate university, country </a:t>
            </a:r>
            <a:endParaRPr lang="en-GB" dirty="0" smtClean="0"/>
          </a:p>
          <a:p>
            <a:pPr>
              <a:spcAft>
                <a:spcPts val="1300"/>
              </a:spcAft>
              <a:defRPr sz="1550">
                <a:solidFill>
                  <a:srgbClr val="232C37"/>
                </a:solidFill>
                <a:latin typeface="Aptos"/>
              </a:defRPr>
            </a:pPr>
            <a:r>
              <a:rPr lang="en-GB" dirty="0" smtClean="0"/>
              <a:t>     </a:t>
            </a:r>
            <a:r>
              <a:rPr dirty="0" smtClean="0"/>
              <a:t>and </a:t>
            </a:r>
            <a:r>
              <a:rPr dirty="0"/>
              <a:t>ranking fields.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Engineer six education-performance KPIs.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Build four interactive Tableau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5087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9197"/>
                </a:solidFill>
                <a:latin typeface="Aptos Display"/>
              </a:defRPr>
            </a:pPr>
            <a:r>
              <a:t>Expected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672" y="2111022"/>
            <a:ext cx="5285421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Enable university-to-university comparison.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Support research and academic performance analysis.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Reveal student diversity and enrollment patterns.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Provide country-level education benchmarking.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7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System /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From raw data to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618488"/>
            <a:ext cx="183794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2B67AD"/>
                </a:solidFill>
                <a:latin typeface="Aptos"/>
              </a:defRPr>
            </a:pPr>
            <a:r>
              <a:t>Public University</a:t>
            </a:r>
            <a:br/>
            <a:r>
              <a:t>Datasets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7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1618488"/>
            <a:ext cx="183794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279197"/>
                </a:solidFill>
                <a:latin typeface="Aptos"/>
              </a:defRPr>
            </a:pPr>
            <a:r>
              <a:rPr dirty="0"/>
              <a:t>Python + Pandas</a:t>
            </a:r>
            <a:br>
              <a:rPr dirty="0"/>
            </a:br>
            <a:r>
              <a:rPr dirty="0"/>
              <a:t>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50408" y="1618488"/>
            <a:ext cx="183794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704EAA"/>
                </a:solidFill>
                <a:latin typeface="Aptos"/>
              </a:defRPr>
            </a:pPr>
            <a:r>
              <a:t>KPI Engineering</a:t>
            </a:r>
            <a:br/>
            <a:r>
              <a:t>&amp;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417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7" y="1618488"/>
            <a:ext cx="183794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ED8B2C"/>
                </a:solidFill>
                <a:latin typeface="Aptos"/>
              </a:defRPr>
            </a:pPr>
            <a:r>
              <a:t>Tableau-ready</a:t>
            </a:r>
            <a:br/>
            <a:r>
              <a:t>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79476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0314" y="3995928"/>
            <a:ext cx="101181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2B67AD"/>
                </a:solidFill>
                <a:latin typeface="Aptos"/>
              </a:defRPr>
            </a:pPr>
            <a:r>
              <a:rPr lang="en-GB" dirty="0" smtClean="0"/>
              <a:t>Research </a:t>
            </a:r>
          </a:p>
          <a:p>
            <a:pPr algn="ctr">
              <a:defRPr sz="1350" b="1">
                <a:solidFill>
                  <a:srgbClr val="2B67AD"/>
                </a:solidFill>
                <a:latin typeface="Aptos"/>
              </a:defRPr>
            </a:pPr>
            <a:r>
              <a:rPr lang="en-GB" dirty="0" smtClean="0"/>
              <a:t>Analytics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5440958" y="3764649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92326" y="3995928"/>
            <a:ext cx="95410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704EAA"/>
                </a:solidFill>
                <a:latin typeface="Aptos"/>
              </a:defRPr>
            </a:pPr>
            <a:r>
              <a:rPr lang="en-GB" dirty="0" smtClean="0"/>
              <a:t>Student</a:t>
            </a:r>
            <a:r>
              <a:rPr dirty="0"/>
              <a:t/>
            </a:r>
            <a:br>
              <a:rPr dirty="0"/>
            </a:br>
            <a:r>
              <a:rPr dirty="0"/>
              <a:t>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79476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D9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5485" y="3995928"/>
            <a:ext cx="95410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3D9768"/>
                </a:solidFill>
                <a:latin typeface="Aptos"/>
              </a:defRPr>
            </a:pPr>
            <a:r>
              <a:rPr dirty="0" smtClean="0"/>
              <a:t>Country</a:t>
            </a:r>
            <a:r>
              <a:rPr dirty="0"/>
              <a:t/>
            </a:r>
            <a:br>
              <a:rPr dirty="0"/>
            </a:br>
            <a:r>
              <a:rPr dirty="0"/>
              <a:t>Analytics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78608" y="1737360"/>
            <a:ext cx="36576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5001768" y="1737360"/>
            <a:ext cx="36576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7424927" y="1737360"/>
            <a:ext cx="36576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6245352" y="2487168"/>
            <a:ext cx="411480" cy="731520"/>
          </a:xfrm>
          <a:prstGeom prst="down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5029200" y="4114800"/>
            <a:ext cx="36576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452360" y="4114800"/>
            <a:ext cx="36576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"/>
              </a:defRPr>
            </a:pPr>
            <a:r>
              <a:t>Interactive filters, parameters and dashboard actions connect the four analytical views.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 rot="10800000" flipV="1">
            <a:off x="591615" y="3855351"/>
            <a:ext cx="2057400" cy="835152"/>
          </a:xfrm>
          <a:prstGeom prst="roundRect">
            <a:avLst/>
          </a:prstGeom>
          <a:solidFill>
            <a:srgbClr val="FFFFFF"/>
          </a:solidFill>
          <a:ln>
            <a:solidFill>
              <a:srgbClr val="27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279197"/>
                </a:solidFill>
                <a:latin typeface="Aptos"/>
              </a:defRPr>
            </a:pPr>
            <a:r>
              <a:rPr lang="en-GB" dirty="0" smtClean="0"/>
              <a:t>University</a:t>
            </a:r>
          </a:p>
          <a:p>
            <a:pPr algn="ctr">
              <a:defRPr sz="1350" b="1">
                <a:solidFill>
                  <a:srgbClr val="279197"/>
                </a:solidFill>
                <a:latin typeface="Aptos"/>
              </a:defRPr>
            </a:pPr>
            <a:r>
              <a:rPr lang="en-GB" dirty="0" smtClean="0"/>
              <a:t> Overview </a:t>
            </a:r>
            <a:endParaRPr lang="en-GB" dirty="0"/>
          </a:p>
        </p:txBody>
      </p:sp>
      <p:sp>
        <p:nvSpPr>
          <p:cNvPr id="31" name="Right Arrow 30"/>
          <p:cNvSpPr/>
          <p:nvPr/>
        </p:nvSpPr>
        <p:spPr>
          <a:xfrm>
            <a:off x="2611025" y="4114800"/>
            <a:ext cx="36576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B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End-to-end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1033271" y="2011680"/>
            <a:ext cx="658368" cy="658368"/>
          </a:xfrm>
          <a:prstGeom prst="ellipse">
            <a:avLst/>
          </a:prstGeom>
          <a:solidFill>
            <a:srgbClr val="2B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139696"/>
            <a:ext cx="658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C37"/>
                </a:solidFill>
                <a:latin typeface="Aptos"/>
              </a:defRPr>
            </a:pPr>
            <a:r>
              <a:t>Collect</a:t>
            </a:r>
            <a:br/>
            <a:r>
              <a:t>Datasets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64792" y="2194560"/>
            <a:ext cx="50292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60904" y="2011680"/>
            <a:ext cx="658368" cy="658368"/>
          </a:xfrm>
          <a:prstGeom prst="ellipse">
            <a:avLst/>
          </a:prstGeom>
          <a:solidFill>
            <a:srgbClr val="27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60904" y="2139696"/>
            <a:ext cx="658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2880360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C37"/>
                </a:solidFill>
                <a:latin typeface="Aptos"/>
              </a:defRPr>
            </a:pPr>
            <a:r>
              <a:t>Clean &amp;</a:t>
            </a:r>
            <a:br/>
            <a:r>
              <a:t>Transform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92424" y="2194560"/>
            <a:ext cx="50292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88536" y="2011680"/>
            <a:ext cx="658368" cy="658368"/>
          </a:xfrm>
          <a:prstGeom prst="ellipse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88536" y="2139696"/>
            <a:ext cx="658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2880360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C37"/>
                </a:solidFill>
                <a:latin typeface="Aptos"/>
              </a:defRPr>
            </a:pPr>
            <a:r>
              <a:t>Engineer</a:t>
            </a:r>
            <a:br/>
            <a:r>
              <a:t>KPIs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20056" y="2194560"/>
            <a:ext cx="50292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16168" y="2011680"/>
            <a:ext cx="658368" cy="658368"/>
          </a:xfrm>
          <a:prstGeom prst="ellipse">
            <a:avLst/>
          </a:prstGeom>
          <a:solidFill>
            <a:srgbClr val="E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16168" y="2139696"/>
            <a:ext cx="658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2880360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C37"/>
                </a:solidFill>
                <a:latin typeface="Aptos"/>
              </a:defRPr>
            </a:pPr>
            <a:r>
              <a:t>Develop</a:t>
            </a:r>
            <a:br/>
            <a:r>
              <a:t>Dashboards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647688" y="2194560"/>
            <a:ext cx="50292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43800" y="2011680"/>
            <a:ext cx="658368" cy="658368"/>
          </a:xfrm>
          <a:prstGeom prst="ellipse">
            <a:avLst/>
          </a:prstGeom>
          <a:solidFill>
            <a:srgbClr val="3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2139696"/>
            <a:ext cx="658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880360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C37"/>
                </a:solidFill>
                <a:latin typeface="Aptos"/>
              </a:defRPr>
            </a:pPr>
            <a:r>
              <a:t>Integrate</a:t>
            </a:r>
            <a:br/>
            <a:r>
              <a:t>Workbook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275320" y="2194560"/>
            <a:ext cx="50292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71432" y="2011680"/>
            <a:ext cx="658368" cy="658368"/>
          </a:xfrm>
          <a:prstGeom prst="ellipse">
            <a:avLst/>
          </a:prstGeom>
          <a:solidFill>
            <a:srgbClr val="CF4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71432" y="2139696"/>
            <a:ext cx="658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880360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C37"/>
                </a:solidFill>
                <a:latin typeface="Aptos"/>
              </a:defRPr>
            </a:pPr>
            <a:r>
              <a:t>Test &amp;</a:t>
            </a:r>
            <a:br/>
            <a:r>
              <a:t>Validate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902952" y="2194560"/>
            <a:ext cx="502920" cy="274320"/>
          </a:xfrm>
          <a:prstGeom prst="rightArrow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99064" y="2011680"/>
            <a:ext cx="658368" cy="658368"/>
          </a:xfrm>
          <a:prstGeom prst="ellipse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99064" y="2139696"/>
            <a:ext cx="658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2880360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C37"/>
                </a:solidFill>
                <a:latin typeface="Aptos"/>
              </a:defRPr>
            </a:pPr>
            <a:r>
              <a:t>Document &amp;</a:t>
            </a:r>
            <a:br/>
            <a:r>
              <a:t>Deliver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709160"/>
            <a:ext cx="9966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4956048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3052"/>
                </a:solidFill>
                <a:latin typeface="Aptos"/>
              </a:defRPr>
            </a:pPr>
            <a:r>
              <a:t>Output: a unified, interactive Tableau workbook (.twbx) for higher-education performance analysis.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1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Tools used in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B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4416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7AD"/>
                </a:solidFill>
                <a:latin typeface="Aptos"/>
              </a:defRPr>
            </a:pPr>
            <a:r>
              <a:rPr dirty="0" smtClean="0"/>
              <a:t>Data </a:t>
            </a:r>
            <a:r>
              <a:rPr dirty="0"/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344168"/>
            <a:ext cx="26312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rPr dirty="0"/>
              <a:t>Python • Public QS / THE </a:t>
            </a:r>
            <a:r>
              <a:rPr dirty="0" smtClean="0"/>
              <a:t>datasets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309359" y="123444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7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34416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9197"/>
                </a:solidFill>
                <a:latin typeface="Aptos"/>
              </a:defRPr>
            </a:pPr>
            <a:r>
              <a:rPr dirty="0" smtClean="0"/>
              <a:t>Data </a:t>
            </a:r>
            <a:r>
              <a:rPr dirty="0"/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1344168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t>Pandas • NumPy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04EAA"/>
                </a:solidFill>
                <a:latin typeface="Aptos"/>
              </a:defRPr>
            </a:pPr>
            <a:r>
              <a:rPr dirty="0"/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487168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t>Python • Jupyter Notebook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37744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D8B2C"/>
                </a:solidFill>
                <a:latin typeface="Aptos"/>
              </a:defRPr>
            </a:pPr>
            <a:r>
              <a:t>KPI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2487168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t>Python calculations • Excel-ready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2044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D9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3016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9768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630168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t>Tableau Desktop / Tableau Public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52044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F4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63016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F4E57"/>
                </a:solidFill>
                <a:latin typeface="Aptos"/>
              </a:defRPr>
            </a:pPr>
            <a:r>
              <a:t>Dashboard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3630168"/>
            <a:ext cx="31145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rPr dirty="0"/>
              <a:t>Filters • Parameters • Actions • </a:t>
            </a:r>
            <a:r>
              <a:rPr dirty="0" smtClean="0"/>
              <a:t>Drill-downs</a:t>
            </a:r>
            <a:r>
              <a:rPr lang="en-GB" dirty="0" smtClean="0"/>
              <a:t> </a:t>
            </a:r>
          </a:p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rPr lang="en-GB" dirty="0"/>
              <a:t>• </a:t>
            </a:r>
            <a:r>
              <a:rPr lang="en-GB" dirty="0" smtClean="0"/>
              <a:t> Navigations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6344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4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77316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3052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773168"/>
            <a:ext cx="30909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C37"/>
                </a:solidFill>
                <a:latin typeface="Aptos"/>
              </a:defRPr>
            </a:pPr>
            <a:r>
              <a:rPr dirty="0"/>
              <a:t>Markdown • GitHub • Project </a:t>
            </a:r>
            <a:r>
              <a:rPr dirty="0" smtClean="0"/>
              <a:t>reports</a:t>
            </a:r>
            <a:r>
              <a:rPr lang="en-GB" dirty="0" smtClean="0"/>
              <a:t> </a:t>
            </a:r>
            <a:r>
              <a:rPr lang="en-GB" dirty="0"/>
              <a:t>•</a:t>
            </a:r>
            <a:r>
              <a:rPr lang="en-GB" dirty="0" smtClean="0"/>
              <a:t> PPT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Education KPI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Six core performance indicators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B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1490472"/>
            <a:ext cx="502920" cy="502920"/>
          </a:xfrm>
          <a:prstGeom prst="ellipse">
            <a:avLst/>
          </a:prstGeom>
          <a:solidFill>
            <a:srgbClr val="2B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49047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67AD"/>
                </a:solidFill>
                <a:latin typeface="Aptos Display"/>
              </a:defRPr>
            </a:pPr>
            <a:r>
              <a:t>Global Ranking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977"/>
                </a:solidFill>
                <a:latin typeface="Aptos"/>
              </a:defRPr>
            </a:pPr>
            <a:r>
              <a:t>Overall institutional standing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7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36008" y="1490472"/>
            <a:ext cx="502920" cy="502920"/>
          </a:xfrm>
          <a:prstGeom prst="ellipse">
            <a:avLst/>
          </a:prstGeom>
          <a:solidFill>
            <a:srgbClr val="27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49047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79197"/>
                </a:solidFill>
                <a:latin typeface="Aptos Display"/>
              </a:defRPr>
            </a:pPr>
            <a:r>
              <a:t>Research Impact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977"/>
                </a:solidFill>
                <a:latin typeface="Aptos"/>
              </a:defRPr>
            </a:pPr>
            <a:r>
              <a:t>Influence of research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1490472"/>
            <a:ext cx="502920" cy="502920"/>
          </a:xfrm>
          <a:prstGeom prst="ellipse">
            <a:avLst/>
          </a:prstGeom>
          <a:solidFill>
            <a:srgbClr val="E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49047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D8B2C"/>
                </a:solidFill>
                <a:latin typeface="Aptos Display"/>
              </a:defRPr>
            </a:pPr>
            <a:r>
              <a:t>Faculty-to-Student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0312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977"/>
                </a:solidFill>
                <a:latin typeface="Aptos"/>
              </a:defRPr>
            </a:pPr>
            <a:r>
              <a:t>Teaching capacity indicator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3D9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7" y="3547872"/>
            <a:ext cx="502920" cy="502920"/>
          </a:xfrm>
          <a:prstGeom prst="ellipse">
            <a:avLst/>
          </a:prstGeom>
          <a:solidFill>
            <a:srgbClr val="3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63040" y="354787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D9768"/>
                </a:solidFill>
                <a:latin typeface="Aptos Display"/>
              </a:defRPr>
            </a:pPr>
            <a:r>
              <a:t>International Student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977"/>
                </a:solidFill>
                <a:latin typeface="Aptos"/>
              </a:defRPr>
            </a:pPr>
            <a:r>
              <a:t>Global student diversity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918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36008" y="3547872"/>
            <a:ext cx="502920" cy="502920"/>
          </a:xfrm>
          <a:prstGeom prst="ellipse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354787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04EAA"/>
                </a:solidFill>
                <a:latin typeface="Aptos Display"/>
              </a:defRPr>
            </a:pPr>
            <a:r>
              <a:t>Academic Reputation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16052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977"/>
                </a:solidFill>
                <a:latin typeface="Aptos"/>
              </a:defRPr>
            </a:pPr>
            <a:r>
              <a:t>Perceived academic strength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918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F4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30768" y="3547872"/>
            <a:ext cx="502920" cy="502920"/>
          </a:xfrm>
          <a:prstGeom prst="ellipse">
            <a:avLst/>
          </a:prstGeom>
          <a:solidFill>
            <a:srgbClr val="CF4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33688" y="354787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F4E57"/>
                </a:solidFill>
                <a:latin typeface="Aptos Display"/>
              </a:defRPr>
            </a:pPr>
            <a:r>
              <a:rPr dirty="0"/>
              <a:t>Research Productivity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16052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977"/>
                </a:solidFill>
                <a:latin typeface="Aptos"/>
              </a:defRPr>
            </a:pPr>
            <a:r>
              <a:t>Research efficiency /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23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2"/>
                </a:solidFill>
                <a:latin typeface="Aptos"/>
              </a:defRPr>
            </a:pPr>
            <a:r>
              <a:t>KPIs convert raw ranking, research and student indicators into comparable measures for decision-making.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B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1 — University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Implemented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7955279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9-13 16372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2213"/>
            <a:ext cx="7635240" cy="42816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44003" y="1029009"/>
            <a:ext cx="3456433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2B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0" y="1234440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B67AD"/>
                </a:solidFill>
                <a:latin typeface="Aptos Display"/>
              </a:defRPr>
            </a:pPr>
            <a:r>
              <a:t>Key Insights &amp;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4003" y="1909965"/>
            <a:ext cx="3656770" cy="4339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Executive-level view of university </a:t>
            </a:r>
            <a:r>
              <a:rPr sz="1200" dirty="0" smtClean="0"/>
              <a:t>performance</a:t>
            </a:r>
            <a:r>
              <a:rPr sz="1200" dirty="0"/>
              <a:t>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KPI cards show Global Ranking, </a:t>
            </a:r>
            <a:r>
              <a:rPr sz="1200" dirty="0" smtClean="0"/>
              <a:t>Research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 smtClean="0"/>
              <a:t> </a:t>
            </a:r>
            <a:r>
              <a:rPr lang="en-GB" sz="1200" dirty="0" smtClean="0"/>
              <a:t>   </a:t>
            </a:r>
            <a:r>
              <a:rPr sz="1200" dirty="0" smtClean="0"/>
              <a:t>Impact</a:t>
            </a:r>
            <a:r>
              <a:rPr sz="1200" dirty="0"/>
              <a:t>, Academic Reputation and </a:t>
            </a:r>
            <a:r>
              <a:rPr sz="1200" dirty="0" smtClean="0"/>
              <a:t>International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  </a:t>
            </a:r>
            <a:r>
              <a:rPr sz="1200" dirty="0" smtClean="0"/>
              <a:t>Student </a:t>
            </a:r>
            <a:r>
              <a:rPr sz="1200" dirty="0"/>
              <a:t>Percentage.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Top-university ranking chart enables quick 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 smtClean="0"/>
              <a:t>     </a:t>
            </a:r>
            <a:r>
              <a:rPr sz="1200" dirty="0" smtClean="0"/>
              <a:t>identification </a:t>
            </a:r>
            <a:r>
              <a:rPr sz="1200" dirty="0"/>
              <a:t>of leading institutions.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QS vs THE rank scatter plot supports 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 smtClean="0"/>
              <a:t>     </a:t>
            </a:r>
            <a:r>
              <a:rPr sz="1200" dirty="0" smtClean="0"/>
              <a:t>ranking </a:t>
            </a:r>
            <a:r>
              <a:rPr sz="1200" dirty="0"/>
              <a:t>comparison.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Academic reputation analysis compares </a:t>
            </a:r>
            <a:r>
              <a:rPr sz="1200" dirty="0" smtClean="0"/>
              <a:t>regions</a:t>
            </a:r>
            <a:r>
              <a:rPr sz="1200" dirty="0"/>
              <a:t>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Global map provides geographic distribution </a:t>
            </a:r>
            <a:r>
              <a:rPr sz="1200" dirty="0" smtClean="0"/>
              <a:t>of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  </a:t>
            </a:r>
            <a:r>
              <a:rPr sz="1200" dirty="0" smtClean="0"/>
              <a:t>universities</a:t>
            </a:r>
            <a:r>
              <a:rPr sz="1200" dirty="0"/>
              <a:t>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Filters allow country, university and </a:t>
            </a:r>
            <a:r>
              <a:rPr sz="1200" dirty="0" smtClean="0"/>
              <a:t>QS-region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 smtClean="0"/>
              <a:t>   </a:t>
            </a:r>
            <a:r>
              <a:rPr sz="1200" dirty="0" smtClean="0"/>
              <a:t> </a:t>
            </a:r>
            <a:r>
              <a:rPr sz="1200" dirty="0"/>
              <a:t>exploration.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E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2 — Research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Implemented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7955279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9-13 16381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6239"/>
            <a:ext cx="7635240" cy="42935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960120"/>
            <a:ext cx="3448858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0" y="1234440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D8B2C"/>
                </a:solidFill>
                <a:latin typeface="Aptos Display"/>
              </a:defRPr>
            </a:pPr>
            <a:r>
              <a:t>Key Insights &amp;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5137" y="1919963"/>
            <a:ext cx="3466013" cy="41395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Focuses on research impact, productivity</a:t>
            </a:r>
            <a:r>
              <a:rPr sz="1100" dirty="0" smtClean="0"/>
              <a:t>,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/>
              <a:t> </a:t>
            </a:r>
            <a:r>
              <a:rPr lang="en-GB" sz="1100" dirty="0" smtClean="0"/>
              <a:t>    </a:t>
            </a:r>
            <a:r>
              <a:rPr sz="1100" dirty="0" smtClean="0"/>
              <a:t>quality </a:t>
            </a:r>
            <a:r>
              <a:rPr sz="1100" dirty="0"/>
              <a:t>and industry impact.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KPI cards summarize major </a:t>
            </a:r>
            <a:r>
              <a:rPr sz="1100" dirty="0" smtClean="0"/>
              <a:t>research </a:t>
            </a:r>
            <a:r>
              <a:rPr sz="1100" dirty="0"/>
              <a:t>dimensions.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Research impact comparison shows </a:t>
            </a:r>
            <a:r>
              <a:rPr sz="1100" dirty="0" smtClean="0"/>
              <a:t>relationship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 smtClean="0"/>
              <a:t>     </a:t>
            </a:r>
            <a:r>
              <a:rPr sz="1100" dirty="0" smtClean="0"/>
              <a:t>with productivity.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 smtClean="0"/>
              <a:t>Top </a:t>
            </a:r>
            <a:r>
              <a:rPr sz="1100" dirty="0"/>
              <a:t>research institutions identify </a:t>
            </a:r>
            <a:r>
              <a:rPr sz="1100" dirty="0" smtClean="0"/>
              <a:t>high-impact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 smtClean="0"/>
              <a:t>   </a:t>
            </a:r>
            <a:r>
              <a:rPr sz="1100" dirty="0" smtClean="0"/>
              <a:t> </a:t>
            </a:r>
            <a:r>
              <a:rPr sz="1100" dirty="0"/>
              <a:t>universities.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Research productivity chart ranks institutions </a:t>
            </a:r>
            <a:r>
              <a:rPr sz="1100" dirty="0" smtClean="0"/>
              <a:t>by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 smtClean="0"/>
              <a:t>    </a:t>
            </a:r>
            <a:r>
              <a:rPr sz="1100" dirty="0" smtClean="0"/>
              <a:t> </a:t>
            </a:r>
            <a:r>
              <a:rPr sz="1100" dirty="0"/>
              <a:t>productivity index.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Research environment view provides a visual 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 smtClean="0"/>
              <a:t>    </a:t>
            </a:r>
            <a:r>
              <a:rPr sz="1100" dirty="0" smtClean="0"/>
              <a:t>institution </a:t>
            </a:r>
            <a:r>
              <a:rPr sz="1100" dirty="0"/>
              <a:t>comparison.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Research quality trend summarizes the </a:t>
            </a:r>
            <a:r>
              <a:rPr sz="1100" dirty="0" smtClean="0"/>
              <a:t>available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 smtClean="0"/>
              <a:t>   </a:t>
            </a:r>
            <a:r>
              <a:rPr sz="1100" dirty="0" smtClean="0"/>
              <a:t> </a:t>
            </a:r>
            <a:r>
              <a:rPr sz="1100" dirty="0"/>
              <a:t>time dimension.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3 — Student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Implemented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7955279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9-13 163841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6239"/>
            <a:ext cx="7635240" cy="42935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59" y="960120"/>
            <a:ext cx="342381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0" y="1234440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04EAA"/>
                </a:solidFill>
                <a:latin typeface="Aptos Display"/>
              </a:defRPr>
            </a:pPr>
            <a:r>
              <a:t>Key Insights &amp;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6726" y="1603724"/>
            <a:ext cx="3571812" cy="4678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Examines student population, diversity and 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 </a:t>
            </a:r>
            <a:r>
              <a:rPr sz="1200" dirty="0" smtClean="0"/>
              <a:t>international </a:t>
            </a:r>
            <a:r>
              <a:rPr sz="1200" dirty="0"/>
              <a:t>participation.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KPI cards show international students, total 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</a:t>
            </a:r>
            <a:r>
              <a:rPr sz="1200" dirty="0" smtClean="0"/>
              <a:t>students</a:t>
            </a:r>
            <a:r>
              <a:rPr sz="1200" dirty="0"/>
              <a:t>, female-student share and </a:t>
            </a:r>
            <a:r>
              <a:rPr lang="en-GB" sz="1200" dirty="0"/>
              <a:t> 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 </a:t>
            </a:r>
            <a:r>
              <a:rPr sz="1200" dirty="0" smtClean="0"/>
              <a:t>student-to-staff </a:t>
            </a:r>
            <a:r>
              <a:rPr sz="1200" dirty="0"/>
              <a:t>ratio.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International student analysis visualizes 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  </a:t>
            </a:r>
            <a:r>
              <a:rPr sz="1200" dirty="0" smtClean="0"/>
              <a:t>global </a:t>
            </a:r>
            <a:r>
              <a:rPr sz="1200" dirty="0"/>
              <a:t>student diversity.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Enrollment comparison highlights </a:t>
            </a:r>
            <a:r>
              <a:rPr sz="1200" dirty="0" smtClean="0"/>
              <a:t>differences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</a:t>
            </a:r>
            <a:r>
              <a:rPr sz="1200" dirty="0" smtClean="0"/>
              <a:t> </a:t>
            </a:r>
            <a:r>
              <a:rPr sz="1200" dirty="0"/>
              <a:t>across countries.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Student distribution compares population sizes.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Faculty-to-student ratio analysis </a:t>
            </a:r>
            <a:r>
              <a:rPr sz="1200" dirty="0" smtClean="0"/>
              <a:t>supports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/>
              <a:t> </a:t>
            </a:r>
            <a:r>
              <a:rPr lang="en-GB" sz="1200" dirty="0" smtClean="0"/>
              <a:t> </a:t>
            </a:r>
            <a:r>
              <a:rPr sz="1200" dirty="0" smtClean="0"/>
              <a:t> </a:t>
            </a:r>
            <a:r>
              <a:rPr sz="1200" dirty="0"/>
              <a:t>teaching-capacity comparison.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200" dirty="0"/>
              <a:t>Filters allow university and country-level </a:t>
            </a:r>
            <a:endParaRPr lang="en-GB" sz="12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200" dirty="0" smtClean="0"/>
              <a:t>     </a:t>
            </a:r>
            <a:r>
              <a:rPr sz="1200" dirty="0" smtClean="0"/>
              <a:t>exploration</a:t>
            </a:r>
            <a:r>
              <a:rPr sz="1200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7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4 — Country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Implemented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7955279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09-13 16391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1999"/>
            <a:ext cx="7635240" cy="41820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960120"/>
            <a:ext cx="31546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27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0" y="1234440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9197"/>
                </a:solidFill>
                <a:latin typeface="Aptos Display"/>
              </a:defRPr>
            </a:pPr>
            <a:r>
              <a:t>Key Insights &amp;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79" y="1727933"/>
            <a:ext cx="3262432" cy="4462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Benchmarks countries using 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/>
              <a:t> </a:t>
            </a:r>
            <a:r>
              <a:rPr lang="en-GB" sz="1100" dirty="0" smtClean="0"/>
              <a:t>   </a:t>
            </a:r>
            <a:r>
              <a:rPr sz="1100" dirty="0" smtClean="0"/>
              <a:t>education-performance </a:t>
            </a:r>
            <a:r>
              <a:rPr sz="1100" dirty="0"/>
              <a:t>indicators.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Global ranking score </a:t>
            </a:r>
            <a:r>
              <a:rPr sz="1100" dirty="0" err="1" smtClean="0"/>
              <a:t>compariso</a:t>
            </a:r>
            <a:r>
              <a:rPr lang="en-GB" sz="1100" dirty="0" smtClean="0"/>
              <a:t>n </a:t>
            </a:r>
            <a:r>
              <a:rPr sz="1100" dirty="0" smtClean="0"/>
              <a:t>identifies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/>
              <a:t> </a:t>
            </a:r>
            <a:r>
              <a:rPr lang="en-GB" sz="1100" dirty="0" smtClean="0"/>
              <a:t>  </a:t>
            </a:r>
            <a:r>
              <a:rPr sz="1100" dirty="0" smtClean="0"/>
              <a:t> </a:t>
            </a:r>
            <a:r>
              <a:rPr sz="1100" dirty="0"/>
              <a:t>high-performing countries.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Academic reputation is shown through a 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/>
              <a:t> </a:t>
            </a:r>
            <a:r>
              <a:rPr lang="en-GB" sz="1100" dirty="0" smtClean="0"/>
              <a:t>   </a:t>
            </a:r>
            <a:r>
              <a:rPr sz="1100" dirty="0" smtClean="0"/>
              <a:t>comparative </a:t>
            </a:r>
            <a:r>
              <a:rPr sz="1100" dirty="0" err="1"/>
              <a:t>treemap</a:t>
            </a:r>
            <a:r>
              <a:rPr sz="1100" dirty="0"/>
              <a:t>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International-student </a:t>
            </a:r>
            <a:r>
              <a:rPr sz="1100" dirty="0" smtClean="0"/>
              <a:t>participation</a:t>
            </a:r>
            <a:r>
              <a:rPr lang="en-GB" sz="1100" dirty="0"/>
              <a:t> </a:t>
            </a:r>
            <a:r>
              <a:rPr sz="1100" dirty="0" smtClean="0"/>
              <a:t>supports 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/>
              <a:t> </a:t>
            </a:r>
            <a:r>
              <a:rPr lang="en-GB" sz="1100" dirty="0" smtClean="0"/>
              <a:t>   </a:t>
            </a:r>
            <a:r>
              <a:rPr sz="1100" dirty="0" smtClean="0"/>
              <a:t>global </a:t>
            </a:r>
            <a:r>
              <a:rPr sz="1100" dirty="0"/>
              <a:t>mobility analysis.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University count shows concentration of 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lang="en-GB" sz="1100" dirty="0"/>
              <a:t> </a:t>
            </a:r>
            <a:r>
              <a:rPr lang="en-GB" sz="1100" dirty="0" smtClean="0"/>
              <a:t>  </a:t>
            </a:r>
            <a:r>
              <a:rPr sz="1100" dirty="0" smtClean="0"/>
              <a:t>institutions </a:t>
            </a:r>
            <a:r>
              <a:rPr sz="1100" dirty="0"/>
              <a:t>by country.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Benchmarking table compares </a:t>
            </a:r>
            <a:r>
              <a:rPr sz="1100" dirty="0" smtClean="0"/>
              <a:t>academic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 smtClean="0"/>
              <a:t> </a:t>
            </a:r>
            <a:r>
              <a:rPr sz="1100" dirty="0"/>
              <a:t>reputation, global ranking, international students</a:t>
            </a:r>
            <a:r>
              <a:rPr sz="1100" dirty="0" smtClean="0"/>
              <a:t>,</a:t>
            </a:r>
            <a:endParaRPr lang="en-GB" sz="1100" dirty="0" smtClean="0"/>
          </a:p>
          <a:p>
            <a:pPr>
              <a:spcAft>
                <a:spcPts val="1200"/>
              </a:spcAft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 smtClean="0"/>
              <a:t> </a:t>
            </a:r>
            <a:r>
              <a:rPr sz="1100" dirty="0"/>
              <a:t>research impact and faculty-to-student ratio.</a:t>
            </a:r>
          </a:p>
          <a:p>
            <a:pPr marL="171450" indent="-171450">
              <a:spcAft>
                <a:spcPts val="1200"/>
              </a:spcAft>
              <a:buFont typeface="Wingdings" panose="05000000000000000000" pitchFamily="2" charset="2"/>
              <a:buChar char="v"/>
              <a:defRPr sz="1350">
                <a:solidFill>
                  <a:srgbClr val="232C37"/>
                </a:solidFill>
                <a:latin typeface="Aptos"/>
              </a:defRPr>
            </a:pPr>
            <a:r>
              <a:rPr sz="1100" dirty="0"/>
              <a:t>Map provides a global distribution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1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Interactivity &amp; Dashboard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EduVision DV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C4CD"/>
                </a:solidFill>
                <a:latin typeface="Aptos Display"/>
              </a:defRPr>
            </a:pPr>
            <a:r>
              <a:t>Interactive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89480" cy="2357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University and country filters.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QS-region selection.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Cross-dashboard navigation.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Sorting and ranking comparisons.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Drill-down style exploration through charts.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Parameters / dashboard actions where applicable.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5087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9197"/>
                </a:solidFill>
                <a:latin typeface="Aptos Display"/>
              </a:defRPr>
            </a:pPr>
            <a:r>
              <a:t>User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03120"/>
            <a:ext cx="5022529" cy="2357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Consistent navigation across four dashboards.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KPI-first layout for quick understanding.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Charts support both overview and detailed analysis.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Geographic visuals provide global context.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q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Unified Tableau workbook keeps the analysis </a:t>
            </a:r>
            <a:endParaRPr lang="en-GB" dirty="0" smtClean="0"/>
          </a:p>
          <a:p>
            <a:pPr>
              <a:spcAft>
                <a:spcPts val="1300"/>
              </a:spcAft>
              <a:defRPr sz="1550">
                <a:solidFill>
                  <a:srgbClr val="232C37"/>
                </a:solidFill>
                <a:latin typeface="Aptos"/>
              </a:defRPr>
            </a:pPr>
            <a:r>
              <a:rPr lang="en-GB" dirty="0"/>
              <a:t> </a:t>
            </a:r>
            <a:r>
              <a:rPr lang="en-GB" dirty="0" smtClean="0"/>
              <a:t>   </a:t>
            </a:r>
            <a:r>
              <a:rPr dirty="0" smtClean="0"/>
              <a:t>connected</a:t>
            </a:r>
            <a:r>
              <a:rPr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3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Cleaning &amp; KPI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EduVision DV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D9768"/>
                </a:solidFill>
                <a:latin typeface="Aptos Display"/>
              </a:defRPr>
            </a:pPr>
            <a: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76656" cy="2762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Remove duplicate university records.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Standardize university names and country names.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Normalize ranking and performance metrics.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Handle missing values and inconsistent formats.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Merge QS and THE-related indicators into a </a:t>
            </a:r>
            <a:endParaRPr lang="en-GB" dirty="0" smtClean="0"/>
          </a:p>
          <a:p>
            <a:pPr>
              <a:spcAft>
                <a:spcPts val="1300"/>
              </a:spcAft>
              <a:defRPr sz="1550">
                <a:solidFill>
                  <a:srgbClr val="232C37"/>
                </a:solidFill>
                <a:latin typeface="Aptos"/>
              </a:defRPr>
            </a:pPr>
            <a:r>
              <a:rPr lang="en-GB" dirty="0"/>
              <a:t> </a:t>
            </a:r>
            <a:r>
              <a:rPr lang="en-GB" dirty="0" smtClean="0"/>
              <a:t>    </a:t>
            </a:r>
            <a:r>
              <a:rPr dirty="0" smtClean="0"/>
              <a:t>common </a:t>
            </a:r>
            <a:r>
              <a:rPr dirty="0"/>
              <a:t>structure.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Prepare Tableau-ready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5087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9197"/>
                </a:solidFill>
                <a:latin typeface="Aptos Display"/>
              </a:defRPr>
            </a:pPr>
            <a:r>
              <a:t>KPI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03120"/>
            <a:ext cx="3430747" cy="2357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Global Ranking Score.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Research Impact Score.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Faculty-to-Student Ratio.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International Student Percentage.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Academic Reputation Score.</a:t>
            </a:r>
          </a:p>
          <a:p>
            <a:pPr marL="285750" indent="-285750">
              <a:spcAft>
                <a:spcPts val="1300"/>
              </a:spcAft>
              <a:buFont typeface="Wingdings" panose="05000000000000000000" pitchFamily="2" charset="2"/>
              <a:buChar char="Ø"/>
              <a:defRPr sz="1550">
                <a:solidFill>
                  <a:srgbClr val="232C37"/>
                </a:solidFill>
                <a:latin typeface="Aptos"/>
              </a:defRPr>
            </a:pPr>
            <a:r>
              <a:rPr dirty="0"/>
              <a:t>Research Productivity Index.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3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What the dashboard delivers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B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930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7AD"/>
                </a:solidFill>
                <a:latin typeface="Aptos"/>
              </a:defRPr>
            </a:pPr>
            <a:r>
              <a:t>Unified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280160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C37"/>
                </a:solidFill>
                <a:latin typeface="Aptos"/>
              </a:defRPr>
            </a:pPr>
            <a:r>
              <a:t>Four interconnected dashboards in one Tableau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7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24942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9197"/>
                </a:solidFill>
                <a:latin typeface="Aptos"/>
              </a:defRPr>
            </a:pPr>
            <a:r>
              <a:t>Global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40279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C37"/>
                </a:solidFill>
                <a:latin typeface="Aptos"/>
              </a:defRPr>
            </a:pPr>
            <a:r>
              <a:t>Compare universities and countries using consistent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4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0954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04EAA"/>
                </a:solidFill>
                <a:latin typeface="Aptos"/>
              </a:defRPr>
            </a:pPr>
            <a:r>
              <a:t>Actionable 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200400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C37"/>
                </a:solidFill>
                <a:latin typeface="Aptos"/>
              </a:defRPr>
            </a:pPr>
            <a:r>
              <a:t>Turn complex ranking and research metrics into easy-to-read summaries.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6966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2C"/>
                </a:solidFill>
                <a:latin typeface="Aptos"/>
              </a:defRPr>
            </a:pPr>
            <a:r>
              <a:t>Interactive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160520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C37"/>
                </a:solidFill>
                <a:latin typeface="Aptos"/>
              </a:defRPr>
            </a:pPr>
            <a:r>
              <a:t>Use filters, drill-downs and comparisons to investigate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3D9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129784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D9768"/>
                </a:solidFill>
                <a:latin typeface="Aptos"/>
              </a:defRPr>
            </a:pPr>
            <a:r>
              <a:t>Portfolio-ready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120640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C37"/>
                </a:solidFill>
                <a:latin typeface="Aptos"/>
              </a:defRPr>
            </a:pPr>
            <a:r>
              <a:t>A polished Tableau dashboard suite suitable for academic and professional demonstration.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E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Next-generation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D8B2C"/>
                </a:solidFill>
                <a:latin typeface="Aptos Display"/>
              </a:defRPr>
            </a:pPr>
            <a:r>
              <a:rPr dirty="0"/>
              <a:t>Real-time / scheduled data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709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t>Automate ingestion from current ranking and university data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D8B2C"/>
                </a:solidFill>
                <a:latin typeface="Aptos Display"/>
              </a:defRPr>
            </a:pPr>
            <a:r>
              <a:t>Predictive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4709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t>Forecast ranking movement, enrollment trends and research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86207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D8B2C"/>
                </a:solidFill>
                <a:latin typeface="Aptos Display"/>
              </a:defRPr>
            </a:pPr>
            <a:r>
              <a:t>AI-powered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27832"/>
            <a:ext cx="467788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rPr dirty="0"/>
              <a:t>Suggest universities or improvement areas based on user goals and </a:t>
            </a:r>
            <a:endParaRPr lang="en-GB" dirty="0" smtClean="0"/>
          </a:p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rPr dirty="0" smtClean="0"/>
              <a:t>KPI </a:t>
            </a:r>
            <a:r>
              <a:rPr dirty="0"/>
              <a:t>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974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86207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D8B2C"/>
                </a:solidFill>
                <a:latin typeface="Aptos Display"/>
              </a:defRPr>
            </a:pPr>
            <a:r>
              <a:t>Advanced geospatial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27832"/>
            <a:ext cx="4709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t>Add region-level clustering, mobility patterns and richer global maps.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370831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D8B2C"/>
                </a:solidFill>
                <a:latin typeface="Aptos Display"/>
              </a:defRPr>
            </a:pPr>
            <a:r>
              <a:t>Student-focused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36592"/>
            <a:ext cx="472757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rPr dirty="0"/>
              <a:t>Allow students to compare institutions based on course, cost, </a:t>
            </a:r>
            <a:r>
              <a:rPr dirty="0" smtClean="0"/>
              <a:t>location</a:t>
            </a:r>
            <a:endParaRPr lang="en-GB" dirty="0" smtClean="0"/>
          </a:p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rPr dirty="0" smtClean="0"/>
              <a:t> </a:t>
            </a:r>
            <a:r>
              <a:rPr dirty="0"/>
              <a:t>and career goals.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0624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8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370831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D8B2C"/>
                </a:solidFill>
                <a:latin typeface="Aptos Display"/>
              </a:defRPr>
            </a:pPr>
            <a:r>
              <a:t>Cloud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36592"/>
            <a:ext cx="426270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rPr dirty="0"/>
              <a:t>Publish a scalable analytics portal with role-based access and </a:t>
            </a:r>
            <a:endParaRPr lang="en-GB" dirty="0" smtClean="0"/>
          </a:p>
          <a:p>
            <a:pPr>
              <a:defRPr sz="1150">
                <a:solidFill>
                  <a:srgbClr val="232C37"/>
                </a:solidFill>
                <a:latin typeface="Aptos"/>
              </a:defRPr>
            </a:pPr>
            <a:r>
              <a:rPr dirty="0" smtClean="0"/>
              <a:t>automated </a:t>
            </a:r>
            <a:r>
              <a:rPr dirty="0"/>
              <a:t>refresh.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B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5544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3E1EF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1828800"/>
          </a:xfrm>
          <a:prstGeom prst="round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860" y="1828800"/>
            <a:ext cx="1003980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EduVision</a:t>
            </a:r>
            <a:r>
              <a:rPr dirty="0"/>
              <a:t> DV transforms complex higher-education data into clear</a:t>
            </a:r>
            <a:r>
              <a:rPr dirty="0" smtClean="0"/>
              <a:t>,</a:t>
            </a:r>
            <a:endParaRPr lang="en-GB" dirty="0" smtClean="0"/>
          </a:p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 </a:t>
            </a:r>
            <a:r>
              <a:rPr dirty="0"/>
              <a:t>interactive and decision-ready insights.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60"/>
            <a:ext cx="9908482" cy="16542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1500"/>
              </a:spcAft>
              <a:buFont typeface="Wingdings" panose="05000000000000000000" pitchFamily="2" charset="2"/>
              <a:buChar char="q"/>
              <a:defRPr sz="1600">
                <a:solidFill>
                  <a:srgbClr val="232C37"/>
                </a:solidFill>
                <a:latin typeface="Aptos"/>
              </a:defRPr>
            </a:pPr>
            <a:r>
              <a:rPr dirty="0"/>
              <a:t>The project integrates university ranking, research, student and country-level indicators.</a:t>
            </a:r>
          </a:p>
          <a:p>
            <a:pPr marL="285750" indent="-285750">
              <a:spcAft>
                <a:spcPts val="1500"/>
              </a:spcAft>
              <a:buFont typeface="Wingdings" panose="05000000000000000000" pitchFamily="2" charset="2"/>
              <a:buChar char="q"/>
              <a:defRPr sz="1600">
                <a:solidFill>
                  <a:srgbClr val="232C37"/>
                </a:solidFill>
                <a:latin typeface="Aptos"/>
              </a:defRPr>
            </a:pPr>
            <a:r>
              <a:rPr dirty="0"/>
              <a:t>Four dashboards provide complementary perspectives while maintaining a unified analytical experience.</a:t>
            </a:r>
          </a:p>
          <a:p>
            <a:pPr marL="285750" indent="-285750">
              <a:spcAft>
                <a:spcPts val="1500"/>
              </a:spcAft>
              <a:buFont typeface="Wingdings" panose="05000000000000000000" pitchFamily="2" charset="2"/>
              <a:buChar char="q"/>
              <a:defRPr sz="1600">
                <a:solidFill>
                  <a:srgbClr val="232C37"/>
                </a:solidFill>
                <a:latin typeface="Aptos"/>
              </a:defRPr>
            </a:pPr>
            <a:r>
              <a:rPr dirty="0"/>
              <a:t>The solution demonstrates how data cleaning, KPI engineering and Tableau visualization can support </a:t>
            </a:r>
            <a:endParaRPr lang="en-GB" dirty="0" smtClean="0"/>
          </a:p>
          <a:p>
            <a:pPr>
              <a:spcAft>
                <a:spcPts val="1500"/>
              </a:spcAft>
              <a:defRPr sz="1600">
                <a:solidFill>
                  <a:srgbClr val="232C37"/>
                </a:solidFill>
                <a:latin typeface="Aptos"/>
              </a:defRPr>
            </a:pPr>
            <a:r>
              <a:rPr lang="en-GB" dirty="0"/>
              <a:t> </a:t>
            </a:r>
            <a:r>
              <a:rPr lang="en-GB" dirty="0" smtClean="0"/>
              <a:t>   </a:t>
            </a:r>
            <a:r>
              <a:rPr dirty="0" smtClean="0"/>
              <a:t>evidence-based </a:t>
            </a:r>
            <a:r>
              <a:rPr dirty="0"/>
              <a:t>education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D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7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11018520" cy="5577840"/>
          </a:xfrm>
          <a:prstGeom prst="roundRect">
            <a:avLst/>
          </a:prstGeom>
          <a:noFill/>
          <a:ln w="25400">
            <a:solidFill>
              <a:srgbClr val="21C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1C4CD"/>
                </a:solidFill>
                <a:latin typeface="Aptos"/>
              </a:defRPr>
            </a:pPr>
            <a:r>
              <a:t>Higher Education Performance Dashboard</a:t>
            </a:r>
          </a:p>
          <a:p>
            <a:pPr algn="ctr">
              <a:defRPr sz="1500">
                <a:solidFill>
                  <a:srgbClr val="C4D6E8"/>
                </a:solidFill>
                <a:latin typeface="Aptos"/>
              </a:defRPr>
            </a:pPr>
            <a:r>
              <a:t>EduVision DV • Presented by Aishwarya Todkari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1140</Words>
  <Application>Microsoft Office PowerPoint</Application>
  <PresentationFormat>Widescreen</PresentationFormat>
  <Paragraphs>251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</cp:lastModifiedBy>
  <cp:revision>26</cp:revision>
  <dcterms:created xsi:type="dcterms:W3CDTF">2013-01-27T09:14:16Z</dcterms:created>
  <dcterms:modified xsi:type="dcterms:W3CDTF">2026-09-15T13:30:29Z</dcterms:modified>
  <cp:category/>
</cp:coreProperties>
</file>